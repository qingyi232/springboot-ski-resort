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9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31" name="AutoShape 2"/>
          <p:cNvSpPr/>
          <p:nvPr/>
        </p:nvSpPr>
        <p:spPr>
          <a:xfrm>
            <a:off x="0" y="0"/>
            <a:ext cx="9963151" cy="1095375"/>
          </a:xfrm>
          <a:prstGeom prst="rect">
            <a:avLst/>
          </a:prstGeom>
          <a:gradFill>
            <a:gsLst>
              <a:gs pos="0">
                <a:srgbClr val="D9D9D9">
                  <a:alpha val="100000"/>
                </a:srgbClr>
              </a:gs>
              <a:gs pos="63000">
                <a:srgbClr val="FFFFFF">
                  <a:alpha val="3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</p:sp>
      <p:pic>
        <p:nvPicPr>
          <p:cNvPr id="101032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4" name="Connector 4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6" name="Connector 6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101036" name="Group 7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9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</p:sp>
      </p:grpSp>
      <p:sp>
        <p:nvSpPr>
          <p:cNvPr id="100007" name="TextBox 10"/>
          <p:cNvSpPr txBox="1"/>
          <p:nvPr/>
        </p:nvSpPr>
        <p:spPr>
          <a:xfrm>
            <a:off x="1487805" y="1628775"/>
            <a:ext cx="8925560" cy="1494171"/>
          </a:xfrm>
          <a:prstGeom prst="rect">
            <a:avLst/>
          </a:prstGeom>
        </p:spPr>
        <p:txBody>
          <a:bodyPr vert="horz" wrap="square" lIns="0" tIns="12668" rIns="0" bIns="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3600" b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基于Spring Boot的飞跃滑雪场</a:t>
            </a:r>
            <a:endParaRPr lang="en-US" sz="3600" b="1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3600" b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管理系统的设计与实现</a:t>
            </a:r>
            <a:endParaRPr lang="en-US" sz="3600" b="1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00785" y="693330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74026" y="63133"/>
            <a:ext cx="2294769" cy="738317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862153" y="3513857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465450" y="4476633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231469" y="4802079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733197" y="3432496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465716" y="5358048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350587" y="6103861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05863" y="5073283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32930" y="3879984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1"/>
          <p:cNvSpPr txBox="1"/>
          <p:nvPr/>
        </p:nvSpPr>
        <p:spPr>
          <a:xfrm>
            <a:off x="4434872" y="3866423"/>
            <a:ext cx="4847832" cy="9677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答辩人：</a:t>
            </a:r>
            <a:endParaRPr lang="en-US" sz="20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</a:p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班级：</a:t>
            </a:r>
            <a:endParaRPr lang="en-US" sz="20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81" y="144494"/>
            <a:ext cx="945547" cy="852488"/>
          </a:xfrm>
          <a:prstGeom prst="rect">
            <a:avLst/>
          </a:prstGeom>
          <a:noFill/>
        </p:spPr>
      </p:pic>
      <p:sp>
        <p:nvSpPr>
          <p:cNvPr id="7" name="AutoShape 7"/>
          <p:cNvSpPr/>
          <p:nvPr/>
        </p:nvSpPr>
        <p:spPr>
          <a:xfrm>
            <a:off x="893826" y="1382361"/>
            <a:ext cx="3825587" cy="382558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1172751" y="2293579"/>
            <a:ext cx="3454708" cy="240386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86000"/>
              </a:lnSpc>
            </a:pPr>
            <a:r>
              <a:rPr lang="en-US" sz="727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727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35331" y="1916284"/>
            <a:ext cx="2942577" cy="9979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86000"/>
              </a:lnSpc>
            </a:pPr>
            <a:r>
              <a:rPr lang="en-US" sz="247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lang="en-US" sz="247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10"/>
          <p:cNvSpPr txBox="1"/>
          <p:nvPr/>
        </p:nvSpPr>
        <p:spPr>
          <a:xfrm>
            <a:off x="5641246" y="970764"/>
            <a:ext cx="5534263" cy="4590717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选题背景与意义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国内外研究现状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研究内容与目标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研究方法与技术方案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核心功能模块设计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关键技术分析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81" y="144494"/>
            <a:ext cx="945547" cy="852488"/>
          </a:xfrm>
          <a:prstGeom prst="rect">
            <a:avLst/>
          </a:prstGeom>
          <a:noFill/>
        </p:spPr>
      </p:pic>
      <p:sp>
        <p:nvSpPr>
          <p:cNvPr id="7" name="TextBox 7"/>
          <p:cNvSpPr txBox="1"/>
          <p:nvPr/>
        </p:nvSpPr>
        <p:spPr>
          <a:xfrm>
            <a:off x="2626611" y="2499672"/>
            <a:ext cx="7738896" cy="162398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42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选题背景与意义</a:t>
            </a:r>
            <a:endParaRPr lang="en-US" sz="42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8"/>
          <p:cNvSpPr txBox="1"/>
          <p:nvPr/>
        </p:nvSpPr>
        <p:spPr>
          <a:xfrm>
            <a:off x="2626611" y="1087374"/>
            <a:ext cx="8270863" cy="162580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72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72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选题背景</a:t>
              </a:r>
              <a:endParaRPr lang="en-US" sz="1100"/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698613" y="3019988"/>
            <a:ext cx="5508580" cy="1117013"/>
            <a:chOff x="5698613" y="3019988"/>
            <a:chExt cx="5508580" cy="1117013"/>
          </a:xfrm>
        </p:grpSpPr>
        <p:sp>
          <p:nvSpPr>
            <p:cNvPr id="10" name="TextBox 10"/>
            <p:cNvSpPr txBox="1"/>
            <p:nvPr/>
          </p:nvSpPr>
          <p:spPr>
            <a:xfrm>
              <a:off x="5698613" y="3019988"/>
              <a:ext cx="4306342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</a:pPr>
              <a:r>
                <a:rPr lang="en-US" sz="1800" b="1">
                  <a:solidFill>
                    <a:schemeClr val="accent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行业发展现状</a:t>
              </a:r>
              <a:endPara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98613" y="3468172"/>
              <a:ext cx="5508580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chemeClr val="dk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滑雪场数量快速增长，从2015年至2022年，年均增长率超5%，滑雪人口增加，对服务质量要求不断提高。</a:t>
              </a:r>
              <a:endPara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5698613" y="4594142"/>
            <a:ext cx="5508580" cy="1117013"/>
            <a:chOff x="5698613" y="4594142"/>
            <a:chExt cx="5508580" cy="1117013"/>
          </a:xfrm>
        </p:grpSpPr>
        <p:sp>
          <p:nvSpPr>
            <p:cNvPr id="13" name="TextBox 13"/>
            <p:cNvSpPr txBox="1"/>
            <p:nvPr/>
          </p:nvSpPr>
          <p:spPr>
            <a:xfrm>
              <a:off x="5698613" y="4594142"/>
              <a:ext cx="4306342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</a:pPr>
              <a:r>
                <a:rPr lang="en-US" sz="1800" b="1">
                  <a:solidFill>
                    <a:schemeClr val="accent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现存问题分析</a:t>
              </a:r>
              <a:endPara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98613" y="5042326"/>
              <a:ext cx="5508580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chemeClr val="dk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管理模式落后，信息化程度低；业务痛点包括雪具租赁排队长、教练预约信息不透明、场地管理困难等。</a:t>
              </a:r>
              <a:endPara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577378" y="4679677"/>
            <a:ext cx="771749" cy="77174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grpSp>
        <p:nvGrpSpPr>
          <p:cNvPr id="16" name="Group 16"/>
          <p:cNvGrpSpPr/>
          <p:nvPr/>
        </p:nvGrpSpPr>
        <p:grpSpPr>
          <a:xfrm rot="0">
            <a:off x="5698613" y="1449658"/>
            <a:ext cx="5416996" cy="1117013"/>
            <a:chOff x="5698613" y="1449658"/>
            <a:chExt cx="5416996" cy="1117013"/>
          </a:xfrm>
        </p:grpSpPr>
        <p:sp>
          <p:nvSpPr>
            <p:cNvPr id="17" name="TextBox 17"/>
            <p:cNvSpPr txBox="1"/>
            <p:nvPr/>
          </p:nvSpPr>
          <p:spPr>
            <a:xfrm>
              <a:off x="5698613" y="1449658"/>
              <a:ext cx="4306342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</a:pPr>
              <a:r>
                <a:rPr lang="en-US" sz="1800" b="1">
                  <a:solidFill>
                    <a:schemeClr val="accent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国家政策背景</a:t>
              </a:r>
              <a:endPara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98613" y="1897842"/>
              <a:ext cx="5416996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chemeClr val="dk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北京冬奥会推动中国冰雪运动发展，习近平总书记提出"三亿人上冰雪"目标，冰雪产业成为国家战略性新兴产业。</a:t>
              </a:r>
              <a:endPara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" name="AutoShape 19"/>
          <p:cNvSpPr/>
          <p:nvPr/>
        </p:nvSpPr>
        <p:spPr>
          <a:xfrm>
            <a:off x="4577378" y="3117136"/>
            <a:ext cx="771749" cy="77174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0" name="AutoShape 20"/>
          <p:cNvSpPr/>
          <p:nvPr/>
        </p:nvSpPr>
        <p:spPr>
          <a:xfrm>
            <a:off x="4577378" y="1534940"/>
            <a:ext cx="771749" cy="77174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1" name="Freeform 21"/>
          <p:cNvSpPr/>
          <p:nvPr/>
        </p:nvSpPr>
        <p:spPr>
          <a:xfrm>
            <a:off x="4776261" y="3320653"/>
            <a:ext cx="373065" cy="37306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8693" y="85468"/>
                </a:moveTo>
                <a:lnTo>
                  <a:pt x="193700" y="180461"/>
                </a:lnTo>
                <a:lnTo>
                  <a:pt x="301971" y="180461"/>
                </a:lnTo>
                <a:cubicBezTo>
                  <a:pt x="303686" y="171298"/>
                  <a:pt x="304800" y="162001"/>
                  <a:pt x="304800" y="152400"/>
                </a:cubicBezTo>
                <a:cubicBezTo>
                  <a:pt x="304800" y="128273"/>
                  <a:pt x="298694" y="105747"/>
                  <a:pt x="288693" y="85468"/>
                </a:cubicBezTo>
                <a:close/>
              </a:path>
              <a:path w="304800" h="304800">
                <a:moveTo>
                  <a:pt x="200549" y="145161"/>
                </a:moveTo>
                <a:lnTo>
                  <a:pt x="278682" y="67066"/>
                </a:lnTo>
                <a:cubicBezTo>
                  <a:pt x="260080" y="39643"/>
                  <a:pt x="232543" y="19241"/>
                  <a:pt x="200549" y="8525"/>
                </a:cubicBezTo>
                <a:lnTo>
                  <a:pt x="200549" y="145161"/>
                </a:lnTo>
                <a:close/>
              </a:path>
              <a:path w="304800" h="304800">
                <a:moveTo>
                  <a:pt x="159525" y="200549"/>
                </a:moveTo>
                <a:lnTo>
                  <a:pt x="237677" y="278721"/>
                </a:lnTo>
                <a:cubicBezTo>
                  <a:pt x="265138" y="260156"/>
                  <a:pt x="285560" y="232581"/>
                  <a:pt x="296275" y="200549"/>
                </a:cubicBezTo>
                <a:lnTo>
                  <a:pt x="159525" y="200549"/>
                </a:lnTo>
                <a:close/>
              </a:path>
              <a:path w="304800" h="304800">
                <a:moveTo>
                  <a:pt x="180432" y="111862"/>
                </a:moveTo>
                <a:lnTo>
                  <a:pt x="180432" y="2829"/>
                </a:lnTo>
                <a:cubicBezTo>
                  <a:pt x="171317" y="1133"/>
                  <a:pt x="162001" y="0"/>
                  <a:pt x="152400" y="0"/>
                </a:cubicBezTo>
                <a:cubicBezTo>
                  <a:pt x="128064" y="0"/>
                  <a:pt x="105366" y="6229"/>
                  <a:pt x="84963" y="16393"/>
                </a:cubicBezTo>
                <a:lnTo>
                  <a:pt x="180432" y="111862"/>
                </a:lnTo>
                <a:close/>
              </a:path>
              <a:path w="304800" h="304800">
                <a:moveTo>
                  <a:pt x="124368" y="193853"/>
                </a:moveTo>
                <a:lnTo>
                  <a:pt x="124368" y="301981"/>
                </a:lnTo>
                <a:cubicBezTo>
                  <a:pt x="133483" y="303686"/>
                  <a:pt x="142799" y="304800"/>
                  <a:pt x="152400" y="304800"/>
                </a:cubicBezTo>
                <a:cubicBezTo>
                  <a:pt x="176508" y="304800"/>
                  <a:pt x="198987" y="298694"/>
                  <a:pt x="219266" y="288722"/>
                </a:cubicBezTo>
                <a:lnTo>
                  <a:pt x="124368" y="193853"/>
                </a:lnTo>
                <a:close/>
              </a:path>
              <a:path w="304800" h="304800">
                <a:moveTo>
                  <a:pt x="104232" y="159763"/>
                </a:moveTo>
                <a:lnTo>
                  <a:pt x="26194" y="237792"/>
                </a:lnTo>
                <a:cubicBezTo>
                  <a:pt x="44758" y="265176"/>
                  <a:pt x="72276" y="285569"/>
                  <a:pt x="104232" y="296285"/>
                </a:cubicBezTo>
                <a:lnTo>
                  <a:pt x="104232" y="159763"/>
                </a:lnTo>
                <a:close/>
              </a:path>
              <a:path w="304800" h="304800">
                <a:moveTo>
                  <a:pt x="2829" y="124368"/>
                </a:moveTo>
                <a:cubicBezTo>
                  <a:pt x="1133" y="133483"/>
                  <a:pt x="0" y="142799"/>
                  <a:pt x="0" y="152400"/>
                </a:cubicBezTo>
                <a:cubicBezTo>
                  <a:pt x="0" y="176584"/>
                  <a:pt x="6144" y="199130"/>
                  <a:pt x="16145" y="219408"/>
                </a:cubicBezTo>
                <a:lnTo>
                  <a:pt x="111195" y="124358"/>
                </a:lnTo>
                <a:lnTo>
                  <a:pt x="2829" y="124358"/>
                </a:lnTo>
                <a:close/>
              </a:path>
              <a:path w="304800" h="304800">
                <a:moveTo>
                  <a:pt x="66637" y="26489"/>
                </a:moveTo>
                <a:cubicBezTo>
                  <a:pt x="39443" y="45053"/>
                  <a:pt x="19183" y="72428"/>
                  <a:pt x="8525" y="104232"/>
                </a:cubicBezTo>
                <a:lnTo>
                  <a:pt x="144389" y="104232"/>
                </a:lnTo>
                <a:lnTo>
                  <a:pt x="66637" y="26489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2" name="Freeform 22"/>
          <p:cNvSpPr/>
          <p:nvPr/>
        </p:nvSpPr>
        <p:spPr>
          <a:xfrm>
            <a:off x="4776261" y="1710221"/>
            <a:ext cx="373065" cy="37306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</a:path>
              <a:path w="304800" h="304800"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</a:path>
              <a:path w="304800" h="304800"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</a:path>
              <a:path w="304800" h="304800"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</a:path>
              <a:path w="304800" h="304800"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</a:path>
              <a:path w="304800" h="304800"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3" name="Freeform 23"/>
          <p:cNvSpPr/>
          <p:nvPr/>
        </p:nvSpPr>
        <p:spPr>
          <a:xfrm>
            <a:off x="4787874" y="4885326"/>
            <a:ext cx="360452" cy="36045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550" y="0"/>
                </a:moveTo>
                <a:cubicBezTo>
                  <a:pt x="156943" y="0"/>
                  <a:pt x="114300" y="42643"/>
                  <a:pt x="114300" y="95250"/>
                </a:cubicBezTo>
                <a:cubicBezTo>
                  <a:pt x="114300" y="101213"/>
                  <a:pt x="114852" y="107042"/>
                  <a:pt x="115900" y="112700"/>
                </a:cubicBezTo>
                <a:lnTo>
                  <a:pt x="0" y="228600"/>
                </a:lnTo>
                <a:lnTo>
                  <a:pt x="0" y="285750"/>
                </a:lnTo>
                <a:cubicBezTo>
                  <a:pt x="0" y="296275"/>
                  <a:pt x="8525" y="304800"/>
                  <a:pt x="19050" y="304800"/>
                </a:cubicBezTo>
                <a:lnTo>
                  <a:pt x="38100" y="30480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247650"/>
                </a:lnTo>
                <a:lnTo>
                  <a:pt x="114300" y="247650"/>
                </a:lnTo>
                <a:lnTo>
                  <a:pt x="114300" y="209550"/>
                </a:lnTo>
                <a:lnTo>
                  <a:pt x="152400" y="209550"/>
                </a:lnTo>
                <a:lnTo>
                  <a:pt x="177117" y="184833"/>
                </a:lnTo>
                <a:cubicBezTo>
                  <a:pt x="187242" y="188500"/>
                  <a:pt x="198158" y="190500"/>
                  <a:pt x="209550" y="190500"/>
                </a:cubicBezTo>
                <a:cubicBezTo>
                  <a:pt x="262157" y="190500"/>
                  <a:pt x="304800" y="147857"/>
                  <a:pt x="304800" y="95250"/>
                </a:cubicBezTo>
                <a:cubicBezTo>
                  <a:pt x="304800" y="42643"/>
                  <a:pt x="262157" y="0"/>
                  <a:pt x="209550" y="0"/>
                </a:cubicBezTo>
                <a:close/>
              </a:path>
              <a:path w="304800" h="304800">
                <a:moveTo>
                  <a:pt x="238087" y="95288"/>
                </a:moveTo>
                <a:cubicBezTo>
                  <a:pt x="222304" y="95288"/>
                  <a:pt x="209512" y="82496"/>
                  <a:pt x="209512" y="66713"/>
                </a:cubicBezTo>
                <a:cubicBezTo>
                  <a:pt x="209512" y="50930"/>
                  <a:pt x="222304" y="38138"/>
                  <a:pt x="238087" y="38138"/>
                </a:cubicBezTo>
                <a:cubicBezTo>
                  <a:pt x="253870" y="38138"/>
                  <a:pt x="266662" y="50930"/>
                  <a:pt x="266662" y="66713"/>
                </a:cubicBezTo>
                <a:cubicBezTo>
                  <a:pt x="266662" y="82496"/>
                  <a:pt x="253870" y="95288"/>
                  <a:pt x="238087" y="95288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776730"/>
            <a:ext cx="4280535" cy="3616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35"/>
            <a:ext cx="6235700" cy="32416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065" y="635"/>
            <a:ext cx="5888355" cy="3241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3242310"/>
            <a:ext cx="6235700" cy="3646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430" y="3242310"/>
            <a:ext cx="5911850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研究意义</a:t>
              </a:r>
              <a:endParaRPr lang="en-US" sz="1100"/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698613" y="2968756"/>
            <a:ext cx="5508580" cy="1105400"/>
            <a:chOff x="5698613" y="2968756"/>
            <a:chExt cx="5508580" cy="1105400"/>
          </a:xfrm>
        </p:grpSpPr>
        <p:sp>
          <p:nvSpPr>
            <p:cNvPr id="10" name="TextBox 10"/>
            <p:cNvSpPr txBox="1"/>
            <p:nvPr/>
          </p:nvSpPr>
          <p:spPr>
            <a:xfrm>
              <a:off x="5698613" y="2968756"/>
              <a:ext cx="4306342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</a:pPr>
              <a:r>
                <a:rPr lang="en-US" sz="1800" b="1">
                  <a:solidFill>
                    <a:schemeClr val="accent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实践意义</a:t>
              </a:r>
              <a:endPara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98613" y="3405327"/>
              <a:ext cx="5508580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chemeClr val="dk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提升管理效率，数字化业务流程，节省人力成本，改善用户体验，支持科学决策，增强竞争力，吸引年轻消费群体。</a:t>
              </a:r>
              <a:endPara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5698613" y="4542909"/>
            <a:ext cx="5508580" cy="1105401"/>
            <a:chOff x="5698613" y="4542909"/>
            <a:chExt cx="5508580" cy="1105401"/>
          </a:xfrm>
        </p:grpSpPr>
        <p:sp>
          <p:nvSpPr>
            <p:cNvPr id="13" name="TextBox 13"/>
            <p:cNvSpPr txBox="1"/>
            <p:nvPr/>
          </p:nvSpPr>
          <p:spPr>
            <a:xfrm>
              <a:off x="5698613" y="4542909"/>
              <a:ext cx="4306342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</a:pPr>
              <a:r>
                <a:rPr lang="en-US" sz="1800" b="1">
                  <a:solidFill>
                    <a:schemeClr val="accent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个人意义</a:t>
              </a:r>
              <a:endPara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98613" y="4979481"/>
              <a:ext cx="5508580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chemeClr val="dk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专业能力提升，掌握主流开发技术和框架，积累真实项目开发经验，工程素养培养，提高文档编写和表达能力。</a:t>
              </a:r>
              <a:endPara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698613" y="1398425"/>
            <a:ext cx="4306342" cy="37959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理论意义</a:t>
            </a:r>
            <a:endParaRPr lang="en-US" sz="1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16"/>
          <p:cNvSpPr txBox="1"/>
          <p:nvPr/>
        </p:nvSpPr>
        <p:spPr>
          <a:xfrm>
            <a:off x="5698613" y="1834997"/>
            <a:ext cx="5430080" cy="66882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知识综合应用，将课堂理论知识应用于实际业务场景，技术研究价值，为类似场馆管理系统开发提供技术参考。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7728" y="1232187"/>
            <a:ext cx="4346281" cy="4346281"/>
          </a:xfrm>
          <a:prstGeom prst="diamond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81" y="144494"/>
            <a:ext cx="945547" cy="852488"/>
          </a:xfrm>
          <a:prstGeom prst="rect">
            <a:avLst/>
          </a:prstGeom>
          <a:noFill/>
        </p:spPr>
      </p:pic>
      <p:sp>
        <p:nvSpPr>
          <p:cNvPr id="7" name="TextBox 7"/>
          <p:cNvSpPr txBox="1"/>
          <p:nvPr/>
        </p:nvSpPr>
        <p:spPr>
          <a:xfrm>
            <a:off x="1304768" y="765436"/>
            <a:ext cx="9003345" cy="231314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12000"/>
              </a:lnSpc>
              <a:spcBef>
                <a:spcPts val="450"/>
              </a:spcBef>
            </a:pPr>
            <a:r>
              <a:rPr lang="en-US" sz="11550" b="1">
                <a:solidFill>
                  <a:schemeClr val="accent3">
                    <a:alpha val="48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11550" b="1">
              <a:solidFill>
                <a:schemeClr val="accent3">
                  <a:alpha val="48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8"/>
          <p:cNvSpPr txBox="1"/>
          <p:nvPr/>
        </p:nvSpPr>
        <p:spPr>
          <a:xfrm>
            <a:off x="1434588" y="2604188"/>
            <a:ext cx="8745950" cy="132459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5000"/>
              </a:lnSpc>
            </a:pPr>
            <a:r>
              <a:rPr lang="en-US" sz="5400" b="1">
                <a:solidFill>
                  <a:schemeClr val="accent3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国内外研究现状</a:t>
            </a:r>
            <a:endParaRPr lang="en-US" sz="5400" b="1">
              <a:solidFill>
                <a:schemeClr val="accent3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国外研究现状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484187" y="1627708"/>
            <a:ext cx="10819321" cy="31262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1993491" y="1322903"/>
            <a:ext cx="687324" cy="687324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2092179" y="1427771"/>
            <a:ext cx="477587" cy="47758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5419571" y="1322903"/>
            <a:ext cx="687324" cy="687324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5518260" y="1427771"/>
            <a:ext cx="477587" cy="47758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909982" y="1322903"/>
            <a:ext cx="687324" cy="687324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9008670" y="1427771"/>
            <a:ext cx="477587" cy="47758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>
            <a:off x="987174" y="2172220"/>
            <a:ext cx="2852876" cy="106838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技术发展概况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87174" y="3115256"/>
            <a:ext cx="2852876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欧美滑雪场自20世纪90年代起信息化建设，形成成熟技术体系与标准，普遍采用集成化管理平台，如RTP|One、Skindata及Aspenware系统，提供全面解决方案。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49680" y="2172220"/>
            <a:ext cx="2852876" cy="106838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技术特点与优势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449680" y="3115256"/>
            <a:ext cx="2852876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系统功能全面集成，覆盖滑雪场运营全流程，支持多种硬件集成；采用先进技术，系统稳定安全，界面专业，操作科学，移动端体验佳，适用于滑雪场高效运营。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13931" y="2172220"/>
            <a:ext cx="2852876" cy="106838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存在的问题与局限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1"/>
          <p:cNvSpPr txBox="1"/>
          <p:nvPr/>
        </p:nvSpPr>
        <p:spPr>
          <a:xfrm>
            <a:off x="7913931" y="3115256"/>
            <a:ext cx="2852876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系统价格昂贵，中小型滑雪场难以承受；本地化不足，中文支持差；业务流程不符合国内习惯；支付方式不支持微信、支付宝；二次开发困难且依赖国外技术。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国内研究现状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1164214" y="2085043"/>
            <a:ext cx="641656" cy="64165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>
            <a:off x="4114778" y="2128545"/>
            <a:ext cx="598154" cy="5981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843" y="182880"/>
                </a:moveTo>
                <a:lnTo>
                  <a:pt x="30480" y="182880"/>
                </a:lnTo>
                <a:lnTo>
                  <a:pt x="30480" y="304800"/>
                </a:lnTo>
                <a:lnTo>
                  <a:pt x="0" y="304800"/>
                </a:lnTo>
                <a:lnTo>
                  <a:pt x="0" y="0"/>
                </a:lnTo>
                <a:lnTo>
                  <a:pt x="182880" y="0"/>
                </a:lnTo>
                <a:lnTo>
                  <a:pt x="187957" y="30480"/>
                </a:lnTo>
                <a:lnTo>
                  <a:pt x="304800" y="30480"/>
                </a:lnTo>
                <a:lnTo>
                  <a:pt x="259080" y="121920"/>
                </a:lnTo>
                <a:lnTo>
                  <a:pt x="304800" y="213360"/>
                </a:lnTo>
                <a:lnTo>
                  <a:pt x="121920" y="213360"/>
                </a:lnTo>
                <a:lnTo>
                  <a:pt x="116843" y="18288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1" name="Freeform 11"/>
          <p:cNvSpPr/>
          <p:nvPr/>
        </p:nvSpPr>
        <p:spPr>
          <a:xfrm>
            <a:off x="6678103" y="2172048"/>
            <a:ext cx="554652" cy="55465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6680" y="259080"/>
                </a:moveTo>
                <a:lnTo>
                  <a:pt x="30480" y="259080"/>
                </a:lnTo>
                <a:cubicBezTo>
                  <a:pt x="13649" y="259080"/>
                  <a:pt x="0" y="245431"/>
                  <a:pt x="0" y="228600"/>
                </a:cubicBezTo>
                <a:lnTo>
                  <a:pt x="0" y="228600"/>
                </a:lnTo>
                <a:lnTo>
                  <a:pt x="0" y="30480"/>
                </a:lnTo>
                <a:cubicBezTo>
                  <a:pt x="0" y="13716"/>
                  <a:pt x="13716" y="0"/>
                  <a:pt x="30480" y="0"/>
                </a:cubicBezTo>
                <a:lnTo>
                  <a:pt x="274320" y="0"/>
                </a:lnTo>
                <a:cubicBezTo>
                  <a:pt x="291151" y="0"/>
                  <a:pt x="304800" y="13649"/>
                  <a:pt x="304800" y="30480"/>
                </a:cubicBezTo>
                <a:lnTo>
                  <a:pt x="304800" y="30480"/>
                </a:lnTo>
                <a:lnTo>
                  <a:pt x="304800" y="228600"/>
                </a:lnTo>
                <a:cubicBezTo>
                  <a:pt x="304800" y="245431"/>
                  <a:pt x="291151" y="259080"/>
                  <a:pt x="274320" y="259080"/>
                </a:cubicBezTo>
                <a:lnTo>
                  <a:pt x="274320" y="259080"/>
                </a:lnTo>
                <a:lnTo>
                  <a:pt x="198120" y="259080"/>
                </a:lnTo>
                <a:lnTo>
                  <a:pt x="259080" y="289560"/>
                </a:lnTo>
                <a:lnTo>
                  <a:pt x="259080" y="304800"/>
                </a:lnTo>
                <a:lnTo>
                  <a:pt x="45720" y="304800"/>
                </a:lnTo>
                <a:lnTo>
                  <a:pt x="45720" y="289560"/>
                </a:lnTo>
                <a:lnTo>
                  <a:pt x="106680" y="259080"/>
                </a:lnTo>
                <a:close/>
              </a:path>
              <a:path w="304800" h="304800">
                <a:moveTo>
                  <a:pt x="30480" y="30480"/>
                </a:moveTo>
                <a:lnTo>
                  <a:pt x="30480" y="198120"/>
                </a:lnTo>
                <a:lnTo>
                  <a:pt x="274320" y="198120"/>
                </a:lnTo>
                <a:lnTo>
                  <a:pt x="274320" y="30480"/>
                </a:lnTo>
                <a:lnTo>
                  <a:pt x="30480" y="3048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2" name="Freeform 12"/>
          <p:cNvSpPr/>
          <p:nvPr/>
        </p:nvSpPr>
        <p:spPr>
          <a:xfrm>
            <a:off x="9277352" y="2085043"/>
            <a:ext cx="598154" cy="5981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3360" y="76200"/>
                </a:moveTo>
                <a:lnTo>
                  <a:pt x="243840" y="76200"/>
                </a:lnTo>
                <a:lnTo>
                  <a:pt x="243840" y="289560"/>
                </a:lnTo>
                <a:lnTo>
                  <a:pt x="60960" y="289560"/>
                </a:lnTo>
                <a:lnTo>
                  <a:pt x="60960" y="76200"/>
                </a:lnTo>
                <a:lnTo>
                  <a:pt x="91440" y="76200"/>
                </a:lnTo>
                <a:lnTo>
                  <a:pt x="91440" y="60960"/>
                </a:lnTo>
                <a:cubicBezTo>
                  <a:pt x="91440" y="44129"/>
                  <a:pt x="105089" y="30480"/>
                  <a:pt x="121920" y="30480"/>
                </a:cubicBezTo>
                <a:lnTo>
                  <a:pt x="121920" y="30480"/>
                </a:lnTo>
                <a:lnTo>
                  <a:pt x="182880" y="30480"/>
                </a:lnTo>
                <a:cubicBezTo>
                  <a:pt x="199711" y="30480"/>
                  <a:pt x="213360" y="44129"/>
                  <a:pt x="213360" y="60960"/>
                </a:cubicBezTo>
                <a:lnTo>
                  <a:pt x="213360" y="60960"/>
                </a:lnTo>
                <a:lnTo>
                  <a:pt x="213360" y="76200"/>
                </a:lnTo>
                <a:close/>
              </a:path>
              <a:path w="304800" h="304800">
                <a:moveTo>
                  <a:pt x="259080" y="76200"/>
                </a:moveTo>
                <a:lnTo>
                  <a:pt x="274320" y="76200"/>
                </a:lnTo>
                <a:cubicBezTo>
                  <a:pt x="291151" y="76200"/>
                  <a:pt x="304800" y="89849"/>
                  <a:pt x="304800" y="106680"/>
                </a:cubicBezTo>
                <a:lnTo>
                  <a:pt x="304800" y="106680"/>
                </a:lnTo>
                <a:lnTo>
                  <a:pt x="304800" y="259080"/>
                </a:lnTo>
                <a:cubicBezTo>
                  <a:pt x="304800" y="275911"/>
                  <a:pt x="291151" y="289560"/>
                  <a:pt x="274320" y="289560"/>
                </a:cubicBezTo>
                <a:lnTo>
                  <a:pt x="274320" y="289560"/>
                </a:lnTo>
                <a:lnTo>
                  <a:pt x="259080" y="289560"/>
                </a:lnTo>
                <a:lnTo>
                  <a:pt x="259080" y="76200"/>
                </a:lnTo>
                <a:close/>
              </a:path>
              <a:path w="304800" h="304800">
                <a:moveTo>
                  <a:pt x="45720" y="76200"/>
                </a:moveTo>
                <a:lnTo>
                  <a:pt x="45720" y="289560"/>
                </a:lnTo>
                <a:lnTo>
                  <a:pt x="30480" y="289560"/>
                </a:lnTo>
                <a:cubicBezTo>
                  <a:pt x="13649" y="289560"/>
                  <a:pt x="0" y="275911"/>
                  <a:pt x="0" y="259080"/>
                </a:cubicBezTo>
                <a:lnTo>
                  <a:pt x="0" y="259080"/>
                </a:lnTo>
                <a:lnTo>
                  <a:pt x="0" y="106680"/>
                </a:lnTo>
                <a:cubicBezTo>
                  <a:pt x="0" y="89916"/>
                  <a:pt x="13716" y="76200"/>
                  <a:pt x="30480" y="76200"/>
                </a:cubicBezTo>
                <a:lnTo>
                  <a:pt x="45720" y="76200"/>
                </a:lnTo>
                <a:close/>
              </a:path>
              <a:path w="304800" h="304800">
                <a:moveTo>
                  <a:pt x="121920" y="60960"/>
                </a:moveTo>
                <a:lnTo>
                  <a:pt x="121920" y="76200"/>
                </a:lnTo>
                <a:lnTo>
                  <a:pt x="182880" y="76200"/>
                </a:lnTo>
                <a:lnTo>
                  <a:pt x="182880" y="60960"/>
                </a:lnTo>
                <a:lnTo>
                  <a:pt x="121920" y="6096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513502" y="3390004"/>
            <a:ext cx="2422374" cy="233164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邢通、刘花香等学者研究指出，信息化建设是提升滑雪场竞争力的关键，提出政策与产业研究；而张明鑫等人通过可视化分析揭示了研究趋势。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13502" y="2918593"/>
            <a:ext cx="2422374" cy="39919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产业研究层面</a:t>
            </a:r>
            <a:endParaRPr lang="en-US" sz="142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226287" y="3390004"/>
            <a:ext cx="2422374" cy="233164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基于北京冬奥会的实践经验，刘占省等提出了智慧场馆的需求特征与系统功能设计，而张海平等人则探讨了智慧景区票务系统建设的原则与趋势。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226287" y="2918593"/>
            <a:ext cx="2367939" cy="39919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智慧场馆建设研究</a:t>
            </a:r>
            <a:endParaRPr lang="en-US" sz="142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32691" y="3390004"/>
            <a:ext cx="2422374" cy="233164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王珊、萨师煊等学者的《数据库系统概论》为系统数据层设计提供了理论支撑，而张海藩的《软件工程导论》则规范了软件开发全流程。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932691" y="2918593"/>
            <a:ext cx="2377011" cy="39919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技术开发研究</a:t>
            </a:r>
            <a:endParaRPr lang="en-US" sz="142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79636" y="3390004"/>
            <a:ext cx="2422374" cy="233164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大型滑雪场多引入国外系统，虽功能全面但成本高；中小型滑雪场则多依赖传统人工管理或通用型ERP系统，缺乏特色业务支持。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0"/>
          <p:cNvSpPr txBox="1"/>
          <p:nvPr/>
        </p:nvSpPr>
        <p:spPr>
          <a:xfrm>
            <a:off x="8579636" y="2918593"/>
            <a:ext cx="2377011" cy="39919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国内实际应用现状</a:t>
            </a:r>
            <a:endParaRPr lang="en-US" sz="142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研究现状总结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861960" y="1331933"/>
            <a:ext cx="2467092" cy="1434836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1160977" y="2469359"/>
            <a:ext cx="2735478" cy="2993542"/>
          </a:xfrm>
          <a:prstGeom prst="roundRect">
            <a:avLst/>
          </a:prstGeom>
          <a:solidFill>
            <a:schemeClr val="accent2">
              <a:alpha val="90000"/>
              <a:lumMod val="20000"/>
              <a:lumOff val="80000"/>
            </a:schemeClr>
          </a:solidFill>
          <a:ln w="19050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1" name="TextBox 11"/>
          <p:cNvSpPr txBox="1"/>
          <p:nvPr/>
        </p:nvSpPr>
        <p:spPr>
          <a:xfrm>
            <a:off x="963558" y="1436449"/>
            <a:ext cx="2240006" cy="94753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20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技术趋势</a:t>
            </a:r>
            <a:endParaRPr lang="en-US" sz="20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289192" y="1357218"/>
            <a:ext cx="2467092" cy="1434836"/>
          </a:xfrm>
          <a:prstGeom prst="round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4588209" y="2494644"/>
            <a:ext cx="2735478" cy="2993542"/>
          </a:xfrm>
          <a:prstGeom prst="roundRect">
            <a:avLst/>
          </a:prstGeom>
          <a:solidFill>
            <a:schemeClr val="accent2">
              <a:alpha val="90000"/>
              <a:lumMod val="20000"/>
              <a:lumOff val="80000"/>
            </a:schemeClr>
          </a:solidFill>
          <a:ln w="19050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14" name="AutoShape 14"/>
          <p:cNvSpPr/>
          <p:nvPr/>
        </p:nvSpPr>
        <p:spPr>
          <a:xfrm>
            <a:off x="7811766" y="1357218"/>
            <a:ext cx="2467092" cy="1434836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8110783" y="2494644"/>
            <a:ext cx="2735478" cy="2993542"/>
          </a:xfrm>
          <a:prstGeom prst="roundRect">
            <a:avLst/>
          </a:prstGeom>
          <a:solidFill>
            <a:schemeClr val="accent2">
              <a:alpha val="90000"/>
              <a:lumMod val="20000"/>
              <a:lumOff val="80000"/>
            </a:schemeClr>
          </a:solidFill>
          <a:ln w="19050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6" name="TextBox 16"/>
          <p:cNvSpPr txBox="1"/>
          <p:nvPr/>
        </p:nvSpPr>
        <p:spPr>
          <a:xfrm>
            <a:off x="1347074" y="2838713"/>
            <a:ext cx="2387211" cy="23661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071D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Web应用开发技术成熟，Spring Boot和Vue.js成主流；微服务、云原生和智能化发展为趋势，AI推荐、数据分析标配，移动端、自助服务受重视。</a:t>
            </a:r>
            <a:endParaRPr lang="en-US" sz="1275">
              <a:solidFill>
                <a:srgbClr val="071D4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62343" y="2838713"/>
            <a:ext cx="2387211" cy="222386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rgbClr val="071D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国外系统功能完善但成本高昂，本地化支持不足；国内研究则多限于产业层面，系统开发不足，实践应用中的系统多缺乏滑雪场特色业务支持。</a:t>
            </a:r>
            <a:endParaRPr lang="en-US" sz="1275">
              <a:solidFill>
                <a:srgbClr val="071D4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317175" y="2838713"/>
            <a:ext cx="2387211" cy="23661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071D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针对性强，成本可控，适合中小型滑雪场；本地化完善，中文界面及本地支付方式；技术先进，采用主流前后端分离架构并预留扩展功能。</a:t>
            </a:r>
            <a:endParaRPr lang="en-US" sz="1275">
              <a:solidFill>
                <a:srgbClr val="071D4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402735" y="1436449"/>
            <a:ext cx="2240006" cy="94753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20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存在的不足</a:t>
            </a:r>
            <a:endParaRPr lang="en-US" sz="20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25309" y="1436449"/>
            <a:ext cx="2240006" cy="94753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20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本课题的创新点</a:t>
            </a:r>
            <a:endParaRPr lang="en-US" sz="20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3557575" y="1757738"/>
            <a:ext cx="485160" cy="48516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1428750"/>
                </a:lnTo>
                <a:lnTo>
                  <a:pt x="952500" y="1428750"/>
                </a:lnTo>
                <a:lnTo>
                  <a:pt x="952500" y="1905000"/>
                </a:lnTo>
                <a:lnTo>
                  <a:pt x="1905000" y="9525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22" name="Freeform 22"/>
          <p:cNvSpPr/>
          <p:nvPr/>
        </p:nvSpPr>
        <p:spPr>
          <a:xfrm>
            <a:off x="7081108" y="1700118"/>
            <a:ext cx="485160" cy="48516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1428750"/>
                </a:lnTo>
                <a:lnTo>
                  <a:pt x="952500" y="1428750"/>
                </a:lnTo>
                <a:lnTo>
                  <a:pt x="952500" y="1905000"/>
                </a:lnTo>
                <a:lnTo>
                  <a:pt x="1905000" y="9525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81" y="144494"/>
            <a:ext cx="945547" cy="852488"/>
          </a:xfrm>
          <a:prstGeom prst="rect">
            <a:avLst/>
          </a:prstGeom>
          <a:noFill/>
        </p:spPr>
      </p:pic>
      <p:sp>
        <p:nvSpPr>
          <p:cNvPr id="7" name="TextBox 7"/>
          <p:cNvSpPr txBox="1"/>
          <p:nvPr/>
        </p:nvSpPr>
        <p:spPr>
          <a:xfrm>
            <a:off x="1214995" y="3749346"/>
            <a:ext cx="9182889" cy="11032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5000"/>
              </a:lnSpc>
              <a:spcBef>
                <a:spcPts val="450"/>
              </a:spcBef>
            </a:pPr>
            <a:r>
              <a:rPr lang="en-US" sz="42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研究内容与目标</a:t>
            </a:r>
            <a:endParaRPr lang="en-US" sz="42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8"/>
          <p:cNvSpPr txBox="1"/>
          <p:nvPr/>
        </p:nvSpPr>
        <p:spPr>
          <a:xfrm>
            <a:off x="1214995" y="1773321"/>
            <a:ext cx="9182889" cy="153870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5000"/>
              </a:lnSpc>
              <a:spcBef>
                <a:spcPts val="450"/>
              </a:spcBef>
            </a:pPr>
            <a:r>
              <a:rPr lang="en-US" sz="64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64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研究内容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935200" y="1528636"/>
            <a:ext cx="3233733" cy="2016196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2775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68842" y="3544832"/>
            <a:ext cx="3233733" cy="2016196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402576" y="1528636"/>
            <a:ext cx="3233733" cy="2016196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28956" b="28956"/>
          <a:stretch>
            <a:fillRect/>
          </a:stretch>
        </p:blipFill>
        <p:spPr>
          <a:xfrm>
            <a:off x="935200" y="3518978"/>
            <a:ext cx="3233682" cy="204203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11609" r="11609"/>
          <a:stretch>
            <a:fillRect/>
          </a:stretch>
        </p:blipFill>
        <p:spPr>
          <a:xfrm>
            <a:off x="4168913" y="1502788"/>
            <a:ext cx="3233682" cy="204203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22249" b="22249"/>
          <a:stretch>
            <a:fillRect/>
          </a:stretch>
        </p:blipFill>
        <p:spPr>
          <a:xfrm>
            <a:off x="7402576" y="3544832"/>
            <a:ext cx="3233682" cy="204203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35200" y="1528636"/>
            <a:ext cx="3233733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50" b="1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业务功能需求</a:t>
            </a:r>
            <a:endParaRPr lang="en-US" sz="1650" b="1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8761" y="1942738"/>
            <a:ext cx="3130173" cy="157624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88000"/>
              </a:lnSpc>
            </a:pPr>
            <a:r>
              <a:rPr lang="en-US" sz="1275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深入分析滑雪场运营流程，调研管理人员、教练、工作人员、顾客的实际需求，明确7大核心业务模块的功能需求。</a:t>
            </a:r>
            <a:endParaRPr lang="en-US" sz="1275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168933" y="3570685"/>
            <a:ext cx="3233733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50" b="1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非功能需求分析</a:t>
            </a:r>
            <a:endParaRPr lang="en-US" sz="1650" b="1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72494" y="3984787"/>
            <a:ext cx="3130173" cy="157624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88000"/>
              </a:lnSpc>
            </a:pPr>
            <a:r>
              <a:rPr lang="en-US" sz="1275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分析性能、安全、易用性、可维护性等非功能需求，确保系统满足业务需要的同时，具备良好响应时间和并发处理能力。</a:t>
            </a:r>
            <a:endParaRPr lang="en-US" sz="1275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402576" y="1528636"/>
            <a:ext cx="3233733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50" b="1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系统架构设计</a:t>
            </a:r>
            <a:endParaRPr lang="en-US" sz="1650" b="1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0"/>
          <p:cNvSpPr txBox="1"/>
          <p:nvPr/>
        </p:nvSpPr>
        <p:spPr>
          <a:xfrm>
            <a:off x="7506137" y="1942738"/>
            <a:ext cx="3130173" cy="157624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88000"/>
              </a:lnSpc>
            </a:pPr>
            <a:r>
              <a:rPr lang="en-US" sz="1200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设计前后端分离的三层架构，确定表现层、业务层、数据层架构，并规划使用Spring Boot、Vue.js、MySQL、Redis等技术栈。</a:t>
            </a:r>
            <a:endParaRPr lang="en-US" sz="1200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研究内容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564808" y="2616342"/>
            <a:ext cx="3291950" cy="2910613"/>
          </a:xfrm>
          <a:prstGeom prst="roundRect">
            <a:avLst>
              <a:gd name="adj" fmla="val 12500"/>
            </a:avLst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160465" y="2616342"/>
            <a:ext cx="3291950" cy="2910613"/>
          </a:xfrm>
          <a:prstGeom prst="roundRect">
            <a:avLst>
              <a:gd name="adj" fmla="val 12500"/>
            </a:avLst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AutoShape 11"/>
          <p:cNvSpPr/>
          <p:nvPr/>
        </p:nvSpPr>
        <p:spPr>
          <a:xfrm>
            <a:off x="7747346" y="2616342"/>
            <a:ext cx="3291950" cy="2910613"/>
          </a:xfrm>
          <a:prstGeom prst="roundRect">
            <a:avLst>
              <a:gd name="adj" fmla="val 12500"/>
            </a:avLst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 rot="-2700000" flipH="1" flipV="1">
            <a:off x="5024310" y="1269988"/>
            <a:ext cx="1564260" cy="1564260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4365953" y="3242897"/>
            <a:ext cx="2880974" cy="30647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ctr">
              <a:lnSpc>
                <a:spcPct val="64000"/>
              </a:lnSpc>
            </a:pPr>
            <a:r>
              <a:rPr lang="en-US" sz="142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接口与界面设计</a:t>
            </a:r>
            <a:endParaRPr lang="en-US" sz="142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94537" y="3736770"/>
            <a:ext cx="2823807" cy="15049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设计RESTful API接口规范，定义统一请求响应格式，并编写接口文档；设计用户端和管理端界面原型，确定UI风格和交互规范。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 rot="-2700000" flipH="1" flipV="1">
            <a:off x="1428653" y="1269988"/>
            <a:ext cx="1564260" cy="1564260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>
            <a:off x="770296" y="3242897"/>
            <a:ext cx="2880974" cy="30647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ctr">
              <a:lnSpc>
                <a:spcPct val="64000"/>
              </a:lnSpc>
            </a:pPr>
            <a:r>
              <a:rPr lang="en-US" sz="142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</a:t>
            </a:r>
            <a:endParaRPr lang="en-US" sz="142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98880" y="3736770"/>
            <a:ext cx="2823807" cy="15049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设计15张核心数据表，满足三范式要求，并绘制E-R图，确保数据结构合理且表间关系明确，同时设计索引优化方案。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 rot="-2700000" flipH="1" flipV="1">
            <a:off x="8611191" y="1269988"/>
            <a:ext cx="1564260" cy="1564260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TextBox 19"/>
          <p:cNvSpPr txBox="1"/>
          <p:nvPr/>
        </p:nvSpPr>
        <p:spPr>
          <a:xfrm>
            <a:off x="7952834" y="3242897"/>
            <a:ext cx="2880974" cy="30647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ctr">
              <a:lnSpc>
                <a:spcPct val="64000"/>
              </a:lnSpc>
            </a:pPr>
            <a:r>
              <a:rPr lang="en-US" sz="142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模块开发</a:t>
            </a:r>
            <a:endParaRPr lang="en-US" sz="142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0"/>
          <p:cNvSpPr txBox="1"/>
          <p:nvPr/>
        </p:nvSpPr>
        <p:spPr>
          <a:xfrm>
            <a:off x="7981417" y="3736770"/>
            <a:ext cx="2823807" cy="15049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涵盖用户管理、雪具租赁、教练预约、装备销售、课程管理、场地管理、数据统计等模块，实现用户注册、登录、权限控制及业务处理。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alphaModFix amt="100000"/>
          </a:blip>
          <a:srcRect l="8325" r="8325"/>
          <a:stretch>
            <a:fillRect/>
          </a:stretch>
        </p:blipFill>
        <p:spPr>
          <a:xfrm>
            <a:off x="1508111" y="1349446"/>
            <a:ext cx="1405344" cy="1405344"/>
          </a:xfrm>
          <a:prstGeom prst="ellipse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alphaModFix amt="100000"/>
          </a:blip>
          <a:srcRect l="28491" r="28491"/>
          <a:stretch>
            <a:fillRect/>
          </a:stretch>
        </p:blipFill>
        <p:spPr>
          <a:xfrm>
            <a:off x="5103768" y="1349446"/>
            <a:ext cx="1405344" cy="1405344"/>
          </a:xfrm>
          <a:prstGeom prst="ellipse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alphaModFix amt="100000"/>
          </a:blip>
          <a:srcRect l="7300" r="7300"/>
          <a:stretch>
            <a:fillRect/>
          </a:stretch>
        </p:blipFill>
        <p:spPr>
          <a:xfrm>
            <a:off x="8687843" y="1349446"/>
            <a:ext cx="1405344" cy="1405344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研究内容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1217964" y="2882736"/>
            <a:ext cx="1917112" cy="3286642"/>
          </a:xfrm>
          <a:prstGeom prst="rect">
            <a:avLst/>
          </a:prstGeom>
          <a:solidFill>
            <a:schemeClr val="accent1">
              <a:alpha val="100000"/>
              <a:lumMod val="60000"/>
              <a:lumOff val="4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1137063" y="1399506"/>
            <a:ext cx="2089308" cy="2089308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227604" y="1478434"/>
            <a:ext cx="1908226" cy="1908226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>
            <a:off x="1371480" y="2536607"/>
            <a:ext cx="1623989" cy="6895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前端与联调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17964" y="3643660"/>
            <a:ext cx="1914311" cy="23951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搭建Vue.js项目，配置Element Plus和路由状态管理，开发用户端和管理端页面；完成前后端接口对接测试，修复功能联调中发现的问题。</a:t>
            </a:r>
            <a:endParaRPr lang="en-US" sz="1275">
              <a:solidFill>
                <a:schemeClr val="l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963602" y="1921209"/>
            <a:ext cx="436229" cy="436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04800"/>
                </a:moveTo>
                <a:cubicBezTo>
                  <a:pt x="38100" y="190500"/>
                  <a:pt x="137817" y="0"/>
                  <a:pt x="304800" y="0"/>
                </a:cubicBezTo>
                <a:cubicBezTo>
                  <a:pt x="226514" y="62808"/>
                  <a:pt x="190500" y="209550"/>
                  <a:pt x="133350" y="209550"/>
                </a:cubicBezTo>
                <a:cubicBezTo>
                  <a:pt x="76200" y="209550"/>
                  <a:pt x="76200" y="209550"/>
                  <a:pt x="76200" y="209550"/>
                </a:cubicBezTo>
                <a:lnTo>
                  <a:pt x="19050" y="304800"/>
                </a:lnTo>
                <a:lnTo>
                  <a:pt x="0" y="3048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5" name="Freeform 15"/>
          <p:cNvSpPr/>
          <p:nvPr/>
        </p:nvSpPr>
        <p:spPr>
          <a:xfrm>
            <a:off x="4592711" y="1890441"/>
            <a:ext cx="436229" cy="436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04800"/>
                </a:moveTo>
                <a:cubicBezTo>
                  <a:pt x="38100" y="190500"/>
                  <a:pt x="137817" y="0"/>
                  <a:pt x="304800" y="0"/>
                </a:cubicBezTo>
                <a:cubicBezTo>
                  <a:pt x="226514" y="62808"/>
                  <a:pt x="190500" y="209550"/>
                  <a:pt x="133350" y="209550"/>
                </a:cubicBezTo>
                <a:cubicBezTo>
                  <a:pt x="76200" y="209550"/>
                  <a:pt x="76200" y="209550"/>
                  <a:pt x="76200" y="209550"/>
                </a:cubicBezTo>
                <a:lnTo>
                  <a:pt x="19050" y="304800"/>
                </a:lnTo>
                <a:lnTo>
                  <a:pt x="0" y="304800"/>
                </a:lnTo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3628958" y="2882736"/>
            <a:ext cx="1917112" cy="3286642"/>
          </a:xfrm>
          <a:prstGeom prst="rect">
            <a:avLst/>
          </a:prstGeom>
          <a:solidFill>
            <a:schemeClr val="accent1">
              <a:alpha val="100000"/>
              <a:lumMod val="75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548057" y="1399506"/>
            <a:ext cx="2089308" cy="2089308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3638598" y="1478434"/>
            <a:ext cx="1908226" cy="190822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TextBox 19"/>
          <p:cNvSpPr txBox="1"/>
          <p:nvPr/>
        </p:nvSpPr>
        <p:spPr>
          <a:xfrm>
            <a:off x="3782474" y="2536607"/>
            <a:ext cx="1623989" cy="6895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AI智能模块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628958" y="3643660"/>
            <a:ext cx="1914311" cy="23951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根据进度决定是否实现智能推荐系统和智能客服，推荐系统基于用户行为推荐雪具、教练和课程，而智能客服实现常见问题自动回答和智能对话功能。</a:t>
            </a:r>
            <a:endParaRPr lang="en-US" sz="1275">
              <a:solidFill>
                <a:schemeClr val="l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6995599" y="1946144"/>
            <a:ext cx="436229" cy="436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04800"/>
                </a:moveTo>
                <a:cubicBezTo>
                  <a:pt x="38100" y="190500"/>
                  <a:pt x="137817" y="0"/>
                  <a:pt x="304800" y="0"/>
                </a:cubicBezTo>
                <a:cubicBezTo>
                  <a:pt x="226514" y="62808"/>
                  <a:pt x="190500" y="209550"/>
                  <a:pt x="133350" y="209550"/>
                </a:cubicBezTo>
                <a:cubicBezTo>
                  <a:pt x="76200" y="209550"/>
                  <a:pt x="76200" y="209550"/>
                  <a:pt x="76200" y="209550"/>
                </a:cubicBezTo>
                <a:lnTo>
                  <a:pt x="19050" y="304800"/>
                </a:lnTo>
                <a:lnTo>
                  <a:pt x="0" y="304800"/>
                </a:lnTo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22" name="AutoShape 22"/>
          <p:cNvSpPr/>
          <p:nvPr/>
        </p:nvSpPr>
        <p:spPr>
          <a:xfrm>
            <a:off x="6031846" y="2938438"/>
            <a:ext cx="1917112" cy="3286642"/>
          </a:xfrm>
          <a:prstGeom prst="rect">
            <a:avLst/>
          </a:prstGeom>
          <a:solidFill>
            <a:schemeClr val="accent1">
              <a:alpha val="100000"/>
              <a:lumMod val="60000"/>
              <a:lumOff val="40000"/>
            </a:schemeClr>
          </a:solidFill>
        </p:spPr>
      </p:sp>
      <p:sp>
        <p:nvSpPr>
          <p:cNvPr id="23" name="AutoShape 23"/>
          <p:cNvSpPr/>
          <p:nvPr/>
        </p:nvSpPr>
        <p:spPr>
          <a:xfrm>
            <a:off x="5950945" y="1455209"/>
            <a:ext cx="2089308" cy="2089308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24" name="AutoShape 24"/>
          <p:cNvSpPr/>
          <p:nvPr/>
        </p:nvSpPr>
        <p:spPr>
          <a:xfrm>
            <a:off x="6041486" y="1534137"/>
            <a:ext cx="1908226" cy="1908226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5" name="TextBox 25"/>
          <p:cNvSpPr txBox="1"/>
          <p:nvPr/>
        </p:nvSpPr>
        <p:spPr>
          <a:xfrm>
            <a:off x="6185362" y="2536607"/>
            <a:ext cx="1623989" cy="6895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系统测试与优化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031846" y="3643660"/>
            <a:ext cx="1917112" cy="23951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包括功能、性能、数据库查询优化、安全及权限控制测试，并涉及代码优化和重构、接口性能优化及前端加载优化，确保系统稳定运行。</a:t>
            </a:r>
            <a:endParaRPr lang="en-US" sz="1275">
              <a:solidFill>
                <a:schemeClr val="l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9431163" y="1946144"/>
            <a:ext cx="436229" cy="436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04800"/>
                </a:moveTo>
                <a:cubicBezTo>
                  <a:pt x="38100" y="190500"/>
                  <a:pt x="137817" y="0"/>
                  <a:pt x="304800" y="0"/>
                </a:cubicBezTo>
                <a:cubicBezTo>
                  <a:pt x="226514" y="62808"/>
                  <a:pt x="190500" y="209550"/>
                  <a:pt x="133350" y="209550"/>
                </a:cubicBezTo>
                <a:cubicBezTo>
                  <a:pt x="76200" y="209550"/>
                  <a:pt x="76200" y="209550"/>
                  <a:pt x="76200" y="209550"/>
                </a:cubicBezTo>
                <a:lnTo>
                  <a:pt x="19050" y="304800"/>
                </a:lnTo>
                <a:lnTo>
                  <a:pt x="0" y="304800"/>
                </a:lnTo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28" name="AutoShape 28"/>
          <p:cNvSpPr/>
          <p:nvPr/>
        </p:nvSpPr>
        <p:spPr>
          <a:xfrm>
            <a:off x="8467410" y="2938438"/>
            <a:ext cx="1917112" cy="3286642"/>
          </a:xfrm>
          <a:prstGeom prst="rect">
            <a:avLst/>
          </a:prstGeom>
          <a:solidFill>
            <a:schemeClr val="accent1">
              <a:alpha val="100000"/>
              <a:lumMod val="75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8386509" y="1455209"/>
            <a:ext cx="2089308" cy="2089308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30" name="AutoShape 30"/>
          <p:cNvSpPr/>
          <p:nvPr/>
        </p:nvSpPr>
        <p:spPr>
          <a:xfrm>
            <a:off x="8477051" y="1534137"/>
            <a:ext cx="1908226" cy="190822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1" name="TextBox 31"/>
          <p:cNvSpPr txBox="1"/>
          <p:nvPr/>
        </p:nvSpPr>
        <p:spPr>
          <a:xfrm>
            <a:off x="8620926" y="2536607"/>
            <a:ext cx="1623989" cy="6895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论文撰写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67410" y="3643660"/>
            <a:ext cx="1917112" cy="23951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包括绪论、需求分析、系统设计、系统实现、系统测试、总结与展望等章节，根据指导教师意见修改完善论文结构，并进行润色和答辩准备。</a:t>
            </a:r>
            <a:endParaRPr lang="en-US" sz="1275">
              <a:solidFill>
                <a:schemeClr val="l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342310" y="1888922"/>
            <a:ext cx="500803" cy="50080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3360" y="76200"/>
                </a:moveTo>
                <a:lnTo>
                  <a:pt x="243840" y="76200"/>
                </a:lnTo>
                <a:lnTo>
                  <a:pt x="243840" y="289560"/>
                </a:lnTo>
                <a:lnTo>
                  <a:pt x="60960" y="289560"/>
                </a:lnTo>
                <a:lnTo>
                  <a:pt x="60960" y="76200"/>
                </a:lnTo>
                <a:lnTo>
                  <a:pt x="91440" y="76200"/>
                </a:lnTo>
                <a:lnTo>
                  <a:pt x="91440" y="60960"/>
                </a:lnTo>
                <a:cubicBezTo>
                  <a:pt x="91440" y="44129"/>
                  <a:pt x="105089" y="30480"/>
                  <a:pt x="121920" y="30480"/>
                </a:cubicBezTo>
                <a:lnTo>
                  <a:pt x="121920" y="30480"/>
                </a:lnTo>
                <a:lnTo>
                  <a:pt x="182880" y="30480"/>
                </a:lnTo>
                <a:cubicBezTo>
                  <a:pt x="199711" y="30480"/>
                  <a:pt x="213360" y="44129"/>
                  <a:pt x="213360" y="60960"/>
                </a:cubicBezTo>
                <a:lnTo>
                  <a:pt x="213360" y="60960"/>
                </a:lnTo>
                <a:lnTo>
                  <a:pt x="213360" y="76200"/>
                </a:lnTo>
                <a:close/>
              </a:path>
              <a:path w="304800" h="304800">
                <a:moveTo>
                  <a:pt x="259080" y="76200"/>
                </a:moveTo>
                <a:lnTo>
                  <a:pt x="274320" y="76200"/>
                </a:lnTo>
                <a:cubicBezTo>
                  <a:pt x="291151" y="76200"/>
                  <a:pt x="304800" y="89849"/>
                  <a:pt x="304800" y="106680"/>
                </a:cubicBezTo>
                <a:lnTo>
                  <a:pt x="304800" y="106680"/>
                </a:lnTo>
                <a:lnTo>
                  <a:pt x="304800" y="259080"/>
                </a:lnTo>
                <a:cubicBezTo>
                  <a:pt x="304800" y="275911"/>
                  <a:pt x="291151" y="289560"/>
                  <a:pt x="274320" y="289560"/>
                </a:cubicBezTo>
                <a:lnTo>
                  <a:pt x="274320" y="289560"/>
                </a:lnTo>
                <a:lnTo>
                  <a:pt x="259080" y="289560"/>
                </a:lnTo>
                <a:lnTo>
                  <a:pt x="259080" y="76200"/>
                </a:lnTo>
                <a:close/>
              </a:path>
              <a:path w="304800" h="304800">
                <a:moveTo>
                  <a:pt x="45720" y="76200"/>
                </a:moveTo>
                <a:lnTo>
                  <a:pt x="45720" y="289560"/>
                </a:lnTo>
                <a:lnTo>
                  <a:pt x="30480" y="289560"/>
                </a:lnTo>
                <a:cubicBezTo>
                  <a:pt x="13649" y="289560"/>
                  <a:pt x="0" y="275911"/>
                  <a:pt x="0" y="259080"/>
                </a:cubicBezTo>
                <a:lnTo>
                  <a:pt x="0" y="259080"/>
                </a:lnTo>
                <a:lnTo>
                  <a:pt x="0" y="106680"/>
                </a:lnTo>
                <a:cubicBezTo>
                  <a:pt x="0" y="89916"/>
                  <a:pt x="13716" y="76200"/>
                  <a:pt x="30480" y="76200"/>
                </a:cubicBezTo>
                <a:lnTo>
                  <a:pt x="45720" y="76200"/>
                </a:lnTo>
                <a:close/>
              </a:path>
              <a:path w="304800" h="304800">
                <a:moveTo>
                  <a:pt x="121920" y="60960"/>
                </a:moveTo>
                <a:lnTo>
                  <a:pt x="121920" y="76200"/>
                </a:lnTo>
                <a:lnTo>
                  <a:pt x="182880" y="76200"/>
                </a:lnTo>
                <a:lnTo>
                  <a:pt x="182880" y="60960"/>
                </a:lnTo>
                <a:lnTo>
                  <a:pt x="121920" y="6096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4" name="Freeform 34"/>
          <p:cNvSpPr/>
          <p:nvPr/>
        </p:nvSpPr>
        <p:spPr>
          <a:xfrm>
            <a:off x="6723985" y="1921209"/>
            <a:ext cx="543229" cy="436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0960" y="167640"/>
                </a:moveTo>
                <a:lnTo>
                  <a:pt x="30480" y="167640"/>
                </a:lnTo>
                <a:cubicBezTo>
                  <a:pt x="13649" y="167640"/>
                  <a:pt x="0" y="153991"/>
                  <a:pt x="0" y="137160"/>
                </a:cubicBezTo>
                <a:lnTo>
                  <a:pt x="0" y="137160"/>
                </a:lnTo>
                <a:lnTo>
                  <a:pt x="0" y="76200"/>
                </a:lnTo>
                <a:cubicBezTo>
                  <a:pt x="0" y="59436"/>
                  <a:pt x="13716" y="45720"/>
                  <a:pt x="30480" y="45720"/>
                </a:cubicBezTo>
                <a:lnTo>
                  <a:pt x="60960" y="45720"/>
                </a:lnTo>
                <a:lnTo>
                  <a:pt x="60960" y="15240"/>
                </a:lnTo>
                <a:lnTo>
                  <a:pt x="274320" y="15240"/>
                </a:lnTo>
                <a:lnTo>
                  <a:pt x="274320" y="167640"/>
                </a:lnTo>
                <a:cubicBezTo>
                  <a:pt x="274320" y="201311"/>
                  <a:pt x="247031" y="228600"/>
                  <a:pt x="213360" y="228600"/>
                </a:cubicBezTo>
                <a:lnTo>
                  <a:pt x="213360" y="228600"/>
                </a:lnTo>
                <a:lnTo>
                  <a:pt x="121920" y="228600"/>
                </a:lnTo>
                <a:cubicBezTo>
                  <a:pt x="88249" y="228600"/>
                  <a:pt x="60960" y="201311"/>
                  <a:pt x="60960" y="167640"/>
                </a:cubicBezTo>
                <a:lnTo>
                  <a:pt x="60960" y="167640"/>
                </a:lnTo>
                <a:close/>
              </a:path>
              <a:path w="304800" h="304800">
                <a:moveTo>
                  <a:pt x="60960" y="137160"/>
                </a:moveTo>
                <a:lnTo>
                  <a:pt x="60960" y="76200"/>
                </a:lnTo>
                <a:lnTo>
                  <a:pt x="30480" y="76200"/>
                </a:lnTo>
                <a:lnTo>
                  <a:pt x="30480" y="137160"/>
                </a:lnTo>
                <a:lnTo>
                  <a:pt x="60960" y="137160"/>
                </a:lnTo>
                <a:close/>
              </a:path>
              <a:path w="304800" h="304800">
                <a:moveTo>
                  <a:pt x="30480" y="259080"/>
                </a:moveTo>
                <a:lnTo>
                  <a:pt x="30480" y="243840"/>
                </a:lnTo>
                <a:lnTo>
                  <a:pt x="304800" y="243840"/>
                </a:lnTo>
                <a:lnTo>
                  <a:pt x="304800" y="259080"/>
                </a:lnTo>
                <a:lnTo>
                  <a:pt x="243840" y="289560"/>
                </a:lnTo>
                <a:lnTo>
                  <a:pt x="91440" y="289560"/>
                </a:lnTo>
                <a:lnTo>
                  <a:pt x="30480" y="25908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9203764" y="1911924"/>
            <a:ext cx="454800" cy="45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190500"/>
                </a:moveTo>
                <a:cubicBezTo>
                  <a:pt x="194481" y="190500"/>
                  <a:pt x="228562" y="156381"/>
                  <a:pt x="228562" y="114300"/>
                </a:cubicBezTo>
                <a:lnTo>
                  <a:pt x="228562" y="76200"/>
                </a:lnTo>
                <a:cubicBezTo>
                  <a:pt x="228562" y="23612"/>
                  <a:pt x="190500" y="0"/>
                  <a:pt x="152400" y="0"/>
                </a:cubicBezTo>
                <a:lnTo>
                  <a:pt x="76162" y="0"/>
                </a:lnTo>
                <a:cubicBezTo>
                  <a:pt x="38100" y="0"/>
                  <a:pt x="0" y="20241"/>
                  <a:pt x="0" y="76200"/>
                </a:cubicBezTo>
                <a:cubicBezTo>
                  <a:pt x="0" y="130969"/>
                  <a:pt x="38100" y="152400"/>
                  <a:pt x="76162" y="152400"/>
                </a:cubicBezTo>
                <a:lnTo>
                  <a:pt x="114300" y="152400"/>
                </a:lnTo>
                <a:cubicBezTo>
                  <a:pt x="135322" y="152400"/>
                  <a:pt x="152400" y="169478"/>
                  <a:pt x="152400" y="190500"/>
                </a:cubicBezTo>
                <a:close/>
              </a:path>
              <a:path w="304800" h="304800">
                <a:moveTo>
                  <a:pt x="247460" y="116329"/>
                </a:moveTo>
                <a:cubicBezTo>
                  <a:pt x="246345" y="167878"/>
                  <a:pt x="204197" y="209550"/>
                  <a:pt x="152400" y="209550"/>
                </a:cubicBezTo>
                <a:lnTo>
                  <a:pt x="133350" y="209550"/>
                </a:lnTo>
                <a:lnTo>
                  <a:pt x="133350" y="190500"/>
                </a:lnTo>
                <a:cubicBezTo>
                  <a:pt x="133350" y="179984"/>
                  <a:pt x="124797" y="171450"/>
                  <a:pt x="114300" y="171450"/>
                </a:cubicBezTo>
                <a:lnTo>
                  <a:pt x="78095" y="171450"/>
                </a:lnTo>
                <a:cubicBezTo>
                  <a:pt x="76952" y="177136"/>
                  <a:pt x="76248" y="183223"/>
                  <a:pt x="76200" y="189795"/>
                </a:cubicBezTo>
                <a:lnTo>
                  <a:pt x="76200" y="229333"/>
                </a:lnTo>
                <a:cubicBezTo>
                  <a:pt x="76600" y="271072"/>
                  <a:pt x="110566" y="304800"/>
                  <a:pt x="152400" y="304800"/>
                </a:cubicBezTo>
                <a:cubicBezTo>
                  <a:pt x="152400" y="283740"/>
                  <a:pt x="169478" y="266700"/>
                  <a:pt x="190500" y="266700"/>
                </a:cubicBezTo>
                <a:lnTo>
                  <a:pt x="228562" y="266700"/>
                </a:lnTo>
                <a:cubicBezTo>
                  <a:pt x="266700" y="266700"/>
                  <a:pt x="304800" y="245269"/>
                  <a:pt x="304800" y="190500"/>
                </a:cubicBezTo>
                <a:cubicBezTo>
                  <a:pt x="304800" y="143894"/>
                  <a:pt x="278273" y="122301"/>
                  <a:pt x="247460" y="116329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研究目标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603691" y="2087038"/>
            <a:ext cx="1923317" cy="4449440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4844782" y="2087038"/>
            <a:ext cx="1923317" cy="443782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844782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9119302" y="2087038"/>
            <a:ext cx="1923317" cy="4437827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9119302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923654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6961712" y="2087038"/>
            <a:ext cx="1923317" cy="4437827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6961712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707895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2734767" y="2087038"/>
            <a:ext cx="1923317" cy="4449440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2734767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20" name="AutoShape 20"/>
          <p:cNvSpPr/>
          <p:nvPr/>
        </p:nvSpPr>
        <p:spPr>
          <a:xfrm>
            <a:off x="2852006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603691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22" name="AutoShape 22"/>
          <p:cNvSpPr/>
          <p:nvPr/>
        </p:nvSpPr>
        <p:spPr>
          <a:xfrm>
            <a:off x="72093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3" name="TextBox 23"/>
          <p:cNvSpPr txBox="1"/>
          <p:nvPr/>
        </p:nvSpPr>
        <p:spPr>
          <a:xfrm>
            <a:off x="66781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系统功能目标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03691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覆盖滑雪场7大核心业务模块，支持完整业务流程；实现数据统计和可视化展示；支持多角色权限管理，不同角色具有不同的功能权限。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772240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打造简洁美观、统一风格且符合用户习惯的现代化界面；支持适配PC端和移动端，确保良好的浏览器兼容性，同时页面加载快速，API响应及时。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882255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掌握主流技术栈，包括后端Spring Boot、MyBatis等和前端Vue.js、Element Plus等；理解系统架构设计思想，遵循三层架构职责划分。</a:t>
            </a:r>
            <a:endParaRPr lang="en-US" sz="112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999185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毕业设计成果为完整可运行的管理系统，包含前后端源代码及数据库脚本；论文成果包含需求、设计、实现、测试等完整章节。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56774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提高运营管理效率30%以上，减少人工统计时间50%以上；提升客户满意度，降低运营成本；完成有实际应用价值的项目，为就业面试做好准备。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96202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30" name="TextBox 30"/>
          <p:cNvSpPr txBox="1"/>
          <p:nvPr/>
        </p:nvSpPr>
        <p:spPr>
          <a:xfrm>
            <a:off x="2798892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用户体验目标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02583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学术成果目标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8342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预期效果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90890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技术能力目标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236522" y="1910384"/>
            <a:ext cx="657655" cy="52612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6680" y="0"/>
                </a:moveTo>
                <a:lnTo>
                  <a:pt x="91440" y="0"/>
                </a:lnTo>
                <a:lnTo>
                  <a:pt x="0" y="45720"/>
                </a:lnTo>
                <a:lnTo>
                  <a:pt x="0" y="137160"/>
                </a:lnTo>
                <a:lnTo>
                  <a:pt x="60960" y="121920"/>
                </a:lnTo>
                <a:lnTo>
                  <a:pt x="60960" y="304800"/>
                </a:lnTo>
                <a:lnTo>
                  <a:pt x="243840" y="304800"/>
                </a:lnTo>
                <a:lnTo>
                  <a:pt x="243840" y="121920"/>
                </a:lnTo>
                <a:lnTo>
                  <a:pt x="304800" y="137160"/>
                </a:lnTo>
                <a:lnTo>
                  <a:pt x="304800" y="45720"/>
                </a:lnTo>
                <a:lnTo>
                  <a:pt x="213360" y="0"/>
                </a:lnTo>
                <a:lnTo>
                  <a:pt x="198120" y="0"/>
                </a:lnTo>
                <a:cubicBezTo>
                  <a:pt x="198120" y="25251"/>
                  <a:pt x="177651" y="45720"/>
                  <a:pt x="152400" y="45720"/>
                </a:cubicBezTo>
                <a:cubicBezTo>
                  <a:pt x="127149" y="45720"/>
                  <a:pt x="106680" y="25251"/>
                  <a:pt x="106680" y="0"/>
                </a:cubicBezTo>
                <a:lnTo>
                  <a:pt x="10668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3354445" y="1831465"/>
            <a:ext cx="683962" cy="6839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0960" y="167640"/>
                </a:moveTo>
                <a:lnTo>
                  <a:pt x="30480" y="167640"/>
                </a:lnTo>
                <a:cubicBezTo>
                  <a:pt x="13649" y="167640"/>
                  <a:pt x="0" y="153991"/>
                  <a:pt x="0" y="137160"/>
                </a:cubicBezTo>
                <a:lnTo>
                  <a:pt x="0" y="137160"/>
                </a:lnTo>
                <a:lnTo>
                  <a:pt x="0" y="76200"/>
                </a:lnTo>
                <a:cubicBezTo>
                  <a:pt x="0" y="59436"/>
                  <a:pt x="13716" y="45720"/>
                  <a:pt x="30480" y="45720"/>
                </a:cubicBezTo>
                <a:lnTo>
                  <a:pt x="60960" y="45720"/>
                </a:lnTo>
                <a:lnTo>
                  <a:pt x="60960" y="15240"/>
                </a:lnTo>
                <a:lnTo>
                  <a:pt x="274320" y="15240"/>
                </a:lnTo>
                <a:lnTo>
                  <a:pt x="274320" y="167640"/>
                </a:lnTo>
                <a:cubicBezTo>
                  <a:pt x="274320" y="201311"/>
                  <a:pt x="247031" y="228600"/>
                  <a:pt x="213360" y="228600"/>
                </a:cubicBezTo>
                <a:lnTo>
                  <a:pt x="213360" y="228600"/>
                </a:lnTo>
                <a:lnTo>
                  <a:pt x="121920" y="228600"/>
                </a:lnTo>
                <a:cubicBezTo>
                  <a:pt x="88249" y="228600"/>
                  <a:pt x="60960" y="201311"/>
                  <a:pt x="60960" y="167640"/>
                </a:cubicBezTo>
                <a:lnTo>
                  <a:pt x="60960" y="167640"/>
                </a:lnTo>
                <a:close/>
              </a:path>
              <a:path w="304800" h="304800">
                <a:moveTo>
                  <a:pt x="60960" y="137160"/>
                </a:moveTo>
                <a:lnTo>
                  <a:pt x="60960" y="76200"/>
                </a:lnTo>
                <a:lnTo>
                  <a:pt x="30480" y="76200"/>
                </a:lnTo>
                <a:lnTo>
                  <a:pt x="30480" y="137160"/>
                </a:lnTo>
                <a:lnTo>
                  <a:pt x="60960" y="137160"/>
                </a:lnTo>
                <a:close/>
              </a:path>
              <a:path w="304800" h="304800">
                <a:moveTo>
                  <a:pt x="30480" y="259080"/>
                </a:moveTo>
                <a:lnTo>
                  <a:pt x="30480" y="243840"/>
                </a:lnTo>
                <a:lnTo>
                  <a:pt x="304800" y="243840"/>
                </a:lnTo>
                <a:lnTo>
                  <a:pt x="304800" y="259080"/>
                </a:lnTo>
                <a:lnTo>
                  <a:pt x="243840" y="289560"/>
                </a:lnTo>
                <a:lnTo>
                  <a:pt x="91440" y="289560"/>
                </a:lnTo>
                <a:lnTo>
                  <a:pt x="30480" y="25908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6" name="Freeform 36"/>
          <p:cNvSpPr/>
          <p:nvPr/>
        </p:nvSpPr>
        <p:spPr>
          <a:xfrm>
            <a:off x="5418423" y="1699021"/>
            <a:ext cx="776033" cy="77603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80975"/>
                </a:moveTo>
                <a:lnTo>
                  <a:pt x="247650" y="123825"/>
                </a:lnTo>
                <a:lnTo>
                  <a:pt x="247650" y="38100"/>
                </a:lnTo>
                <a:lnTo>
                  <a:pt x="209550" y="38100"/>
                </a:lnTo>
                <a:lnTo>
                  <a:pt x="209550" y="85725"/>
                </a:lnTo>
                <a:lnTo>
                  <a:pt x="152400" y="28575"/>
                </a:lnTo>
                <a:lnTo>
                  <a:pt x="0" y="180975"/>
                </a:lnTo>
                <a:lnTo>
                  <a:pt x="0" y="190500"/>
                </a:lnTo>
                <a:lnTo>
                  <a:pt x="38100" y="190500"/>
                </a:lnTo>
                <a:lnTo>
                  <a:pt x="38100" y="285750"/>
                </a:lnTo>
                <a:lnTo>
                  <a:pt x="133350" y="285750"/>
                </a:lnTo>
                <a:lnTo>
                  <a:pt x="133350" y="228600"/>
                </a:lnTo>
                <a:lnTo>
                  <a:pt x="171450" y="228600"/>
                </a:lnTo>
                <a:lnTo>
                  <a:pt x="171450" y="285750"/>
                </a:lnTo>
                <a:lnTo>
                  <a:pt x="266700" y="285750"/>
                </a:lnTo>
                <a:lnTo>
                  <a:pt x="266700" y="190500"/>
                </a:lnTo>
                <a:lnTo>
                  <a:pt x="304800" y="1905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7" name="Freeform 37"/>
          <p:cNvSpPr/>
          <p:nvPr/>
        </p:nvSpPr>
        <p:spPr>
          <a:xfrm>
            <a:off x="7588989" y="1745057"/>
            <a:ext cx="668763" cy="6839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550" y="0"/>
                </a:moveTo>
                <a:cubicBezTo>
                  <a:pt x="156943" y="0"/>
                  <a:pt x="114300" y="42643"/>
                  <a:pt x="114300" y="95250"/>
                </a:cubicBezTo>
                <a:cubicBezTo>
                  <a:pt x="114300" y="101213"/>
                  <a:pt x="114852" y="107042"/>
                  <a:pt x="115900" y="112700"/>
                </a:cubicBezTo>
                <a:lnTo>
                  <a:pt x="0" y="228600"/>
                </a:lnTo>
                <a:lnTo>
                  <a:pt x="0" y="285750"/>
                </a:lnTo>
                <a:cubicBezTo>
                  <a:pt x="0" y="296275"/>
                  <a:pt x="8525" y="304800"/>
                  <a:pt x="19050" y="304800"/>
                </a:cubicBezTo>
                <a:lnTo>
                  <a:pt x="38100" y="30480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247650"/>
                </a:lnTo>
                <a:lnTo>
                  <a:pt x="114300" y="247650"/>
                </a:lnTo>
                <a:lnTo>
                  <a:pt x="114300" y="209550"/>
                </a:lnTo>
                <a:lnTo>
                  <a:pt x="152400" y="209550"/>
                </a:lnTo>
                <a:lnTo>
                  <a:pt x="177117" y="184833"/>
                </a:lnTo>
                <a:cubicBezTo>
                  <a:pt x="187242" y="188500"/>
                  <a:pt x="198158" y="190500"/>
                  <a:pt x="209550" y="190500"/>
                </a:cubicBezTo>
                <a:cubicBezTo>
                  <a:pt x="262157" y="190500"/>
                  <a:pt x="304800" y="147857"/>
                  <a:pt x="304800" y="95250"/>
                </a:cubicBezTo>
                <a:cubicBezTo>
                  <a:pt x="304800" y="42643"/>
                  <a:pt x="262157" y="0"/>
                  <a:pt x="209550" y="0"/>
                </a:cubicBezTo>
                <a:close/>
              </a:path>
              <a:path w="304800" h="304800">
                <a:moveTo>
                  <a:pt x="238087" y="95288"/>
                </a:moveTo>
                <a:cubicBezTo>
                  <a:pt x="222304" y="95288"/>
                  <a:pt x="209512" y="82496"/>
                  <a:pt x="209512" y="66713"/>
                </a:cubicBezTo>
                <a:cubicBezTo>
                  <a:pt x="209512" y="50930"/>
                  <a:pt x="222304" y="38138"/>
                  <a:pt x="238087" y="38138"/>
                </a:cubicBezTo>
                <a:cubicBezTo>
                  <a:pt x="253870" y="38138"/>
                  <a:pt x="266662" y="50930"/>
                  <a:pt x="266662" y="66713"/>
                </a:cubicBezTo>
                <a:cubicBezTo>
                  <a:pt x="266662" y="82496"/>
                  <a:pt x="253870" y="95288"/>
                  <a:pt x="238087" y="95288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8" name="Freeform 38"/>
          <p:cNvSpPr/>
          <p:nvPr/>
        </p:nvSpPr>
        <p:spPr>
          <a:xfrm>
            <a:off x="9746012" y="1752090"/>
            <a:ext cx="669896" cy="66989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1920" y="28651"/>
                </a:moveTo>
                <a:lnTo>
                  <a:pt x="121920" y="0"/>
                </a:lnTo>
                <a:lnTo>
                  <a:pt x="152400" y="0"/>
                </a:lnTo>
                <a:lnTo>
                  <a:pt x="152400" y="243840"/>
                </a:lnTo>
                <a:lnTo>
                  <a:pt x="304800" y="243840"/>
                </a:lnTo>
                <a:lnTo>
                  <a:pt x="243840" y="304800"/>
                </a:lnTo>
                <a:lnTo>
                  <a:pt x="30480" y="304800"/>
                </a:lnTo>
                <a:lnTo>
                  <a:pt x="0" y="243840"/>
                </a:lnTo>
                <a:lnTo>
                  <a:pt x="121920" y="243840"/>
                </a:lnTo>
                <a:lnTo>
                  <a:pt x="121920" y="213360"/>
                </a:lnTo>
                <a:lnTo>
                  <a:pt x="0" y="213360"/>
                </a:lnTo>
                <a:lnTo>
                  <a:pt x="0" y="209398"/>
                </a:lnTo>
                <a:cubicBezTo>
                  <a:pt x="56940" y="163544"/>
                  <a:pt x="99498" y="101956"/>
                  <a:pt x="121234" y="31242"/>
                </a:cubicBezTo>
                <a:lnTo>
                  <a:pt x="121920" y="28651"/>
                </a:lnTo>
                <a:close/>
              </a:path>
              <a:path w="304800" h="304800">
                <a:moveTo>
                  <a:pt x="304343" y="213360"/>
                </a:moveTo>
                <a:lnTo>
                  <a:pt x="152400" y="213360"/>
                </a:lnTo>
                <a:lnTo>
                  <a:pt x="152400" y="207874"/>
                </a:lnTo>
                <a:cubicBezTo>
                  <a:pt x="171650" y="179451"/>
                  <a:pt x="183137" y="144409"/>
                  <a:pt x="183137" y="106680"/>
                </a:cubicBezTo>
                <a:cubicBezTo>
                  <a:pt x="183137" y="68951"/>
                  <a:pt x="171660" y="33909"/>
                  <a:pt x="151990" y="4848"/>
                </a:cubicBezTo>
                <a:lnTo>
                  <a:pt x="152400" y="5486"/>
                </a:lnTo>
                <a:lnTo>
                  <a:pt x="152400" y="2438"/>
                </a:lnTo>
                <a:cubicBezTo>
                  <a:pt x="237877" y="37719"/>
                  <a:pt x="298180" y="117796"/>
                  <a:pt x="304305" y="212646"/>
                </a:cubicBezTo>
                <a:lnTo>
                  <a:pt x="304343" y="21336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81" y="144494"/>
            <a:ext cx="945547" cy="852488"/>
          </a:xfrm>
          <a:prstGeom prst="rect">
            <a:avLst/>
          </a:prstGeom>
          <a:noFill/>
        </p:spPr>
      </p:pic>
      <p:sp>
        <p:nvSpPr>
          <p:cNvPr id="7" name="TextBox 7"/>
          <p:cNvSpPr txBox="1"/>
          <p:nvPr/>
        </p:nvSpPr>
        <p:spPr>
          <a:xfrm>
            <a:off x="1778353" y="1005520"/>
            <a:ext cx="8686159" cy="284515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ts val="450"/>
              </a:spcBef>
            </a:pPr>
            <a:r>
              <a:rPr lang="en-US" sz="108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108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8"/>
          <p:cNvSpPr txBox="1"/>
          <p:nvPr/>
        </p:nvSpPr>
        <p:spPr>
          <a:xfrm>
            <a:off x="1875918" y="3311453"/>
            <a:ext cx="6717869" cy="1040441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74000"/>
              </a:lnSpc>
            </a:pPr>
            <a:r>
              <a:rPr lang="en-US" sz="28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研究方法与技术方案</a:t>
            </a:r>
            <a:endParaRPr lang="en-US" sz="28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研究方法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8241349" y="1885327"/>
            <a:ext cx="2030851" cy="370266"/>
          </a:xfrm>
          <a:prstGeom prst="ellipse">
            <a:avLst/>
          </a:prstGeom>
          <a:gradFill>
            <a:gsLst>
              <a:gs pos="0">
                <a:schemeClr val="lt1">
                  <a:alpha val="3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4500000"/>
          </a:gradFill>
        </p:spPr>
      </p:sp>
      <p:sp>
        <p:nvSpPr>
          <p:cNvPr id="10" name="AutoShape 10"/>
          <p:cNvSpPr/>
          <p:nvPr/>
        </p:nvSpPr>
        <p:spPr>
          <a:xfrm>
            <a:off x="8241349" y="1735033"/>
            <a:ext cx="2030851" cy="370266"/>
          </a:xfrm>
          <a:prstGeom prst="ellipse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4500000"/>
          </a:gradFill>
        </p:spPr>
      </p:sp>
      <p:sp>
        <p:nvSpPr>
          <p:cNvPr id="11" name="AutoShape 11"/>
          <p:cNvSpPr/>
          <p:nvPr/>
        </p:nvSpPr>
        <p:spPr>
          <a:xfrm>
            <a:off x="4791014" y="1885327"/>
            <a:ext cx="2030851" cy="370266"/>
          </a:xfrm>
          <a:prstGeom prst="ellipse">
            <a:avLst/>
          </a:prstGeom>
          <a:gradFill>
            <a:gsLst>
              <a:gs pos="0">
                <a:schemeClr val="lt1">
                  <a:alpha val="3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4500000"/>
          </a:gradFill>
        </p:spPr>
      </p:sp>
      <p:sp>
        <p:nvSpPr>
          <p:cNvPr id="12" name="AutoShape 12"/>
          <p:cNvSpPr/>
          <p:nvPr/>
        </p:nvSpPr>
        <p:spPr>
          <a:xfrm>
            <a:off x="4791014" y="1735033"/>
            <a:ext cx="2030851" cy="370266"/>
          </a:xfrm>
          <a:prstGeom prst="ellipse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4500000"/>
          </a:gradFill>
        </p:spPr>
      </p:sp>
      <p:sp>
        <p:nvSpPr>
          <p:cNvPr id="13" name="AutoShape 13"/>
          <p:cNvSpPr/>
          <p:nvPr/>
        </p:nvSpPr>
        <p:spPr>
          <a:xfrm>
            <a:off x="1340680" y="1885327"/>
            <a:ext cx="2030851" cy="370266"/>
          </a:xfrm>
          <a:prstGeom prst="ellipse">
            <a:avLst/>
          </a:prstGeom>
          <a:gradFill>
            <a:gsLst>
              <a:gs pos="0">
                <a:schemeClr val="lt1">
                  <a:alpha val="3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4500000"/>
          </a:gradFill>
        </p:spPr>
      </p:sp>
      <p:sp>
        <p:nvSpPr>
          <p:cNvPr id="14" name="AutoShape 14"/>
          <p:cNvSpPr/>
          <p:nvPr/>
        </p:nvSpPr>
        <p:spPr>
          <a:xfrm>
            <a:off x="1340680" y="1735033"/>
            <a:ext cx="2030851" cy="370266"/>
          </a:xfrm>
          <a:prstGeom prst="ellipse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4500000"/>
          </a:gradFill>
        </p:spPr>
      </p:sp>
      <p:sp>
        <p:nvSpPr>
          <p:cNvPr id="15" name="TextBox 15"/>
          <p:cNvSpPr txBox="1"/>
          <p:nvPr/>
        </p:nvSpPr>
        <p:spPr>
          <a:xfrm>
            <a:off x="967366" y="2396528"/>
            <a:ext cx="2821567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需求调研法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42837" y="3386852"/>
            <a:ext cx="2865164" cy="175644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调研滑雪场管理人员、教练、工作人员及顾客需求，通过网络调研及案例分析，绘制业务流程图或用例图。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417700" y="2396528"/>
            <a:ext cx="2821567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系统设计方法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99375" y="3386852"/>
            <a:ext cx="2865164" cy="175644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采用面向对象分析与设计，结合OOA/OOD、三层架构与UML建模，确保系统高内聚低耦合，同时运用敏捷开发迭代增量模型，保证快速交付与灵活变更。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868035" y="2396528"/>
            <a:ext cx="2821567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测试驱动方法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64139" y="3386852"/>
            <a:ext cx="2865164" cy="175644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采用测试驱动的开发流程，利用单元测试、功能测试、性能测试及安全测试等手段，结合持续的代码优化与重构，确保软件质量与安全性。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10278" y="971998"/>
            <a:ext cx="1896166" cy="14606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5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5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98092" y="971998"/>
            <a:ext cx="2014109" cy="14606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5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5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3"/>
          <p:cNvSpPr txBox="1"/>
          <p:nvPr/>
        </p:nvSpPr>
        <p:spPr>
          <a:xfrm>
            <a:off x="8310254" y="1009228"/>
            <a:ext cx="1896166" cy="14606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5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5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解决的关键问题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572706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>
            <a:off x="1345045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2728663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Freeform 12"/>
          <p:cNvSpPr/>
          <p:nvPr/>
        </p:nvSpPr>
        <p:spPr>
          <a:xfrm>
            <a:off x="3501001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572706" y="1563477"/>
            <a:ext cx="1061490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728663" y="1563477"/>
            <a:ext cx="1061490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3352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业务流程信息化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33352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通过统一平台整合滑雪场业务，实现数据集中存储与实时更新，并标准化业务流程；采用后端RESTful API与前端统一访问接口，确保数据一致性与系统协同作业。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604678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多角色协同管理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604678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通过建立多角色用户模型，实施基于角色的访问控制，确保不同角色拥有专属功能权限；前后端分别根据角色信息动态展示菜单并校验权限，实现安全高效的系统协同管理。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783355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数据安全问题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83355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采用BCrypt加密存储密码，JWT Token进行用户认证，RBAC管理权限，MyBatis预编译SQL防止SQL注入，前端过滤用户输入防XSS；综合运用多种安全措施，确保系统安全。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943428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系统性能问题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943428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通过集成Redis缓存热点数据，优化数据库查询性能，采用分页加载大数据量，以及异步处理耗时操作，有效提升系统响应速度与并发处理能力，确保高效稳定的运行。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075321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8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数据统计与可视化</a:t>
            </a:r>
            <a:endParaRPr lang="en-US" sz="18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075321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通过后端提供数据统计API，结合前端ECharts实现数据可视化，以Dashboard展示关键业务指标，帮助管理者直观了解运营数据，支持高效决策分析。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946417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6" name="Freeform 26"/>
          <p:cNvSpPr/>
          <p:nvPr/>
        </p:nvSpPr>
        <p:spPr>
          <a:xfrm>
            <a:off x="5718755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>
            <a:off x="7114249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8" name="Freeform 28"/>
          <p:cNvSpPr/>
          <p:nvPr/>
        </p:nvSpPr>
        <p:spPr>
          <a:xfrm>
            <a:off x="7886587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9248970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0" name="Freeform 30"/>
          <p:cNvSpPr/>
          <p:nvPr/>
        </p:nvSpPr>
        <p:spPr>
          <a:xfrm>
            <a:off x="10021308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31" name="TextBox 31"/>
          <p:cNvSpPr txBox="1"/>
          <p:nvPr/>
        </p:nvSpPr>
        <p:spPr>
          <a:xfrm>
            <a:off x="4946417" y="1563477"/>
            <a:ext cx="1061490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114249" y="1563477"/>
            <a:ext cx="1054996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33"/>
          <p:cNvSpPr txBox="1"/>
          <p:nvPr/>
        </p:nvSpPr>
        <p:spPr>
          <a:xfrm>
            <a:off x="9248970" y="1563477"/>
            <a:ext cx="1000018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技术方案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672766" y="1444099"/>
            <a:ext cx="23226" cy="4107271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10" name="AutoShape 10"/>
          <p:cNvSpPr/>
          <p:nvPr/>
        </p:nvSpPr>
        <p:spPr>
          <a:xfrm>
            <a:off x="547734" y="1290891"/>
            <a:ext cx="273289" cy="306415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893448" y="2183566"/>
            <a:ext cx="2839712" cy="330241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后端选用Spring Boot 2.7+、MyBatis+MySQL、Redis、JWT Token等；前端则采用Vue 3.3+、Element Plus、ECharts等；构建工具选用Vite 4.4+和Maven，API文档用Knife4j。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236105" y="1444099"/>
            <a:ext cx="23226" cy="4107271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13" name="AutoShape 13"/>
          <p:cNvSpPr/>
          <p:nvPr/>
        </p:nvSpPr>
        <p:spPr>
          <a:xfrm>
            <a:off x="4111073" y="1290891"/>
            <a:ext cx="273289" cy="306415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4" name="TextBox 14"/>
          <p:cNvSpPr txBox="1"/>
          <p:nvPr/>
        </p:nvSpPr>
        <p:spPr>
          <a:xfrm>
            <a:off x="4456787" y="2183566"/>
            <a:ext cx="2839712" cy="330241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系统架构涵盖用户层、前端层、RESTful API、后端层；用户层通过浏览器访问，前端层采用Vue.js构建；后端层则利用Spring Boot实现业务逻辑，并通过MyBatis操作MySQL数据库。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799444" y="1444099"/>
            <a:ext cx="23226" cy="4107271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16" name="AutoShape 16"/>
          <p:cNvSpPr/>
          <p:nvPr/>
        </p:nvSpPr>
        <p:spPr>
          <a:xfrm>
            <a:off x="7674412" y="1290891"/>
            <a:ext cx="273289" cy="306415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7" name="TextBox 17"/>
          <p:cNvSpPr txBox="1"/>
          <p:nvPr/>
        </p:nvSpPr>
        <p:spPr>
          <a:xfrm>
            <a:off x="8113029" y="2183566"/>
            <a:ext cx="2839712" cy="330241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开发环境配备IntelliJ IDEA和VS Code分别用于后端和前端开发；Navicat/DBeaver管理数据库；Postman/Apifox测试API；Git+GitHub/Gitee管理代码；Maven管理后端依赖。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3448" y="1188474"/>
            <a:ext cx="2912293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技术栈选型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470108" y="1188474"/>
            <a:ext cx="2912293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0"/>
          <p:cNvSpPr txBox="1"/>
          <p:nvPr/>
        </p:nvSpPr>
        <p:spPr>
          <a:xfrm>
            <a:off x="8104598" y="1188474"/>
            <a:ext cx="2912293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开发环境与工具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技术方案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3879748" y="1112976"/>
            <a:ext cx="433777" cy="1970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428750" y="0"/>
                </a:lnTo>
                <a:lnTo>
                  <a:pt x="1905000" y="1905000"/>
                </a:lnTo>
                <a:lnTo>
                  <a:pt x="476250" y="1905000"/>
                </a:lnTo>
                <a:lnTo>
                  <a:pt x="0" y="0"/>
                </a:lnTo>
              </a:path>
            </a:pathLst>
          </a:custGeom>
          <a:solidFill>
            <a:schemeClr val="accent2">
              <a:alpha val="50000"/>
              <a:lumMod val="75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449965" y="1310069"/>
            <a:ext cx="10712950" cy="4476283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>
            <a:off x="705505" y="1112976"/>
            <a:ext cx="3505032" cy="4673376"/>
          </a:xfrm>
          <a:prstGeom prst="parallelogram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529023" y="1645545"/>
            <a:ext cx="6160333" cy="71999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接口设计</a:t>
            </a:r>
            <a:endParaRPr lang="en-US" sz="21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29023" y="2194565"/>
            <a:ext cx="5944189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接口设计遵循RESTful风格，包括雪具资源的CRUD操作；同时定义统一响应格式，包含状态码、提示信息及业务数据；并实现全局异常处理，返回友好错误信息并记录日志。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529023" y="3603693"/>
            <a:ext cx="5944189" cy="71999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数据库设计原则</a:t>
            </a:r>
            <a:endParaRPr lang="en-US" sz="21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15"/>
          <p:cNvSpPr txBox="1"/>
          <p:nvPr/>
        </p:nvSpPr>
        <p:spPr>
          <a:xfrm>
            <a:off x="4529023" y="4226071"/>
            <a:ext cx="5944189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数据库设计遵循三范式，确保数据结构合理且避免数据冗余；采用t_xxx表名格式和下划线分隔的字段名；同时设定通用字段如id、时间戳和逻辑删除标志。</a:t>
            </a:r>
            <a:endParaRPr lang="en-US" sz="127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系统架构设计</a:t>
              </a:r>
              <a:endParaRPr lang="en-US" sz="11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27547" y="1347605"/>
            <a:ext cx="6414302" cy="84374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74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三层架构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7547" y="1994199"/>
            <a:ext cx="6414302" cy="12610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表现层采用Vue.js+Element UI+ECharts构建；业务层依托Spring Boot与Spring Security处理业务逻辑；数据层则结合MySQL、Redis及MyBatis实现数据持久化与缓存。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6837" y="3761555"/>
            <a:ext cx="6214706" cy="84374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74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12"/>
          <p:cNvSpPr txBox="1"/>
          <p:nvPr/>
        </p:nvSpPr>
        <p:spPr>
          <a:xfrm>
            <a:off x="656837" y="4425262"/>
            <a:ext cx="6486882" cy="12610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后端采用Spring Boot 2.7+、Spring Security、MyBatis及MySQL 8.0等技术；前端则运用Vue.js 3.x、Element Plus、ECharts等框架；同时使用Axios进行数据交互。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alphaModFix amt="70000"/>
          </a:blip>
          <a:srcRect l="26563" r="26563"/>
          <a:stretch>
            <a:fillRect/>
          </a:stretch>
        </p:blipFill>
        <p:spPr>
          <a:xfrm>
            <a:off x="7432634" y="1237527"/>
            <a:ext cx="3505032" cy="46733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81" y="144494"/>
            <a:ext cx="945547" cy="852488"/>
          </a:xfrm>
          <a:prstGeom prst="rect">
            <a:avLst/>
          </a:prstGeom>
          <a:noFill/>
        </p:spPr>
      </p:pic>
      <p:sp>
        <p:nvSpPr>
          <p:cNvPr id="7" name="TextBox 7"/>
          <p:cNvSpPr txBox="1"/>
          <p:nvPr/>
        </p:nvSpPr>
        <p:spPr>
          <a:xfrm>
            <a:off x="1214995" y="3749346"/>
            <a:ext cx="9182889" cy="11032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5000"/>
              </a:lnSpc>
              <a:spcBef>
                <a:spcPts val="450"/>
              </a:spcBef>
            </a:pPr>
            <a:r>
              <a:rPr lang="en-US" sz="42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核心功能模块设计</a:t>
            </a:r>
            <a:endParaRPr lang="en-US" sz="42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8"/>
          <p:cNvSpPr txBox="1"/>
          <p:nvPr/>
        </p:nvSpPr>
        <p:spPr>
          <a:xfrm>
            <a:off x="1214995" y="1773321"/>
            <a:ext cx="9182889" cy="153870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5000"/>
              </a:lnSpc>
              <a:spcBef>
                <a:spcPts val="450"/>
              </a:spcBef>
            </a:pPr>
            <a:r>
              <a:rPr lang="en-US" sz="64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sz="64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功能模块总览</a:t>
              </a:r>
              <a:endParaRPr lang="en-US" sz="1100"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3352" y="1494982"/>
            <a:ext cx="4018834" cy="4018834"/>
          </a:xfrm>
          <a:prstGeom prst="ellipse">
            <a:avLst/>
          </a:prstGeom>
        </p:spPr>
      </p:pic>
      <p:grpSp>
        <p:nvGrpSpPr>
          <p:cNvPr id="10" name="Group 10"/>
          <p:cNvGrpSpPr/>
          <p:nvPr/>
        </p:nvGrpSpPr>
        <p:grpSpPr>
          <a:xfrm rot="0">
            <a:off x="4917884" y="1233328"/>
            <a:ext cx="5967300" cy="1398447"/>
            <a:chOff x="4917884" y="1233328"/>
            <a:chExt cx="5967300" cy="1398447"/>
          </a:xfrm>
        </p:grpSpPr>
        <p:sp>
          <p:nvSpPr>
            <p:cNvPr id="11" name="AutoShape 11"/>
            <p:cNvSpPr/>
            <p:nvPr/>
          </p:nvSpPr>
          <p:spPr>
            <a:xfrm>
              <a:off x="5075677" y="1233328"/>
              <a:ext cx="5809507" cy="1398447"/>
            </a:xfrm>
            <a:prstGeom prst="rect">
              <a:avLst/>
            </a:prstGeom>
            <a:solidFill>
              <a:schemeClr val="accent2">
                <a:alpha val="100000"/>
              </a:scheme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365347" y="1356704"/>
              <a:ext cx="2910118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  <a:spcBef>
                  <a:spcPts val="450"/>
                </a:spcBef>
              </a:pPr>
              <a:r>
                <a:rPr lang="en-US" sz="1800" b="1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用户管理模块</a:t>
              </a:r>
              <a:endPara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65347" y="1819949"/>
              <a:ext cx="5303583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用于管理系统的用户信息，包括用户注册、登录、权限控制等功能，确保系统用户的安全性与合法性。</a:t>
              </a:r>
              <a:endPara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4917884" y="1233328"/>
              <a:ext cx="157794" cy="1398447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4917884" y="2805176"/>
            <a:ext cx="5967300" cy="1398447"/>
            <a:chOff x="4917884" y="2805176"/>
            <a:chExt cx="5967300" cy="1398447"/>
          </a:xfrm>
        </p:grpSpPr>
        <p:sp>
          <p:nvSpPr>
            <p:cNvPr id="16" name="AutoShape 16"/>
            <p:cNvSpPr/>
            <p:nvPr/>
          </p:nvSpPr>
          <p:spPr>
            <a:xfrm>
              <a:off x="5075677" y="2805176"/>
              <a:ext cx="5809507" cy="1398447"/>
            </a:xfrm>
            <a:prstGeom prst="rect">
              <a:avLst/>
            </a:prstGeom>
            <a:solidFill>
              <a:schemeClr val="accent2">
                <a:alpha val="100000"/>
              </a:scheme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5365347" y="2928551"/>
              <a:ext cx="2910118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  <a:spcBef>
                  <a:spcPts val="450"/>
                </a:spcBef>
              </a:pPr>
              <a:r>
                <a:rPr lang="en-US" sz="1800" b="1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雪具租赁管理模块</a:t>
              </a:r>
              <a:endPara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65347" y="3391796"/>
              <a:ext cx="5303583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实现滑雪场雪具租赁业务的信息化管理，包括雪具信息管理、租赁订单处理、归还结算等。</a:t>
              </a:r>
              <a:endPara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4917884" y="2805176"/>
              <a:ext cx="157794" cy="1398447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4917884" y="4377023"/>
            <a:ext cx="5967300" cy="1398447"/>
            <a:chOff x="4917884" y="4377023"/>
            <a:chExt cx="5967300" cy="1398447"/>
          </a:xfrm>
        </p:grpSpPr>
        <p:sp>
          <p:nvSpPr>
            <p:cNvPr id="21" name="AutoShape 21"/>
            <p:cNvSpPr/>
            <p:nvPr/>
          </p:nvSpPr>
          <p:spPr>
            <a:xfrm>
              <a:off x="5075677" y="4377023"/>
              <a:ext cx="5809507" cy="1398447"/>
            </a:xfrm>
            <a:prstGeom prst="rect">
              <a:avLst/>
            </a:prstGeom>
            <a:solidFill>
              <a:schemeClr val="accent2">
                <a:alpha val="100000"/>
              </a:scheme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5365347" y="4500399"/>
              <a:ext cx="2910118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  <a:spcBef>
                  <a:spcPts val="450"/>
                </a:spcBef>
              </a:pPr>
              <a:r>
                <a:rPr lang="en-US" sz="1800" b="1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教练预约管理模块</a:t>
              </a:r>
              <a:endPara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65347" y="4963644"/>
              <a:ext cx="5303583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方便用户选择合适的教练，提高教练资源利用率，关键功能包括教练信息展示和在线预约。</a:t>
              </a:r>
              <a:endPara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4917884" y="4377023"/>
              <a:ext cx="157794" cy="1398447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功能模块总览</a:t>
              </a:r>
              <a:endParaRPr lang="en-US" sz="1100"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alphaModFix amt="100000"/>
          </a:blip>
          <a:srcRect l="16792" r="16792"/>
          <a:stretch>
            <a:fillRect/>
          </a:stretch>
        </p:blipFill>
        <p:spPr>
          <a:xfrm>
            <a:off x="-263278" y="1699577"/>
            <a:ext cx="3594827" cy="3594826"/>
          </a:xfrm>
          <a:prstGeom prst="ellipse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70522" y="1601805"/>
            <a:ext cx="3483864" cy="1895185"/>
          </a:xfrm>
          <a:prstGeom prst="rect">
            <a:avLst/>
          </a:prstGeom>
          <a:solidFill>
            <a:schemeClr val="accent2">
              <a:alpha val="79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3670522" y="1239201"/>
            <a:ext cx="3483864" cy="685160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>
            <a:off x="3862187" y="1982745"/>
            <a:ext cx="3100533" cy="134709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全面管理滑雪装备的销售业务，涵盖商品展示、订单处理、库存管理等，促进销售效率与运营精准度。</a:t>
            </a:r>
            <a:endParaRPr lang="en-US" sz="142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73676" y="1285653"/>
            <a:ext cx="3215461" cy="60387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装备销售管理模块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499203" y="1601805"/>
            <a:ext cx="3483864" cy="1895185"/>
          </a:xfrm>
          <a:prstGeom prst="rect">
            <a:avLst/>
          </a:prstGeom>
          <a:solidFill>
            <a:schemeClr val="accent2">
              <a:alpha val="79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7499203" y="1239201"/>
            <a:ext cx="3483864" cy="685160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>
            <a:off x="7702358" y="1285653"/>
            <a:ext cx="3215461" cy="60387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课程管理模块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670522" y="4013108"/>
            <a:ext cx="3483864" cy="1895185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3670522" y="3710273"/>
            <a:ext cx="3483864" cy="685160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9" name="TextBox 19"/>
          <p:cNvSpPr txBox="1"/>
          <p:nvPr/>
        </p:nvSpPr>
        <p:spPr>
          <a:xfrm>
            <a:off x="3873676" y="3756724"/>
            <a:ext cx="3215461" cy="60387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场地管理模块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499203" y="4013108"/>
            <a:ext cx="3483864" cy="1895185"/>
          </a:xfrm>
          <a:prstGeom prst="rect">
            <a:avLst/>
          </a:prstGeom>
          <a:solidFill>
            <a:schemeClr val="accent2">
              <a:alpha val="79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7499203" y="3710273"/>
            <a:ext cx="3483864" cy="685160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2" name="TextBox 22"/>
          <p:cNvSpPr txBox="1"/>
          <p:nvPr/>
        </p:nvSpPr>
        <p:spPr>
          <a:xfrm>
            <a:off x="7702358" y="3756724"/>
            <a:ext cx="3215461" cy="60387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数据统计分析模块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690869" y="1982745"/>
            <a:ext cx="3100533" cy="134709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整合课程发布、学员报名、课程安排与学员管理于一体，为滑雪课程提供全面、高效的管理解决方案。</a:t>
            </a:r>
            <a:endParaRPr lang="en-US" sz="142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862187" y="4453497"/>
            <a:ext cx="3100533" cy="134709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全面管理滑雪场地信息，包括场地基本信息、预订记录以及使用统计，确保场地资源合理利用。</a:t>
            </a:r>
            <a:endParaRPr lang="en-US" sz="142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5"/>
          <p:cNvSpPr txBox="1"/>
          <p:nvPr/>
        </p:nvSpPr>
        <p:spPr>
          <a:xfrm>
            <a:off x="7690869" y="4456926"/>
            <a:ext cx="3100533" cy="134709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集成了关键业务指标的实时监控与历史数据分析，为管理层提供直观的决策支持。</a:t>
            </a:r>
            <a:endParaRPr lang="en-US" sz="142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雪具租赁管理模块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6810510" y="1925939"/>
            <a:ext cx="3752401" cy="3752401"/>
          </a:xfrm>
          <a:prstGeom prst="ellipse">
            <a:avLst/>
          </a:prstGeom>
          <a:solidFill>
            <a:schemeClr val="accent2">
              <a:alpha val="100000"/>
              <a:lumMod val="60000"/>
              <a:lumOff val="40000"/>
            </a:schemeClr>
          </a:solidFill>
        </p:spPr>
      </p:sp>
      <p:sp>
        <p:nvSpPr>
          <p:cNvPr id="10" name="TextBox 10"/>
          <p:cNvSpPr txBox="1"/>
          <p:nvPr/>
        </p:nvSpPr>
        <p:spPr>
          <a:xfrm>
            <a:off x="433352" y="1937552"/>
            <a:ext cx="5549636" cy="66882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涵盖雪具基本信息、状态管理、分类以及库存数量统计和图片展示，提供全面细致的雪具信息管理服务。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33352" y="1500980"/>
            <a:ext cx="2575077" cy="34602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雪具信息管理</a:t>
            </a:r>
            <a:endParaRPr lang="en-US" sz="15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3352" y="3362368"/>
            <a:ext cx="5549636" cy="66882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支持创建租赁订单、订单支付处理、状态跟踪、查询筛选和租赁历史记录查看，实现便捷高效的订单管理。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3352" y="2925796"/>
            <a:ext cx="2575077" cy="34602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租赁订单管理</a:t>
            </a:r>
            <a:endParaRPr lang="en-US" sz="15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3352" y="4875829"/>
            <a:ext cx="5732473" cy="66882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包括归还登记、超时费用计算、损坏赔偿处理和归还确认，提供完整的雪具租赁归还流程管理和费用结算服务。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3352" y="4439257"/>
            <a:ext cx="2575077" cy="34602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雪具归还结算</a:t>
            </a:r>
            <a:endParaRPr lang="en-US" sz="15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l="16626" r="16626"/>
          <a:stretch>
            <a:fillRect/>
          </a:stretch>
        </p:blipFill>
        <p:spPr>
          <a:xfrm>
            <a:off x="7311423" y="2405014"/>
            <a:ext cx="2750574" cy="2750574"/>
          </a:xfrm>
          <a:prstGeom prst="ellipse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251667" y="1412545"/>
            <a:ext cx="870086" cy="870086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6592870" y="4399065"/>
            <a:ext cx="870086" cy="870086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9893403" y="4399065"/>
            <a:ext cx="870086" cy="870086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0" name="Freeform 20"/>
          <p:cNvSpPr/>
          <p:nvPr/>
        </p:nvSpPr>
        <p:spPr>
          <a:xfrm>
            <a:off x="8483596" y="1611436"/>
            <a:ext cx="406228" cy="40622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</a:path>
              <a:path w="304800" h="304800"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</a:path>
              <a:path w="304800" h="304800"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</a:path>
              <a:path w="304800" h="304800"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</a:path>
              <a:path w="304800" h="304800"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</a:path>
              <a:path w="304800" h="304800"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1" name="Freeform 21"/>
          <p:cNvSpPr/>
          <p:nvPr/>
        </p:nvSpPr>
        <p:spPr>
          <a:xfrm>
            <a:off x="10133735" y="4607907"/>
            <a:ext cx="405950" cy="40595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190500"/>
                </a:moveTo>
                <a:cubicBezTo>
                  <a:pt x="152400" y="169459"/>
                  <a:pt x="169459" y="152400"/>
                  <a:pt x="190500" y="152400"/>
                </a:cubicBezTo>
                <a:cubicBezTo>
                  <a:pt x="211541" y="152400"/>
                  <a:pt x="228600" y="169459"/>
                  <a:pt x="228600" y="190500"/>
                </a:cubicBezTo>
                <a:cubicBezTo>
                  <a:pt x="228600" y="211541"/>
                  <a:pt x="211541" y="228600"/>
                  <a:pt x="190500" y="228600"/>
                </a:cubicBezTo>
                <a:cubicBezTo>
                  <a:pt x="169459" y="228600"/>
                  <a:pt x="152400" y="211541"/>
                  <a:pt x="152400" y="190500"/>
                </a:cubicBezTo>
                <a:close/>
              </a:path>
              <a:path w="304800" h="304800">
                <a:moveTo>
                  <a:pt x="266700" y="76200"/>
                </a:moveTo>
                <a:lnTo>
                  <a:pt x="235372" y="12925"/>
                </a:lnTo>
                <a:cubicBezTo>
                  <a:pt x="232801" y="5410"/>
                  <a:pt x="225695" y="0"/>
                  <a:pt x="217284" y="0"/>
                </a:cubicBezTo>
                <a:lnTo>
                  <a:pt x="164973" y="0"/>
                </a:lnTo>
                <a:cubicBezTo>
                  <a:pt x="156467" y="0"/>
                  <a:pt x="149295" y="5544"/>
                  <a:pt x="146837" y="13192"/>
                </a:cubicBezTo>
                <a:lnTo>
                  <a:pt x="114338" y="76200"/>
                </a:lnTo>
                <a:lnTo>
                  <a:pt x="38100" y="76200"/>
                </a:lnTo>
                <a:cubicBezTo>
                  <a:pt x="17059" y="76200"/>
                  <a:pt x="0" y="93259"/>
                  <a:pt x="0" y="114300"/>
                </a:cubicBezTo>
                <a:lnTo>
                  <a:pt x="0" y="304800"/>
                </a:lnTo>
                <a:lnTo>
                  <a:pt x="304800" y="304800"/>
                </a:lnTo>
                <a:lnTo>
                  <a:pt x="304800" y="114300"/>
                </a:lnTo>
                <a:cubicBezTo>
                  <a:pt x="304800" y="93259"/>
                  <a:pt x="287760" y="76200"/>
                  <a:pt x="266700" y="76200"/>
                </a:cubicBezTo>
                <a:close/>
              </a:path>
              <a:path w="304800" h="304800">
                <a:moveTo>
                  <a:pt x="57150" y="152400"/>
                </a:moveTo>
                <a:cubicBezTo>
                  <a:pt x="46625" y="152400"/>
                  <a:pt x="38100" y="143875"/>
                  <a:pt x="38100" y="133350"/>
                </a:cubicBezTo>
                <a:cubicBezTo>
                  <a:pt x="38100" y="122825"/>
                  <a:pt x="46625" y="114300"/>
                  <a:pt x="57150" y="114300"/>
                </a:cubicBezTo>
                <a:cubicBezTo>
                  <a:pt x="67675" y="114300"/>
                  <a:pt x="76200" y="122825"/>
                  <a:pt x="76200" y="133350"/>
                </a:cubicBezTo>
                <a:cubicBezTo>
                  <a:pt x="76200" y="143875"/>
                  <a:pt x="67675" y="152400"/>
                  <a:pt x="57150" y="152400"/>
                </a:cubicBezTo>
                <a:close/>
              </a:path>
              <a:path w="304800" h="304800">
                <a:moveTo>
                  <a:pt x="190500" y="266700"/>
                </a:moveTo>
                <a:cubicBezTo>
                  <a:pt x="148419" y="266700"/>
                  <a:pt x="114300" y="232581"/>
                  <a:pt x="114300" y="190500"/>
                </a:cubicBezTo>
                <a:cubicBezTo>
                  <a:pt x="114300" y="148419"/>
                  <a:pt x="148419" y="114300"/>
                  <a:pt x="190500" y="114300"/>
                </a:cubicBezTo>
                <a:cubicBezTo>
                  <a:pt x="232581" y="114300"/>
                  <a:pt x="266700" y="148419"/>
                  <a:pt x="266700" y="190500"/>
                </a:cubicBezTo>
                <a:cubicBezTo>
                  <a:pt x="266700" y="232581"/>
                  <a:pt x="232581" y="266700"/>
                  <a:pt x="190500" y="26670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2" name="Freeform 22"/>
          <p:cNvSpPr/>
          <p:nvPr/>
        </p:nvSpPr>
        <p:spPr>
          <a:xfrm>
            <a:off x="6798897" y="4604169"/>
            <a:ext cx="459877" cy="45987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雪具租赁管理模块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3305178" y="1043570"/>
            <a:ext cx="5002524" cy="5002524"/>
          </a:xfrm>
          <a:prstGeom prst="ellipse">
            <a:avLst/>
          </a:prstGeom>
          <a:gradFill>
            <a:gsLst>
              <a:gs pos="0">
                <a:schemeClr val="accent2">
                  <a:alpha val="40000"/>
                  <a:lumMod val="60000"/>
                  <a:lumOff val="40000"/>
                </a:schemeClr>
              </a:gs>
              <a:gs pos="100000">
                <a:schemeClr val="accent2">
                  <a:alpha val="40000"/>
                </a:schemeClr>
              </a:gs>
            </a:gsLst>
            <a:lin ang="0"/>
          </a:gradFill>
        </p:spPr>
      </p:sp>
      <p:sp>
        <p:nvSpPr>
          <p:cNvPr id="10" name="AutoShape 10"/>
          <p:cNvSpPr/>
          <p:nvPr/>
        </p:nvSpPr>
        <p:spPr>
          <a:xfrm>
            <a:off x="3465178" y="1203569"/>
            <a:ext cx="4682525" cy="4682525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079370" y="1817762"/>
            <a:ext cx="3454140" cy="345414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l="13184" r="13184"/>
          <a:stretch>
            <a:fillRect/>
          </a:stretch>
        </p:blipFill>
        <p:spPr>
          <a:xfrm>
            <a:off x="4568201" y="2306593"/>
            <a:ext cx="2476477" cy="2476477"/>
          </a:xfrm>
          <a:prstGeom prst="ellipse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09226" y="1415182"/>
            <a:ext cx="805160" cy="80516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3000653" y="2863543"/>
            <a:ext cx="805160" cy="80516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7278903" y="4670434"/>
            <a:ext cx="805160" cy="80516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Freeform 16"/>
          <p:cNvSpPr/>
          <p:nvPr/>
        </p:nvSpPr>
        <p:spPr>
          <a:xfrm>
            <a:off x="7358065" y="1610472"/>
            <a:ext cx="507483" cy="41458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7299" y="240773"/>
                </a:moveTo>
                <a:lnTo>
                  <a:pt x="257299" y="258156"/>
                </a:lnTo>
                <a:lnTo>
                  <a:pt x="47501" y="258156"/>
                </a:lnTo>
                <a:lnTo>
                  <a:pt x="47501" y="240773"/>
                </a:lnTo>
                <a:cubicBezTo>
                  <a:pt x="47501" y="240773"/>
                  <a:pt x="43015" y="231162"/>
                  <a:pt x="67361" y="208112"/>
                </a:cubicBezTo>
                <a:cubicBezTo>
                  <a:pt x="91688" y="185071"/>
                  <a:pt x="88487" y="125511"/>
                  <a:pt x="88487" y="85173"/>
                </a:cubicBezTo>
                <a:cubicBezTo>
                  <a:pt x="88487" y="44834"/>
                  <a:pt x="145142" y="43977"/>
                  <a:pt x="145142" y="43977"/>
                </a:cubicBezTo>
                <a:lnTo>
                  <a:pt x="147085" y="43977"/>
                </a:lnTo>
                <a:cubicBezTo>
                  <a:pt x="147085" y="43996"/>
                  <a:pt x="147085" y="43701"/>
                  <a:pt x="147085" y="37424"/>
                </a:cubicBezTo>
                <a:cubicBezTo>
                  <a:pt x="147085" y="33395"/>
                  <a:pt x="133560" y="18802"/>
                  <a:pt x="133560" y="18802"/>
                </a:cubicBezTo>
                <a:lnTo>
                  <a:pt x="133360" y="9973"/>
                </a:lnTo>
                <a:lnTo>
                  <a:pt x="171555" y="9973"/>
                </a:lnTo>
                <a:lnTo>
                  <a:pt x="171298" y="19136"/>
                </a:lnTo>
                <a:cubicBezTo>
                  <a:pt x="171298" y="19136"/>
                  <a:pt x="156639" y="33719"/>
                  <a:pt x="156639" y="38014"/>
                </a:cubicBezTo>
                <a:cubicBezTo>
                  <a:pt x="156639" y="42167"/>
                  <a:pt x="156639" y="43558"/>
                  <a:pt x="156639" y="43967"/>
                </a:cubicBezTo>
                <a:lnTo>
                  <a:pt x="159658" y="43967"/>
                </a:lnTo>
                <a:cubicBezTo>
                  <a:pt x="159658" y="43967"/>
                  <a:pt x="216313" y="44825"/>
                  <a:pt x="216313" y="85163"/>
                </a:cubicBezTo>
                <a:cubicBezTo>
                  <a:pt x="216313" y="125501"/>
                  <a:pt x="213112" y="185071"/>
                  <a:pt x="237449" y="208121"/>
                </a:cubicBezTo>
                <a:cubicBezTo>
                  <a:pt x="261785" y="231172"/>
                  <a:pt x="257299" y="240773"/>
                  <a:pt x="257299" y="240773"/>
                </a:cubicBezTo>
                <a:close/>
              </a:path>
              <a:path w="304800" h="304800">
                <a:moveTo>
                  <a:pt x="176327" y="267367"/>
                </a:moveTo>
                <a:cubicBezTo>
                  <a:pt x="176327" y="280559"/>
                  <a:pt x="165640" y="294827"/>
                  <a:pt x="152457" y="294827"/>
                </a:cubicBezTo>
                <a:cubicBezTo>
                  <a:pt x="139275" y="294827"/>
                  <a:pt x="128588" y="280559"/>
                  <a:pt x="128588" y="267367"/>
                </a:cubicBezTo>
                <a:cubicBezTo>
                  <a:pt x="128588" y="267662"/>
                  <a:pt x="176327" y="267062"/>
                  <a:pt x="176327" y="267367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7" name="Freeform 17"/>
          <p:cNvSpPr/>
          <p:nvPr/>
        </p:nvSpPr>
        <p:spPr>
          <a:xfrm>
            <a:off x="3221492" y="3107607"/>
            <a:ext cx="363483" cy="36348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6680" y="259080"/>
                </a:moveTo>
                <a:lnTo>
                  <a:pt x="30480" y="259080"/>
                </a:lnTo>
                <a:cubicBezTo>
                  <a:pt x="13649" y="259080"/>
                  <a:pt x="0" y="245431"/>
                  <a:pt x="0" y="228600"/>
                </a:cubicBezTo>
                <a:lnTo>
                  <a:pt x="0" y="228600"/>
                </a:lnTo>
                <a:lnTo>
                  <a:pt x="0" y="30480"/>
                </a:lnTo>
                <a:cubicBezTo>
                  <a:pt x="0" y="13716"/>
                  <a:pt x="13716" y="0"/>
                  <a:pt x="30480" y="0"/>
                </a:cubicBezTo>
                <a:lnTo>
                  <a:pt x="274320" y="0"/>
                </a:lnTo>
                <a:cubicBezTo>
                  <a:pt x="291151" y="0"/>
                  <a:pt x="304800" y="13649"/>
                  <a:pt x="304800" y="30480"/>
                </a:cubicBezTo>
                <a:lnTo>
                  <a:pt x="304800" y="30480"/>
                </a:lnTo>
                <a:lnTo>
                  <a:pt x="304800" y="228600"/>
                </a:lnTo>
                <a:cubicBezTo>
                  <a:pt x="304800" y="245431"/>
                  <a:pt x="291151" y="259080"/>
                  <a:pt x="274320" y="259080"/>
                </a:cubicBezTo>
                <a:lnTo>
                  <a:pt x="274320" y="259080"/>
                </a:lnTo>
                <a:lnTo>
                  <a:pt x="198120" y="259080"/>
                </a:lnTo>
                <a:lnTo>
                  <a:pt x="259080" y="289560"/>
                </a:lnTo>
                <a:lnTo>
                  <a:pt x="259080" y="304800"/>
                </a:lnTo>
                <a:lnTo>
                  <a:pt x="45720" y="304800"/>
                </a:lnTo>
                <a:lnTo>
                  <a:pt x="45720" y="289560"/>
                </a:lnTo>
                <a:lnTo>
                  <a:pt x="106680" y="259080"/>
                </a:lnTo>
                <a:close/>
              </a:path>
              <a:path w="304800" h="304800">
                <a:moveTo>
                  <a:pt x="30480" y="30480"/>
                </a:moveTo>
                <a:lnTo>
                  <a:pt x="30480" y="198120"/>
                </a:lnTo>
                <a:lnTo>
                  <a:pt x="274320" y="198120"/>
                </a:lnTo>
                <a:lnTo>
                  <a:pt x="274320" y="30480"/>
                </a:lnTo>
                <a:lnTo>
                  <a:pt x="30480" y="3048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7492451" y="4890111"/>
            <a:ext cx="377419" cy="36580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</a:path>
              <a:path w="304800" h="304800"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</a:path>
              <a:path w="304800" h="304800"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</a:path>
              <a:path w="304800" h="304800"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</a:path>
              <a:path w="304800" h="304800"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</a:path>
              <a:path w="304800" h="304800"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9" name="TextBox 19"/>
          <p:cNvSpPr txBox="1"/>
          <p:nvPr/>
        </p:nvSpPr>
        <p:spPr>
          <a:xfrm>
            <a:off x="513502" y="3021670"/>
            <a:ext cx="2295358" cy="42641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18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库存管理</a:t>
            </a:r>
            <a:endParaRPr lang="en-US" sz="18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712196" y="1535764"/>
            <a:ext cx="2121614" cy="15049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用户浏览雪具并选定租赁时长后，系统支持在线创建订单并支付费用，随后自动分配雪具供用户使用。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712196" y="1012602"/>
            <a:ext cx="2295358" cy="42641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18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</a:t>
            </a:r>
            <a:endParaRPr lang="en-US" sz="18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712196" y="3788298"/>
            <a:ext cx="2295358" cy="42641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18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数据表设计</a:t>
            </a:r>
            <a:endParaRPr lang="en-US" sz="18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712196" y="4320536"/>
            <a:ext cx="2121614" cy="15049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t_equipment表存储雪具信息，t_rental_order表记录租赁订单详情，共同支撑雪具租赁管理的业务功能。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4"/>
          <p:cNvSpPr txBox="1"/>
          <p:nvPr/>
        </p:nvSpPr>
        <p:spPr>
          <a:xfrm>
            <a:off x="513502" y="3616399"/>
            <a:ext cx="2121614" cy="15049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实现库存预警提示、采购建议生成、维护记录追踪，帮助管理者高效掌控库存状况，确保雪具供应与运营顺畅。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教练预约管理模块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2110508" y="2835417"/>
            <a:ext cx="1946507" cy="253731"/>
          </a:xfrm>
          <a:custGeom>
            <a:avLst/>
            <a:gdLst/>
            <a:ahLst/>
            <a:cxnLst/>
            <a:rect l="l" t="t" r="r" b="b"/>
            <a:pathLst>
              <a:path w="7631" h="997">
                <a:moveTo>
                  <a:pt x="0" y="374"/>
                </a:moveTo>
                <a:lnTo>
                  <a:pt x="6883" y="374"/>
                </a:lnTo>
                <a:lnTo>
                  <a:pt x="6765" y="0"/>
                </a:lnTo>
                <a:lnTo>
                  <a:pt x="7631" y="498"/>
                </a:lnTo>
                <a:lnTo>
                  <a:pt x="6765" y="997"/>
                </a:lnTo>
                <a:lnTo>
                  <a:pt x="6883" y="622"/>
                </a:lnTo>
                <a:lnTo>
                  <a:pt x="0" y="622"/>
                </a:lnTo>
                <a:lnTo>
                  <a:pt x="0" y="374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>
            <a:off x="2110508" y="4137595"/>
            <a:ext cx="1946507" cy="255583"/>
          </a:xfrm>
          <a:custGeom>
            <a:avLst/>
            <a:gdLst/>
            <a:ahLst/>
            <a:cxnLst/>
            <a:rect l="l" t="t" r="r" b="b"/>
            <a:pathLst>
              <a:path w="7631" h="997">
                <a:moveTo>
                  <a:pt x="6883" y="375"/>
                </a:moveTo>
                <a:lnTo>
                  <a:pt x="6765" y="0"/>
                </a:lnTo>
                <a:lnTo>
                  <a:pt x="7631" y="499"/>
                </a:lnTo>
                <a:lnTo>
                  <a:pt x="6765" y="997"/>
                </a:lnTo>
                <a:lnTo>
                  <a:pt x="6883" y="623"/>
                </a:lnTo>
                <a:lnTo>
                  <a:pt x="0" y="623"/>
                </a:lnTo>
                <a:lnTo>
                  <a:pt x="0" y="375"/>
                </a:lnTo>
                <a:lnTo>
                  <a:pt x="6883" y="37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grpSp>
        <p:nvGrpSpPr>
          <p:cNvPr id="11" name="Group 11"/>
          <p:cNvGrpSpPr/>
          <p:nvPr/>
        </p:nvGrpSpPr>
        <p:grpSpPr>
          <a:xfrm rot="0">
            <a:off x="2110508" y="1491942"/>
            <a:ext cx="1946504" cy="4243785"/>
            <a:chOff x="2110508" y="1491942"/>
            <a:chExt cx="1946504" cy="4243785"/>
          </a:xfrm>
        </p:grpSpPr>
        <p:sp>
          <p:nvSpPr>
            <p:cNvPr id="12" name="Freeform 12"/>
            <p:cNvSpPr/>
            <p:nvPr/>
          </p:nvSpPr>
          <p:spPr>
            <a:xfrm>
              <a:off x="2110508" y="1704922"/>
              <a:ext cx="170389" cy="1357553"/>
            </a:xfrm>
            <a:custGeom>
              <a:avLst/>
              <a:gdLst/>
              <a:ahLst/>
              <a:cxnLst/>
              <a:rect l="l" t="t" r="r" b="b"/>
              <a:pathLst>
                <a:path w="669" h="5308">
                  <a:moveTo>
                    <a:pt x="669" y="182"/>
                  </a:moveTo>
                  <a:cubicBezTo>
                    <a:pt x="415" y="431"/>
                    <a:pt x="256" y="778"/>
                    <a:pt x="256" y="1160"/>
                  </a:cubicBezTo>
                  <a:lnTo>
                    <a:pt x="256" y="5308"/>
                  </a:lnTo>
                  <a:lnTo>
                    <a:pt x="0" y="5308"/>
                  </a:lnTo>
                  <a:lnTo>
                    <a:pt x="0" y="1148"/>
                  </a:lnTo>
                  <a:cubicBezTo>
                    <a:pt x="0" y="699"/>
                    <a:pt x="187" y="292"/>
                    <a:pt x="486" y="0"/>
                  </a:cubicBezTo>
                  <a:lnTo>
                    <a:pt x="669" y="18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234593" y="1491942"/>
              <a:ext cx="1822419" cy="259287"/>
            </a:xfrm>
            <a:custGeom>
              <a:avLst/>
              <a:gdLst/>
              <a:ahLst/>
              <a:cxnLst/>
              <a:rect l="l" t="t" r="r" b="b"/>
              <a:pathLst>
                <a:path w="7145" h="1015">
                  <a:moveTo>
                    <a:pt x="6397" y="375"/>
                  </a:moveTo>
                  <a:lnTo>
                    <a:pt x="6279" y="0"/>
                  </a:lnTo>
                  <a:lnTo>
                    <a:pt x="7145" y="499"/>
                  </a:lnTo>
                  <a:lnTo>
                    <a:pt x="6279" y="997"/>
                  </a:lnTo>
                  <a:lnTo>
                    <a:pt x="6397" y="623"/>
                  </a:lnTo>
                  <a:lnTo>
                    <a:pt x="1140" y="623"/>
                  </a:lnTo>
                  <a:cubicBezTo>
                    <a:pt x="769" y="623"/>
                    <a:pt x="430" y="773"/>
                    <a:pt x="183" y="1015"/>
                  </a:cubicBezTo>
                  <a:lnTo>
                    <a:pt x="0" y="833"/>
                  </a:lnTo>
                  <a:cubicBezTo>
                    <a:pt x="290" y="550"/>
                    <a:pt x="686" y="375"/>
                    <a:pt x="1120" y="375"/>
                  </a:cubicBezTo>
                  <a:lnTo>
                    <a:pt x="6397" y="375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110508" y="4165181"/>
              <a:ext cx="170389" cy="1357553"/>
            </a:xfrm>
            <a:custGeom>
              <a:avLst/>
              <a:gdLst/>
              <a:ahLst/>
              <a:cxnLst/>
              <a:rect l="l" t="t" r="r" b="b"/>
              <a:pathLst>
                <a:path w="669" h="5309">
                  <a:moveTo>
                    <a:pt x="256" y="0"/>
                  </a:moveTo>
                  <a:lnTo>
                    <a:pt x="256" y="4149"/>
                  </a:lnTo>
                  <a:cubicBezTo>
                    <a:pt x="256" y="4531"/>
                    <a:pt x="415" y="4878"/>
                    <a:pt x="669" y="5127"/>
                  </a:cubicBezTo>
                  <a:lnTo>
                    <a:pt x="486" y="5309"/>
                  </a:lnTo>
                  <a:cubicBezTo>
                    <a:pt x="187" y="5017"/>
                    <a:pt x="0" y="4610"/>
                    <a:pt x="0" y="4161"/>
                  </a:cubicBezTo>
                  <a:lnTo>
                    <a:pt x="0" y="0"/>
                  </a:lnTo>
                  <a:lnTo>
                    <a:pt x="256" y="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234593" y="5474589"/>
              <a:ext cx="1822419" cy="261138"/>
            </a:xfrm>
            <a:custGeom>
              <a:avLst/>
              <a:gdLst/>
              <a:ahLst/>
              <a:cxnLst/>
              <a:rect l="l" t="t" r="r" b="b"/>
              <a:pathLst>
                <a:path w="7145" h="1015">
                  <a:moveTo>
                    <a:pt x="6397" y="392"/>
                  </a:moveTo>
                  <a:lnTo>
                    <a:pt x="6279" y="18"/>
                  </a:lnTo>
                  <a:lnTo>
                    <a:pt x="7145" y="516"/>
                  </a:lnTo>
                  <a:lnTo>
                    <a:pt x="6279" y="1015"/>
                  </a:lnTo>
                  <a:lnTo>
                    <a:pt x="6397" y="640"/>
                  </a:lnTo>
                  <a:lnTo>
                    <a:pt x="1120" y="640"/>
                  </a:lnTo>
                  <a:cubicBezTo>
                    <a:pt x="686" y="640"/>
                    <a:pt x="290" y="465"/>
                    <a:pt x="0" y="182"/>
                  </a:cubicBezTo>
                  <a:lnTo>
                    <a:pt x="183" y="0"/>
                  </a:lnTo>
                  <a:cubicBezTo>
                    <a:pt x="430" y="242"/>
                    <a:pt x="769" y="392"/>
                    <a:pt x="1140" y="392"/>
                  </a:cubicBezTo>
                  <a:lnTo>
                    <a:pt x="6397" y="39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16" name="AutoShape 16"/>
          <p:cNvSpPr/>
          <p:nvPr/>
        </p:nvSpPr>
        <p:spPr>
          <a:xfrm>
            <a:off x="1115656" y="2618983"/>
            <a:ext cx="1989704" cy="1989704"/>
          </a:xfrm>
          <a:prstGeom prst="ellipse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grpSp>
        <p:nvGrpSpPr>
          <p:cNvPr id="17" name="Group 17"/>
          <p:cNvGrpSpPr/>
          <p:nvPr/>
        </p:nvGrpSpPr>
        <p:grpSpPr>
          <a:xfrm rot="0">
            <a:off x="1712267" y="3146507"/>
            <a:ext cx="887206" cy="880220"/>
            <a:chOff x="1712267" y="3146507"/>
            <a:chExt cx="887206" cy="880220"/>
          </a:xfrm>
        </p:grpSpPr>
        <p:sp>
          <p:nvSpPr>
            <p:cNvPr id="18" name="Freeform 18"/>
            <p:cNvSpPr/>
            <p:nvPr/>
          </p:nvSpPr>
          <p:spPr>
            <a:xfrm>
              <a:off x="1884102" y="3395458"/>
              <a:ext cx="459435" cy="455896"/>
            </a:xfrm>
            <a:custGeom>
              <a:avLst/>
              <a:gdLst/>
              <a:ahLst/>
              <a:cxnLst/>
              <a:rect l="l" t="t" r="r" b="b"/>
              <a:pathLst>
                <a:path w="55" h="55">
                  <a:moveTo>
                    <a:pt x="47" y="27"/>
                  </a:moveTo>
                  <a:cubicBezTo>
                    <a:pt x="47" y="38"/>
                    <a:pt x="38" y="46"/>
                    <a:pt x="28" y="46"/>
                  </a:cubicBezTo>
                  <a:cubicBezTo>
                    <a:pt x="18" y="46"/>
                    <a:pt x="9" y="38"/>
                    <a:pt x="9" y="27"/>
                  </a:cubicBezTo>
                  <a:cubicBezTo>
                    <a:pt x="9" y="17"/>
                    <a:pt x="18" y="9"/>
                    <a:pt x="28" y="9"/>
                  </a:cubicBezTo>
                  <a:cubicBezTo>
                    <a:pt x="31" y="9"/>
                    <a:pt x="35" y="10"/>
                    <a:pt x="38" y="11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39" y="2"/>
                    <a:pt x="34" y="0"/>
                    <a:pt x="28" y="0"/>
                  </a:cubicBezTo>
                  <a:cubicBezTo>
                    <a:pt x="13" y="0"/>
                    <a:pt x="0" y="12"/>
                    <a:pt x="0" y="27"/>
                  </a:cubicBezTo>
                  <a:cubicBezTo>
                    <a:pt x="0" y="43"/>
                    <a:pt x="13" y="55"/>
                    <a:pt x="28" y="55"/>
                  </a:cubicBezTo>
                  <a:cubicBezTo>
                    <a:pt x="43" y="55"/>
                    <a:pt x="55" y="43"/>
                    <a:pt x="55" y="27"/>
                  </a:cubicBezTo>
                  <a:cubicBezTo>
                    <a:pt x="55" y="21"/>
                    <a:pt x="53" y="16"/>
                    <a:pt x="50" y="11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6" y="21"/>
                    <a:pt x="47" y="24"/>
                    <a:pt x="47" y="27"/>
                  </a:cubicBez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045412" y="3553320"/>
              <a:ext cx="147248" cy="140262"/>
            </a:xfrm>
            <a:custGeom>
              <a:avLst/>
              <a:gdLst/>
              <a:ahLst/>
              <a:cxnLst/>
              <a:rect l="l" t="t" r="r" b="b"/>
              <a:pathLst>
                <a:path w="18" h="17">
                  <a:moveTo>
                    <a:pt x="12" y="0"/>
                  </a:moveTo>
                  <a:cubicBezTo>
                    <a:pt x="11" y="0"/>
                    <a:pt x="10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7"/>
                    <a:pt x="17" y="6"/>
                    <a:pt x="17" y="5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12" y="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712267" y="3220176"/>
              <a:ext cx="813627" cy="806551"/>
            </a:xfrm>
            <a:custGeom>
              <a:avLst/>
              <a:gdLst/>
              <a:ahLst/>
              <a:cxnLst/>
              <a:rect l="l" t="t" r="r" b="b"/>
              <a:pathLst>
                <a:path w="98" h="97">
                  <a:moveTo>
                    <a:pt x="82" y="22"/>
                  </a:moveTo>
                  <a:cubicBezTo>
                    <a:pt x="80" y="23"/>
                    <a:pt x="80" y="23"/>
                    <a:pt x="80" y="23"/>
                  </a:cubicBezTo>
                  <a:cubicBezTo>
                    <a:pt x="86" y="30"/>
                    <a:pt x="89" y="39"/>
                    <a:pt x="89" y="48"/>
                  </a:cubicBezTo>
                  <a:cubicBezTo>
                    <a:pt x="89" y="71"/>
                    <a:pt x="71" y="88"/>
                    <a:pt x="49" y="88"/>
                  </a:cubicBezTo>
                  <a:cubicBezTo>
                    <a:pt x="27" y="88"/>
                    <a:pt x="9" y="71"/>
                    <a:pt x="9" y="48"/>
                  </a:cubicBezTo>
                  <a:cubicBezTo>
                    <a:pt x="9" y="26"/>
                    <a:pt x="27" y="8"/>
                    <a:pt x="49" y="8"/>
                  </a:cubicBezTo>
                  <a:cubicBezTo>
                    <a:pt x="58" y="8"/>
                    <a:pt x="67" y="12"/>
                    <a:pt x="74" y="17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68" y="3"/>
                    <a:pt x="59" y="0"/>
                    <a:pt x="49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6" y="97"/>
                    <a:pt x="98" y="75"/>
                    <a:pt x="98" y="48"/>
                  </a:cubicBezTo>
                  <a:cubicBezTo>
                    <a:pt x="98" y="38"/>
                    <a:pt x="95" y="29"/>
                    <a:pt x="89" y="21"/>
                  </a:cubicBezTo>
                  <a:lnTo>
                    <a:pt x="82" y="2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119081" y="3146507"/>
              <a:ext cx="480392" cy="473406"/>
            </a:xfrm>
            <a:custGeom>
              <a:avLst/>
              <a:gdLst/>
              <a:ahLst/>
              <a:cxnLst/>
              <a:rect l="l" t="t" r="r" b="b"/>
              <a:pathLst>
                <a:path w="137" h="135">
                  <a:moveTo>
                    <a:pt x="104" y="30"/>
                  </a:moveTo>
                  <a:lnTo>
                    <a:pt x="106" y="0"/>
                  </a:lnTo>
                  <a:lnTo>
                    <a:pt x="87" y="16"/>
                  </a:lnTo>
                  <a:lnTo>
                    <a:pt x="71" y="35"/>
                  </a:lnTo>
                  <a:lnTo>
                    <a:pt x="69" y="59"/>
                  </a:lnTo>
                  <a:lnTo>
                    <a:pt x="40" y="90"/>
                  </a:lnTo>
                  <a:lnTo>
                    <a:pt x="14" y="116"/>
                  </a:lnTo>
                  <a:lnTo>
                    <a:pt x="0" y="135"/>
                  </a:lnTo>
                  <a:lnTo>
                    <a:pt x="19" y="123"/>
                  </a:lnTo>
                  <a:lnTo>
                    <a:pt x="45" y="97"/>
                  </a:lnTo>
                  <a:lnTo>
                    <a:pt x="76" y="66"/>
                  </a:lnTo>
                  <a:lnTo>
                    <a:pt x="102" y="66"/>
                  </a:lnTo>
                  <a:lnTo>
                    <a:pt x="118" y="47"/>
                  </a:lnTo>
                  <a:lnTo>
                    <a:pt x="137" y="30"/>
                  </a:lnTo>
                  <a:lnTo>
                    <a:pt x="104" y="3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22" name="AutoShape 22"/>
          <p:cNvSpPr/>
          <p:nvPr/>
        </p:nvSpPr>
        <p:spPr>
          <a:xfrm>
            <a:off x="4224818" y="1474716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23" name="AutoShape 23"/>
          <p:cNvSpPr/>
          <p:nvPr/>
        </p:nvSpPr>
        <p:spPr>
          <a:xfrm>
            <a:off x="4224818" y="1057734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24" name="TextBox 24"/>
          <p:cNvSpPr txBox="1"/>
          <p:nvPr/>
        </p:nvSpPr>
        <p:spPr>
          <a:xfrm>
            <a:off x="4376033" y="1056135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教练信息管理</a:t>
            </a:r>
            <a:endParaRPr lang="en-US" sz="1950" b="1">
              <a:solidFill>
                <a:schemeClr val="accent3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376033" y="1474716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详细记录教练的基本信息、资质证书、教学评价以及工作状态，为用户提供全面清晰的教练资料参考。</a:t>
            </a:r>
            <a:endParaRPr lang="en-US" sz="1425">
              <a:solidFill>
                <a:srgbClr val="06000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224818" y="2777820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27" name="AutoShape 27"/>
          <p:cNvSpPr/>
          <p:nvPr/>
        </p:nvSpPr>
        <p:spPr>
          <a:xfrm>
            <a:off x="4224818" y="2360837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28" name="TextBox 28"/>
          <p:cNvSpPr txBox="1"/>
          <p:nvPr/>
        </p:nvSpPr>
        <p:spPr>
          <a:xfrm>
            <a:off x="4376033" y="2359239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预约管理</a:t>
            </a:r>
            <a:endParaRPr lang="en-US" sz="1950" b="1">
              <a:solidFill>
                <a:schemeClr val="accent3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376033" y="2777820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涵盖预约创建、支付流程、状态变更追踪、时间冲突检测与提醒通知，实现教练预约过程的全面管理和优化。</a:t>
            </a:r>
            <a:endParaRPr lang="en-US" sz="1425">
              <a:solidFill>
                <a:srgbClr val="06000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4224818" y="4080924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31" name="AutoShape 31"/>
          <p:cNvSpPr/>
          <p:nvPr/>
        </p:nvSpPr>
        <p:spPr>
          <a:xfrm>
            <a:off x="4224818" y="3663941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32" name="TextBox 32"/>
          <p:cNvSpPr txBox="1"/>
          <p:nvPr/>
        </p:nvSpPr>
        <p:spPr>
          <a:xfrm>
            <a:off x="4376033" y="3662343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排班管理</a:t>
            </a:r>
            <a:endParaRPr lang="en-US" sz="1950" b="1">
              <a:solidFill>
                <a:schemeClr val="accent3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376033" y="4080924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支持教练工作时间设定与可预约时段展示，可选配自动排班功能，助力教练资源的高效调度与合理配置。</a:t>
            </a:r>
            <a:endParaRPr lang="en-US" sz="1425">
              <a:solidFill>
                <a:srgbClr val="06000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224818" y="5384028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4224818" y="4967045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36" name="TextBox 36"/>
          <p:cNvSpPr txBox="1"/>
          <p:nvPr/>
        </p:nvSpPr>
        <p:spPr>
          <a:xfrm>
            <a:off x="4376033" y="4965447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评价系统</a:t>
            </a:r>
            <a:endParaRPr lang="en-US" sz="1950" b="1">
              <a:solidFill>
                <a:schemeClr val="accent3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37"/>
          <p:cNvSpPr txBox="1"/>
          <p:nvPr/>
        </p:nvSpPr>
        <p:spPr>
          <a:xfrm>
            <a:off x="4376033" y="5384028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包括用户对教练的星级评分、文字评价撰写以及评价内容的展示功能，构建完善的教练服务质量评价体系。</a:t>
            </a:r>
            <a:endParaRPr lang="en-US" sz="1425">
              <a:solidFill>
                <a:srgbClr val="06000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装备销售管理模块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6003854" y="1328561"/>
            <a:ext cx="4993538" cy="2090318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6003854" y="3725232"/>
            <a:ext cx="4993538" cy="2090318"/>
          </a:xfrm>
          <a:prstGeom prst="roundRect">
            <a:avLst/>
          </a:prstGeom>
          <a:solidFill>
            <a:schemeClr val="accent2">
              <a:alpha val="100000"/>
              <a:lumMod val="20000"/>
              <a:lumOff val="8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681853" y="3725232"/>
            <a:ext cx="4993538" cy="2090318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681853" y="1313442"/>
            <a:ext cx="4993538" cy="2090318"/>
          </a:xfrm>
          <a:prstGeom prst="roundRect">
            <a:avLst/>
          </a:prstGeom>
          <a:solidFill>
            <a:schemeClr val="accent2">
              <a:alpha val="100000"/>
              <a:lumMod val="20000"/>
              <a:lumOff val="8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6384614" y="3930371"/>
            <a:ext cx="4089246" cy="69677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chemeClr val="accent2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销售统计</a:t>
            </a:r>
            <a:endParaRPr lang="en-US" sz="1500" b="1">
              <a:solidFill>
                <a:schemeClr val="accent2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84614" y="4481785"/>
            <a:ext cx="4264216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chemeClr val="accent2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涵盖销售额的统计（按日、月、年），热门商品的排行展示，以及销售趋势的深入分析，为商家提供全面的销售数据洞察。</a:t>
            </a:r>
            <a:endParaRPr lang="en-US" sz="1200">
              <a:solidFill>
                <a:schemeClr val="accent2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6514" y="1533700"/>
            <a:ext cx="4089246" cy="69677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chemeClr val="accent2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商品管理</a:t>
            </a:r>
            <a:endParaRPr lang="en-US" sz="1500" b="1">
              <a:solidFill>
                <a:schemeClr val="accent2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46514" y="2085114"/>
            <a:ext cx="4264216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chemeClr val="accent2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商品基本信息（名称、分类、品牌、价格、规格）、商品库存管理、商品状态（在售、下架、缺货）、商品图片和详情、热门商品和新品标记。</a:t>
            </a:r>
            <a:endParaRPr lang="en-US" sz="1200">
              <a:solidFill>
                <a:schemeClr val="accent2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68515" y="1533700"/>
            <a:ext cx="4089246" cy="69677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销售订单管理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368515" y="2085114"/>
            <a:ext cx="4264216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支持销售订单的创建、支付处理、状态跟踪（待支付、待发货、已发货、已完成、已取消）以及订单查询和统计，确保销售流程顺畅无阻。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46514" y="3930371"/>
            <a:ext cx="4089246" cy="69677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库存管理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0"/>
          <p:cNvSpPr txBox="1"/>
          <p:nvPr/>
        </p:nvSpPr>
        <p:spPr>
          <a:xfrm>
            <a:off x="1046514" y="4481785"/>
            <a:ext cx="4264216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实现详尽的库存查询功能，包含库存预警机制以提前预警库存不足，配合进货管理与库存盘点，确保库存精准无误，满足销售需求。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课程管理模块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742370" y="1671584"/>
            <a:ext cx="607819" cy="60781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870713" y="1799928"/>
            <a:ext cx="351132" cy="35113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1" name="Connector 11"/>
          <p:cNvCxnSpPr/>
          <p:nvPr/>
        </p:nvCxnSpPr>
        <p:spPr>
          <a:xfrm>
            <a:off x="1046279" y="2279404"/>
            <a:ext cx="0" cy="831102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AutoShape 12"/>
          <p:cNvSpPr/>
          <p:nvPr/>
        </p:nvSpPr>
        <p:spPr>
          <a:xfrm>
            <a:off x="742370" y="3622548"/>
            <a:ext cx="607819" cy="60781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70713" y="3750892"/>
            <a:ext cx="351132" cy="35113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4" name="Connector 14"/>
          <p:cNvCxnSpPr/>
          <p:nvPr/>
        </p:nvCxnSpPr>
        <p:spPr>
          <a:xfrm>
            <a:off x="1046279" y="4230367"/>
            <a:ext cx="0" cy="831102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AutoShape 15"/>
          <p:cNvSpPr/>
          <p:nvPr/>
        </p:nvSpPr>
        <p:spPr>
          <a:xfrm>
            <a:off x="6058213" y="1671584"/>
            <a:ext cx="607819" cy="60781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6186557" y="1799928"/>
            <a:ext cx="351132" cy="35113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7" name="Connector 17"/>
          <p:cNvCxnSpPr/>
          <p:nvPr/>
        </p:nvCxnSpPr>
        <p:spPr>
          <a:xfrm>
            <a:off x="6362122" y="2279404"/>
            <a:ext cx="0" cy="831102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AutoShape 18"/>
          <p:cNvSpPr/>
          <p:nvPr/>
        </p:nvSpPr>
        <p:spPr>
          <a:xfrm>
            <a:off x="6058213" y="3622548"/>
            <a:ext cx="607819" cy="60781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6186557" y="3750892"/>
            <a:ext cx="351132" cy="35113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20" name="Connector 20"/>
          <p:cNvCxnSpPr/>
          <p:nvPr/>
        </p:nvCxnSpPr>
        <p:spPr>
          <a:xfrm>
            <a:off x="6362122" y="4230367"/>
            <a:ext cx="0" cy="831102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1"/>
          <p:cNvSpPr txBox="1"/>
          <p:nvPr/>
        </p:nvSpPr>
        <p:spPr>
          <a:xfrm>
            <a:off x="1500099" y="1567068"/>
            <a:ext cx="4309467" cy="66229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课程信息管理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00099" y="2097646"/>
            <a:ext cx="3719751" cy="14606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涵盖课程基本信息（名称、类型、难度、时长、价格）、详尽的课程介绍与大纲要点，灵活分配课程教练，设定课程容量与状态（报名中、进行中、已结束）。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00099" y="3518032"/>
            <a:ext cx="4554426" cy="66229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学员管理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00099" y="4048610"/>
            <a:ext cx="3719751" cy="14606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提供课程学员列表的查看服务，包含学员的签到情况记录、学习进度跟踪以及学员评价的收集与整理，全方位掌握学员动态，优化教学服务。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894162" y="3518032"/>
            <a:ext cx="4527209" cy="66229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课程评价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894162" y="4048610"/>
            <a:ext cx="3719751" cy="14606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包括学员对课程的评分反馈以及详尽的评价内容展示，构建全面完善的课程评价体系，为课程的持续优化提供有力支持。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967612" y="1567068"/>
            <a:ext cx="4454628" cy="66229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课程报名管理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8"/>
          <p:cNvSpPr txBox="1"/>
          <p:nvPr/>
        </p:nvSpPr>
        <p:spPr>
          <a:xfrm>
            <a:off x="6967612" y="2097646"/>
            <a:ext cx="3719751" cy="14606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包括学员报名信息的录入、报名费用的支付处理、实时统计报名人数并严格控制报名截止时间，确保课程报名的有序进行与高效管理。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场地管理模块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547383" y="1274102"/>
            <a:ext cx="3357637" cy="4481057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4127622" y="1274102"/>
            <a:ext cx="3357637" cy="4481057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729857" y="1274102"/>
            <a:ext cx="3357637" cy="4481057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</p:sp>
      <p:sp>
        <p:nvSpPr>
          <p:cNvPr id="12" name="TextBox 12"/>
          <p:cNvSpPr txBox="1"/>
          <p:nvPr/>
        </p:nvSpPr>
        <p:spPr>
          <a:xfrm>
            <a:off x="9900271" y="-879040"/>
            <a:ext cx="1255062" cy="63852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3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要点三</a:t>
            </a:r>
            <a:endParaRPr lang="en-US" sz="135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729857" y="1274102"/>
            <a:ext cx="1480737" cy="481911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914250" y="1274102"/>
            <a:ext cx="481911" cy="481911"/>
          </a:xfrm>
          <a:prstGeom prst="parallelogram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4140136" y="1274102"/>
            <a:ext cx="1480737" cy="4819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5324529" y="1274102"/>
            <a:ext cx="481911" cy="481911"/>
          </a:xfrm>
          <a:prstGeom prst="parallelogram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547383" y="1274102"/>
            <a:ext cx="1480737" cy="481911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1731775" y="1274102"/>
            <a:ext cx="481911" cy="481911"/>
          </a:xfrm>
          <a:prstGeom prst="parallelogram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9" name="TextBox 19"/>
          <p:cNvSpPr txBox="1"/>
          <p:nvPr/>
        </p:nvSpPr>
        <p:spPr>
          <a:xfrm>
            <a:off x="836207" y="1939963"/>
            <a:ext cx="2848785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场地信息管理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6207" y="2882999"/>
            <a:ext cx="2848785" cy="2377011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涵盖场地基本信息（名称、类型、难度等级、容量），开放状态（开放、关闭、维护），以及场地图片和详细介绍，全方位展示场地特征与状态。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6207" y="1202054"/>
            <a:ext cx="1051264" cy="63870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7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要点一</a:t>
            </a:r>
            <a:endParaRPr lang="en-US" sz="17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453907" y="1202054"/>
            <a:ext cx="1051264" cy="63870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7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要点二</a:t>
            </a:r>
            <a:endParaRPr lang="en-US" sz="17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380002" y="1939963"/>
            <a:ext cx="2848785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场地预订管理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380002" y="2882999"/>
            <a:ext cx="2848785" cy="2377011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包括查看场地可用时间、创建预订记录、预订支付处理及预订记录查询功能，实现场地预订流程的便捷化与高效化管理，确保预订过程顺畅无阻。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006834" y="1939963"/>
            <a:ext cx="2848785" cy="10796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场地使用统计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006834" y="2882999"/>
            <a:ext cx="2848785" cy="2377011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深入统计场地使用率，智能生成热门场地排行榜，并精准计算场地收入，为场地运营者提供关键业绩指标与决策支持。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7"/>
          <p:cNvSpPr txBox="1"/>
          <p:nvPr/>
        </p:nvSpPr>
        <p:spPr>
          <a:xfrm>
            <a:off x="8045876" y="1204425"/>
            <a:ext cx="1051264" cy="63870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7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要点三</a:t>
            </a:r>
            <a:endParaRPr lang="en-US" sz="17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用户管理模块</a:t>
              </a:r>
              <a:endParaRPr lang="en-US" sz="1100"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151" r="151"/>
          <a:stretch>
            <a:fillRect/>
          </a:stretch>
        </p:blipFill>
        <p:spPr>
          <a:xfrm>
            <a:off x="3723981" y="1190855"/>
            <a:ext cx="7475792" cy="4998982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44337" y="3587834"/>
            <a:ext cx="3785474" cy="2355264"/>
          </a:xfrm>
          <a:prstGeom prst="rect">
            <a:avLst/>
          </a:prstGeom>
          <a:solidFill>
            <a:schemeClr val="accent1">
              <a:alpha val="76862"/>
              <a:lumMod val="75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536852" y="1737750"/>
            <a:ext cx="2796943" cy="15283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270"/>
              </a:spcBef>
              <a:defRPr/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用户管理模块涵盖注册、登录、JWT认证、多角色权限控制、会员管理，确保系统用户信息安全与访问权限得到妥善管理。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3142" y="4110952"/>
            <a:ext cx="2907080" cy="15283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270"/>
              </a:spcBef>
              <a:defRPr/>
            </a:pPr>
            <a:r>
              <a:rPr lang="en-US" sz="127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用户注册登录坚实系统基石，权限控制确保数据安全，会员体系增添服务维度，共同构建全方位用户管理体系。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3142" y="3787869"/>
            <a:ext cx="2796943" cy="32308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>
              <a:defRPr/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用户管理核心功能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6852" y="1338557"/>
            <a:ext cx="2796943" cy="32308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>
              <a:defRPr/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用户管理模块功能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数据统计分析模块</a:t>
              </a:r>
              <a:endParaRPr lang="en-US" sz="11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04897" y="1355502"/>
            <a:ext cx="7648170" cy="72580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数据统计分析模块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190783" y="5672248"/>
            <a:ext cx="668149" cy="117156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140385" y="5672248"/>
            <a:ext cx="117156" cy="11715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1790706" y="5672248"/>
            <a:ext cx="117156" cy="11715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3" name="Connector 13"/>
          <p:cNvCxnSpPr/>
          <p:nvPr/>
        </p:nvCxnSpPr>
        <p:spPr>
          <a:xfrm>
            <a:off x="1858932" y="5742952"/>
            <a:ext cx="9767077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Box 14"/>
          <p:cNvSpPr txBox="1"/>
          <p:nvPr/>
        </p:nvSpPr>
        <p:spPr>
          <a:xfrm>
            <a:off x="3404897" y="1822410"/>
            <a:ext cx="7407534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收集和分析系统运营数据，为管理决策提供数据支持，通过可视化图表直观展示，助力管理者精准决策，优化运营策略。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40385" y="3782594"/>
            <a:ext cx="7648170" cy="72580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主要功能点（计划实现）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0385" y="4249502"/>
            <a:ext cx="7435553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实现Dashboard数据看板，经营数据统计，业务分析，数据可视化，涵盖关键指标、收入、订单、客流等，助力运营优化。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383524" y="3148967"/>
            <a:ext cx="668149" cy="117156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3333126" y="3148967"/>
            <a:ext cx="117156" cy="11715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3983447" y="3148967"/>
            <a:ext cx="117156" cy="11715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20" name="Connector 20"/>
          <p:cNvCxnSpPr/>
          <p:nvPr/>
        </p:nvCxnSpPr>
        <p:spPr>
          <a:xfrm>
            <a:off x="4051673" y="3219671"/>
            <a:ext cx="9767077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系统管理模块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825413" y="1191047"/>
            <a:ext cx="9962055" cy="2322576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TextBox 10"/>
          <p:cNvSpPr txBox="1"/>
          <p:nvPr/>
        </p:nvSpPr>
        <p:spPr>
          <a:xfrm>
            <a:off x="1238320" y="2072436"/>
            <a:ext cx="9127717" cy="127741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系统管理涵盖参数设置、字典管理、日志查看、数据备份与还原，以及安全监控，确保系统配置正确、运行稳定、数据安全。</a:t>
            </a:r>
            <a:endParaRPr lang="en-US" sz="142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38320" y="1314990"/>
            <a:ext cx="8969708" cy="81272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9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系统管理模块功能</a:t>
            </a:r>
            <a:endParaRPr lang="en-US" sz="195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25413" y="3764762"/>
            <a:ext cx="9962055" cy="2322576"/>
          </a:xfrm>
          <a:prstGeom prst="round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1226708" y="4638883"/>
            <a:ext cx="9126998" cy="12610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chemeClr val="accent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设计系统管理数据表，包括系统配置表（可选）和系统日志表，用于存储系统配置参数和操作日志，确保系统运行的稳定性和可追溯性。</a:t>
            </a:r>
            <a:endParaRPr lang="en-US" sz="1425">
              <a:solidFill>
                <a:schemeClr val="accent1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26708" y="3904662"/>
            <a:ext cx="9217723" cy="68951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数据表设计（计划）</a:t>
            </a:r>
            <a:endParaRPr lang="en-US" sz="1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>
            <a:off x="1403660" y="4600054"/>
            <a:ext cx="8782334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nector 16"/>
          <p:cNvCxnSpPr/>
          <p:nvPr/>
        </p:nvCxnSpPr>
        <p:spPr>
          <a:xfrm>
            <a:off x="1411012" y="2072436"/>
            <a:ext cx="8782334" cy="0"/>
          </a:xfrm>
          <a:prstGeom prst="line">
            <a:avLst/>
          </a:prstGeom>
          <a:ln w="9525">
            <a:solidFill>
              <a:schemeClr val="accent1">
                <a:lumMod val="20000"/>
                <a:lumOff val="80000"/>
              </a:schemeClr>
            </a:solidFill>
            <a:prstDash val="solid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81" y="144494"/>
            <a:ext cx="945547" cy="852488"/>
          </a:xfrm>
          <a:prstGeom prst="rect">
            <a:avLst/>
          </a:prstGeom>
          <a:noFill/>
        </p:spPr>
      </p:pic>
      <p:sp>
        <p:nvSpPr>
          <p:cNvPr id="7" name="AutoShape 7"/>
          <p:cNvSpPr/>
          <p:nvPr/>
        </p:nvSpPr>
        <p:spPr>
          <a:xfrm>
            <a:off x="1313305" y="1224400"/>
            <a:ext cx="8986270" cy="4276903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1033" name="TextBox 8"/>
          <p:cNvSpPr txBox="1"/>
          <p:nvPr/>
        </p:nvSpPr>
        <p:spPr>
          <a:xfrm>
            <a:off x="1618227" y="2593498"/>
            <a:ext cx="8376427" cy="26419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5475" b="1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关键技术分析</a:t>
            </a:r>
            <a:endParaRPr lang="en-US" sz="5475" b="1">
              <a:solidFill>
                <a:schemeClr val="l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JWT Token身份认证技术说明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3319859" y="2929739"/>
            <a:ext cx="1861855" cy="187605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5391791" y="3263342"/>
            <a:ext cx="2570980" cy="259059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5037291" y="1441274"/>
            <a:ext cx="1639990" cy="163999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>
            <a:off x="267101" y="2582695"/>
            <a:ext cx="2895589" cy="119757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Web Token，一种轻量级的认证方案，无状态、跨域友好、易于扩展，适合前后端分离架构。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42790" y="1546773"/>
            <a:ext cx="1428992" cy="1428992"/>
          </a:xfrm>
          <a:prstGeom prst="ellipse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84658" y="2120536"/>
            <a:ext cx="2575077" cy="37959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77000"/>
              </a:lnSpc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JWT身份认证技术</a:t>
            </a:r>
            <a:endParaRPr lang="en-US" sz="1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953971" y="1877846"/>
            <a:ext cx="2973587" cy="122624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用户登录验证后，生成JWT Token并返回前端存储；后续请求携带Token，后端验证有效性通过则放行。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53971" y="1441274"/>
            <a:ext cx="2575077" cy="37959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工作原理</a:t>
            </a:r>
            <a:endParaRPr lang="en-US" sz="1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 l="16625" r="16625"/>
          <a:stretch>
            <a:fillRect/>
          </a:stretch>
        </p:blipFill>
        <p:spPr>
          <a:xfrm>
            <a:off x="5543697" y="3425055"/>
            <a:ext cx="2267168" cy="2267168"/>
          </a:xfrm>
          <a:prstGeom prst="ellipse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464283" y="3081265"/>
            <a:ext cx="1573008" cy="1573008"/>
          </a:xfrm>
          <a:prstGeom prst="ellipse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211990" y="4550315"/>
            <a:ext cx="3066526" cy="119757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Header（头部）+ Payload（负载）+ Signature（签名），设置过期时间，使用密钥签名，防止篡改，Token刷新机制。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0"/>
          <p:cNvSpPr txBox="1"/>
          <p:nvPr/>
        </p:nvSpPr>
        <p:spPr>
          <a:xfrm>
            <a:off x="8211990" y="4113743"/>
            <a:ext cx="2575077" cy="37959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Token结构</a:t>
            </a:r>
            <a:endParaRPr lang="en-US" sz="1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密码加密技术说明与应用场景</a:t>
              </a:r>
              <a:endParaRPr lang="en-US" sz="1100"/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698613" y="2968756"/>
            <a:ext cx="5508580" cy="1105400"/>
            <a:chOff x="5698613" y="2968756"/>
            <a:chExt cx="5508580" cy="1105400"/>
          </a:xfrm>
        </p:grpSpPr>
        <p:sp>
          <p:nvSpPr>
            <p:cNvPr id="10" name="TextBox 10"/>
            <p:cNvSpPr txBox="1"/>
            <p:nvPr/>
          </p:nvSpPr>
          <p:spPr>
            <a:xfrm>
              <a:off x="5698613" y="2968756"/>
              <a:ext cx="4306342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</a:pPr>
              <a:r>
                <a:rPr lang="en-US" sz="1800" b="1">
                  <a:solidFill>
                    <a:schemeClr val="accent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应用场景</a:t>
              </a:r>
              <a:endPara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98613" y="3405327"/>
              <a:ext cx="5508580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chemeClr val="dk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用户注册时加密密码，登录时验证密码，密码不可逆，数据库中只存储密文。</a:t>
              </a:r>
              <a:endPara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5698613" y="4542909"/>
            <a:ext cx="5508580" cy="1105401"/>
            <a:chOff x="5698613" y="4542909"/>
            <a:chExt cx="5508580" cy="1105401"/>
          </a:xfrm>
        </p:grpSpPr>
        <p:sp>
          <p:nvSpPr>
            <p:cNvPr id="13" name="TextBox 13"/>
            <p:cNvSpPr txBox="1"/>
            <p:nvPr/>
          </p:nvSpPr>
          <p:spPr>
            <a:xfrm>
              <a:off x="5698613" y="4542909"/>
              <a:ext cx="4306342" cy="37959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77000"/>
                </a:lnSpc>
              </a:pPr>
              <a:r>
                <a:rPr lang="en-US" sz="1800" b="1">
                  <a:solidFill>
                    <a:schemeClr val="accent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代码示例</a:t>
              </a:r>
              <a:endPara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98613" y="4979481"/>
              <a:ext cx="5508580" cy="668829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25">
                  <a:solidFill>
                    <a:schemeClr val="dk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注册时加密密码，使用BCrypt.hashpw和BCrypt.gensalt；登录时验证，使用BCrypt.checkpw。</a:t>
              </a:r>
              <a:endPara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698613" y="1398425"/>
            <a:ext cx="4306342" cy="37959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密码加密技术说明</a:t>
            </a:r>
            <a:endParaRPr lang="en-US" sz="1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16"/>
          <p:cNvSpPr txBox="1"/>
          <p:nvPr/>
        </p:nvSpPr>
        <p:spPr>
          <a:xfrm>
            <a:off x="5698613" y="1834997"/>
            <a:ext cx="5430080" cy="66882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BCrypt是单向哈希加密算法，每次加密结果不同，安全性高，防止彩虹表攻击。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 l="11646" r="11646"/>
          <a:stretch>
            <a:fillRect/>
          </a:stretch>
        </p:blipFill>
        <p:spPr>
          <a:xfrm>
            <a:off x="827728" y="1232187"/>
            <a:ext cx="4346281" cy="4346281"/>
          </a:xfrm>
          <a:prstGeom prst="diamond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权限控制技术说明与设计方案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1407025" y="3355413"/>
            <a:ext cx="1621384" cy="1586253"/>
          </a:xfrm>
          <a:custGeom>
            <a:avLst/>
            <a:gdLst/>
            <a:ahLst/>
            <a:cxnLst/>
            <a:rect l="l" t="t" r="r" b="b"/>
            <a:pathLst>
              <a:path w="1905000" h="1863725">
                <a:moveTo>
                  <a:pt x="952500" y="355818"/>
                </a:moveTo>
                <a:cubicBezTo>
                  <a:pt x="634360" y="355818"/>
                  <a:pt x="376456" y="613722"/>
                  <a:pt x="376456" y="931862"/>
                </a:cubicBezTo>
                <a:cubicBezTo>
                  <a:pt x="376456" y="1250002"/>
                  <a:pt x="634360" y="1507906"/>
                  <a:pt x="952500" y="1507906"/>
                </a:cubicBezTo>
                <a:cubicBezTo>
                  <a:pt x="1270640" y="1507906"/>
                  <a:pt x="1528544" y="1250002"/>
                  <a:pt x="1528544" y="931862"/>
                </a:cubicBezTo>
                <a:cubicBezTo>
                  <a:pt x="1528544" y="613722"/>
                  <a:pt x="1270640" y="355818"/>
                  <a:pt x="952500" y="355818"/>
                </a:cubicBezTo>
                <a:close/>
              </a:path>
              <a:path w="1905000" h="1863725">
                <a:moveTo>
                  <a:pt x="747804" y="0"/>
                </a:moveTo>
                <a:lnTo>
                  <a:pt x="752363" y="0"/>
                </a:lnTo>
                <a:lnTo>
                  <a:pt x="756921" y="650"/>
                </a:lnTo>
                <a:lnTo>
                  <a:pt x="761262" y="1735"/>
                </a:lnTo>
                <a:lnTo>
                  <a:pt x="765604" y="3253"/>
                </a:lnTo>
                <a:lnTo>
                  <a:pt x="769728" y="4988"/>
                </a:lnTo>
                <a:lnTo>
                  <a:pt x="773635" y="7374"/>
                </a:lnTo>
                <a:lnTo>
                  <a:pt x="777108" y="9977"/>
                </a:lnTo>
                <a:lnTo>
                  <a:pt x="780798" y="12796"/>
                </a:lnTo>
                <a:lnTo>
                  <a:pt x="783837" y="16050"/>
                </a:lnTo>
                <a:lnTo>
                  <a:pt x="786660" y="19736"/>
                </a:lnTo>
                <a:lnTo>
                  <a:pt x="789264" y="23640"/>
                </a:lnTo>
                <a:lnTo>
                  <a:pt x="791218" y="27978"/>
                </a:lnTo>
                <a:lnTo>
                  <a:pt x="793172" y="32316"/>
                </a:lnTo>
                <a:lnTo>
                  <a:pt x="841361" y="181970"/>
                </a:lnTo>
                <a:lnTo>
                  <a:pt x="855036" y="180018"/>
                </a:lnTo>
                <a:lnTo>
                  <a:pt x="868929" y="178499"/>
                </a:lnTo>
                <a:lnTo>
                  <a:pt x="882604" y="176981"/>
                </a:lnTo>
                <a:lnTo>
                  <a:pt x="896497" y="175897"/>
                </a:lnTo>
                <a:lnTo>
                  <a:pt x="910389" y="175029"/>
                </a:lnTo>
                <a:lnTo>
                  <a:pt x="924281" y="174378"/>
                </a:lnTo>
                <a:lnTo>
                  <a:pt x="938391" y="173945"/>
                </a:lnTo>
                <a:lnTo>
                  <a:pt x="952500" y="173945"/>
                </a:lnTo>
                <a:lnTo>
                  <a:pt x="966392" y="173945"/>
                </a:lnTo>
                <a:lnTo>
                  <a:pt x="980719" y="174378"/>
                </a:lnTo>
                <a:lnTo>
                  <a:pt x="994612" y="175029"/>
                </a:lnTo>
                <a:lnTo>
                  <a:pt x="1008505" y="175897"/>
                </a:lnTo>
                <a:lnTo>
                  <a:pt x="1022397" y="176981"/>
                </a:lnTo>
                <a:lnTo>
                  <a:pt x="1035855" y="178499"/>
                </a:lnTo>
                <a:lnTo>
                  <a:pt x="1049747" y="180018"/>
                </a:lnTo>
                <a:lnTo>
                  <a:pt x="1063423" y="181970"/>
                </a:lnTo>
                <a:lnTo>
                  <a:pt x="1112046" y="32316"/>
                </a:lnTo>
                <a:lnTo>
                  <a:pt x="1113783" y="27762"/>
                </a:lnTo>
                <a:lnTo>
                  <a:pt x="1115954" y="23640"/>
                </a:lnTo>
                <a:lnTo>
                  <a:pt x="1118558" y="19736"/>
                </a:lnTo>
                <a:lnTo>
                  <a:pt x="1121380" y="16050"/>
                </a:lnTo>
                <a:lnTo>
                  <a:pt x="1124419" y="12796"/>
                </a:lnTo>
                <a:lnTo>
                  <a:pt x="1127675" y="9977"/>
                </a:lnTo>
                <a:lnTo>
                  <a:pt x="1131582" y="7157"/>
                </a:lnTo>
                <a:lnTo>
                  <a:pt x="1135490" y="4988"/>
                </a:lnTo>
                <a:lnTo>
                  <a:pt x="1139614" y="3253"/>
                </a:lnTo>
                <a:lnTo>
                  <a:pt x="1143738" y="1735"/>
                </a:lnTo>
                <a:lnTo>
                  <a:pt x="1148080" y="650"/>
                </a:lnTo>
                <a:lnTo>
                  <a:pt x="1152638" y="0"/>
                </a:lnTo>
                <a:lnTo>
                  <a:pt x="1157414" y="0"/>
                </a:lnTo>
                <a:lnTo>
                  <a:pt x="1161972" y="216"/>
                </a:lnTo>
                <a:lnTo>
                  <a:pt x="1166531" y="868"/>
                </a:lnTo>
                <a:lnTo>
                  <a:pt x="1171306" y="1952"/>
                </a:lnTo>
                <a:lnTo>
                  <a:pt x="1322169" y="51402"/>
                </a:lnTo>
                <a:lnTo>
                  <a:pt x="1326945" y="52921"/>
                </a:lnTo>
                <a:lnTo>
                  <a:pt x="1331069" y="55090"/>
                </a:lnTo>
                <a:lnTo>
                  <a:pt x="1335194" y="57475"/>
                </a:lnTo>
                <a:lnTo>
                  <a:pt x="1338666" y="60295"/>
                </a:lnTo>
                <a:lnTo>
                  <a:pt x="1342139" y="63765"/>
                </a:lnTo>
                <a:lnTo>
                  <a:pt x="1344962" y="67018"/>
                </a:lnTo>
                <a:lnTo>
                  <a:pt x="1347349" y="70706"/>
                </a:lnTo>
                <a:lnTo>
                  <a:pt x="1349737" y="74392"/>
                </a:lnTo>
                <a:lnTo>
                  <a:pt x="1351474" y="78514"/>
                </a:lnTo>
                <a:lnTo>
                  <a:pt x="1353210" y="82852"/>
                </a:lnTo>
                <a:lnTo>
                  <a:pt x="1354079" y="87406"/>
                </a:lnTo>
                <a:lnTo>
                  <a:pt x="1354730" y="91961"/>
                </a:lnTo>
                <a:lnTo>
                  <a:pt x="1354946" y="96515"/>
                </a:lnTo>
                <a:lnTo>
                  <a:pt x="1354296" y="101287"/>
                </a:lnTo>
                <a:lnTo>
                  <a:pt x="1353645" y="105842"/>
                </a:lnTo>
                <a:lnTo>
                  <a:pt x="1352559" y="110396"/>
                </a:lnTo>
                <a:lnTo>
                  <a:pt x="1303718" y="260050"/>
                </a:lnTo>
                <a:lnTo>
                  <a:pt x="1316091" y="266773"/>
                </a:lnTo>
                <a:lnTo>
                  <a:pt x="1328464" y="273497"/>
                </a:lnTo>
                <a:lnTo>
                  <a:pt x="1340403" y="280654"/>
                </a:lnTo>
                <a:lnTo>
                  <a:pt x="1352342" y="287811"/>
                </a:lnTo>
                <a:lnTo>
                  <a:pt x="1364281" y="295186"/>
                </a:lnTo>
                <a:lnTo>
                  <a:pt x="1375785" y="302994"/>
                </a:lnTo>
                <a:lnTo>
                  <a:pt x="1387073" y="310585"/>
                </a:lnTo>
                <a:lnTo>
                  <a:pt x="1398578" y="318827"/>
                </a:lnTo>
                <a:lnTo>
                  <a:pt x="1409648" y="327068"/>
                </a:lnTo>
                <a:lnTo>
                  <a:pt x="1420719" y="335527"/>
                </a:lnTo>
                <a:lnTo>
                  <a:pt x="1431572" y="344203"/>
                </a:lnTo>
                <a:lnTo>
                  <a:pt x="1442209" y="353095"/>
                </a:lnTo>
                <a:lnTo>
                  <a:pt x="1452628" y="361988"/>
                </a:lnTo>
                <a:lnTo>
                  <a:pt x="1463047" y="371314"/>
                </a:lnTo>
                <a:lnTo>
                  <a:pt x="1473250" y="380857"/>
                </a:lnTo>
                <a:lnTo>
                  <a:pt x="1483234" y="390400"/>
                </a:lnTo>
                <a:lnTo>
                  <a:pt x="1610872" y="297788"/>
                </a:lnTo>
                <a:lnTo>
                  <a:pt x="1614779" y="295186"/>
                </a:lnTo>
                <a:lnTo>
                  <a:pt x="1619120" y="293017"/>
                </a:lnTo>
                <a:lnTo>
                  <a:pt x="1623244" y="291499"/>
                </a:lnTo>
                <a:lnTo>
                  <a:pt x="1627803" y="290197"/>
                </a:lnTo>
                <a:lnTo>
                  <a:pt x="1632144" y="289330"/>
                </a:lnTo>
                <a:lnTo>
                  <a:pt x="1636702" y="288896"/>
                </a:lnTo>
                <a:lnTo>
                  <a:pt x="1641261" y="288896"/>
                </a:lnTo>
                <a:lnTo>
                  <a:pt x="1645603" y="289330"/>
                </a:lnTo>
                <a:lnTo>
                  <a:pt x="1649944" y="290414"/>
                </a:lnTo>
                <a:lnTo>
                  <a:pt x="1654285" y="291715"/>
                </a:lnTo>
                <a:lnTo>
                  <a:pt x="1658410" y="293451"/>
                </a:lnTo>
                <a:lnTo>
                  <a:pt x="1662534" y="295619"/>
                </a:lnTo>
                <a:lnTo>
                  <a:pt x="1666441" y="298005"/>
                </a:lnTo>
                <a:lnTo>
                  <a:pt x="1670132" y="301259"/>
                </a:lnTo>
                <a:lnTo>
                  <a:pt x="1673171" y="304512"/>
                </a:lnTo>
                <a:lnTo>
                  <a:pt x="1676210" y="308416"/>
                </a:lnTo>
                <a:lnTo>
                  <a:pt x="1769766" y="436597"/>
                </a:lnTo>
                <a:lnTo>
                  <a:pt x="1772371" y="440718"/>
                </a:lnTo>
                <a:lnTo>
                  <a:pt x="1774542" y="444839"/>
                </a:lnTo>
                <a:lnTo>
                  <a:pt x="1776278" y="449177"/>
                </a:lnTo>
                <a:lnTo>
                  <a:pt x="1777581" y="453515"/>
                </a:lnTo>
                <a:lnTo>
                  <a:pt x="1778449" y="458069"/>
                </a:lnTo>
                <a:lnTo>
                  <a:pt x="1778666" y="462624"/>
                </a:lnTo>
                <a:lnTo>
                  <a:pt x="1778666" y="467178"/>
                </a:lnTo>
                <a:lnTo>
                  <a:pt x="1778015" y="471516"/>
                </a:lnTo>
                <a:lnTo>
                  <a:pt x="1777146" y="475854"/>
                </a:lnTo>
                <a:lnTo>
                  <a:pt x="1775844" y="480409"/>
                </a:lnTo>
                <a:lnTo>
                  <a:pt x="1774325" y="484529"/>
                </a:lnTo>
                <a:lnTo>
                  <a:pt x="1771937" y="488651"/>
                </a:lnTo>
                <a:lnTo>
                  <a:pt x="1769332" y="492337"/>
                </a:lnTo>
                <a:lnTo>
                  <a:pt x="1766510" y="496025"/>
                </a:lnTo>
                <a:lnTo>
                  <a:pt x="1763254" y="499278"/>
                </a:lnTo>
                <a:lnTo>
                  <a:pt x="1759564" y="502098"/>
                </a:lnTo>
                <a:lnTo>
                  <a:pt x="1631927" y="594709"/>
                </a:lnTo>
                <a:lnTo>
                  <a:pt x="1637788" y="607072"/>
                </a:lnTo>
                <a:lnTo>
                  <a:pt x="1643866" y="619651"/>
                </a:lnTo>
                <a:lnTo>
                  <a:pt x="1649293" y="632231"/>
                </a:lnTo>
                <a:lnTo>
                  <a:pt x="1654502" y="644810"/>
                </a:lnTo>
                <a:lnTo>
                  <a:pt x="1659712" y="657607"/>
                </a:lnTo>
                <a:lnTo>
                  <a:pt x="1664704" y="670620"/>
                </a:lnTo>
                <a:lnTo>
                  <a:pt x="1669263" y="683634"/>
                </a:lnTo>
                <a:lnTo>
                  <a:pt x="1673605" y="696647"/>
                </a:lnTo>
                <a:lnTo>
                  <a:pt x="1677946" y="710094"/>
                </a:lnTo>
                <a:lnTo>
                  <a:pt x="1681853" y="723541"/>
                </a:lnTo>
                <a:lnTo>
                  <a:pt x="1685760" y="736771"/>
                </a:lnTo>
                <a:lnTo>
                  <a:pt x="1689017" y="750436"/>
                </a:lnTo>
                <a:lnTo>
                  <a:pt x="1692489" y="764099"/>
                </a:lnTo>
                <a:lnTo>
                  <a:pt x="1695311" y="777764"/>
                </a:lnTo>
                <a:lnTo>
                  <a:pt x="1698133" y="791644"/>
                </a:lnTo>
                <a:lnTo>
                  <a:pt x="1700738" y="805525"/>
                </a:lnTo>
                <a:lnTo>
                  <a:pt x="1857896" y="805525"/>
                </a:lnTo>
                <a:lnTo>
                  <a:pt x="1862672" y="805742"/>
                </a:lnTo>
                <a:lnTo>
                  <a:pt x="1867448" y="806609"/>
                </a:lnTo>
                <a:lnTo>
                  <a:pt x="1872006" y="807477"/>
                </a:lnTo>
                <a:lnTo>
                  <a:pt x="1876130" y="809429"/>
                </a:lnTo>
                <a:lnTo>
                  <a:pt x="1880255" y="811164"/>
                </a:lnTo>
                <a:lnTo>
                  <a:pt x="1884161" y="813550"/>
                </a:lnTo>
                <a:lnTo>
                  <a:pt x="1887635" y="816370"/>
                </a:lnTo>
                <a:lnTo>
                  <a:pt x="1891108" y="819406"/>
                </a:lnTo>
                <a:lnTo>
                  <a:pt x="1894147" y="822659"/>
                </a:lnTo>
                <a:lnTo>
                  <a:pt x="1896969" y="826346"/>
                </a:lnTo>
                <a:lnTo>
                  <a:pt x="1899356" y="830250"/>
                </a:lnTo>
                <a:lnTo>
                  <a:pt x="1901310" y="833937"/>
                </a:lnTo>
                <a:lnTo>
                  <a:pt x="1902830" y="838275"/>
                </a:lnTo>
                <a:lnTo>
                  <a:pt x="1903915" y="843047"/>
                </a:lnTo>
                <a:lnTo>
                  <a:pt x="1904566" y="847601"/>
                </a:lnTo>
                <a:lnTo>
                  <a:pt x="1905000" y="852156"/>
                </a:lnTo>
                <a:lnTo>
                  <a:pt x="1905000" y="1011353"/>
                </a:lnTo>
                <a:lnTo>
                  <a:pt x="1904566" y="1015907"/>
                </a:lnTo>
                <a:lnTo>
                  <a:pt x="1904132" y="1020896"/>
                </a:lnTo>
                <a:lnTo>
                  <a:pt x="1902830" y="1025234"/>
                </a:lnTo>
                <a:lnTo>
                  <a:pt x="1901310" y="1029571"/>
                </a:lnTo>
                <a:lnTo>
                  <a:pt x="1899356" y="1033692"/>
                </a:lnTo>
                <a:lnTo>
                  <a:pt x="1896969" y="1037596"/>
                </a:lnTo>
                <a:lnTo>
                  <a:pt x="1894147" y="1041283"/>
                </a:lnTo>
                <a:lnTo>
                  <a:pt x="1891325" y="1044536"/>
                </a:lnTo>
                <a:lnTo>
                  <a:pt x="1887852" y="1047356"/>
                </a:lnTo>
                <a:lnTo>
                  <a:pt x="1884161" y="1050175"/>
                </a:lnTo>
                <a:lnTo>
                  <a:pt x="1880255" y="1052562"/>
                </a:lnTo>
                <a:lnTo>
                  <a:pt x="1876130" y="1054513"/>
                </a:lnTo>
                <a:lnTo>
                  <a:pt x="1872006" y="1056032"/>
                </a:lnTo>
                <a:lnTo>
                  <a:pt x="1867448" y="1057116"/>
                </a:lnTo>
                <a:lnTo>
                  <a:pt x="1862672" y="1057983"/>
                </a:lnTo>
                <a:lnTo>
                  <a:pt x="1858113" y="1058201"/>
                </a:lnTo>
                <a:lnTo>
                  <a:pt x="1700738" y="1058201"/>
                </a:lnTo>
                <a:lnTo>
                  <a:pt x="1698133" y="1072082"/>
                </a:lnTo>
                <a:lnTo>
                  <a:pt x="1695311" y="1085962"/>
                </a:lnTo>
                <a:lnTo>
                  <a:pt x="1692489" y="1099626"/>
                </a:lnTo>
                <a:lnTo>
                  <a:pt x="1689017" y="1113507"/>
                </a:lnTo>
                <a:lnTo>
                  <a:pt x="1685760" y="1126737"/>
                </a:lnTo>
                <a:lnTo>
                  <a:pt x="1681853" y="1140401"/>
                </a:lnTo>
                <a:lnTo>
                  <a:pt x="1677946" y="1153848"/>
                </a:lnTo>
                <a:lnTo>
                  <a:pt x="1673605" y="1166862"/>
                </a:lnTo>
                <a:lnTo>
                  <a:pt x="1669263" y="1180092"/>
                </a:lnTo>
                <a:lnTo>
                  <a:pt x="1664704" y="1193105"/>
                </a:lnTo>
                <a:lnTo>
                  <a:pt x="1659712" y="1205902"/>
                </a:lnTo>
                <a:lnTo>
                  <a:pt x="1654502" y="1218698"/>
                </a:lnTo>
                <a:lnTo>
                  <a:pt x="1649293" y="1231711"/>
                </a:lnTo>
                <a:lnTo>
                  <a:pt x="1643866" y="1244291"/>
                </a:lnTo>
                <a:lnTo>
                  <a:pt x="1637788" y="1256654"/>
                </a:lnTo>
                <a:lnTo>
                  <a:pt x="1631927" y="1269016"/>
                </a:lnTo>
                <a:lnTo>
                  <a:pt x="1759564" y="1361411"/>
                </a:lnTo>
                <a:lnTo>
                  <a:pt x="1763254" y="1364231"/>
                </a:lnTo>
                <a:lnTo>
                  <a:pt x="1766510" y="1367701"/>
                </a:lnTo>
                <a:lnTo>
                  <a:pt x="1769332" y="1371171"/>
                </a:lnTo>
                <a:lnTo>
                  <a:pt x="1771937" y="1375075"/>
                </a:lnTo>
                <a:lnTo>
                  <a:pt x="1774325" y="1379196"/>
                </a:lnTo>
                <a:lnTo>
                  <a:pt x="1775844" y="1383317"/>
                </a:lnTo>
                <a:lnTo>
                  <a:pt x="1777146" y="1387654"/>
                </a:lnTo>
                <a:lnTo>
                  <a:pt x="1778015" y="1391992"/>
                </a:lnTo>
                <a:lnTo>
                  <a:pt x="1778666" y="1396330"/>
                </a:lnTo>
                <a:lnTo>
                  <a:pt x="1778666" y="1401101"/>
                </a:lnTo>
                <a:lnTo>
                  <a:pt x="1778449" y="1405439"/>
                </a:lnTo>
                <a:lnTo>
                  <a:pt x="1777581" y="1409994"/>
                </a:lnTo>
                <a:lnTo>
                  <a:pt x="1776278" y="1414332"/>
                </a:lnTo>
                <a:lnTo>
                  <a:pt x="1774542" y="1418886"/>
                </a:lnTo>
                <a:lnTo>
                  <a:pt x="1772371" y="1422790"/>
                </a:lnTo>
                <a:lnTo>
                  <a:pt x="1769766" y="1426694"/>
                </a:lnTo>
                <a:lnTo>
                  <a:pt x="1676210" y="1555526"/>
                </a:lnTo>
                <a:lnTo>
                  <a:pt x="1673171" y="1559214"/>
                </a:lnTo>
                <a:lnTo>
                  <a:pt x="1670132" y="1562467"/>
                </a:lnTo>
                <a:lnTo>
                  <a:pt x="1666441" y="1565503"/>
                </a:lnTo>
                <a:lnTo>
                  <a:pt x="1662534" y="1567889"/>
                </a:lnTo>
                <a:lnTo>
                  <a:pt x="1658410" y="1570275"/>
                </a:lnTo>
                <a:lnTo>
                  <a:pt x="1654285" y="1572010"/>
                </a:lnTo>
                <a:lnTo>
                  <a:pt x="1649944" y="1573311"/>
                </a:lnTo>
                <a:lnTo>
                  <a:pt x="1645603" y="1573962"/>
                </a:lnTo>
                <a:lnTo>
                  <a:pt x="1641261" y="1574612"/>
                </a:lnTo>
                <a:lnTo>
                  <a:pt x="1636702" y="1574830"/>
                </a:lnTo>
                <a:lnTo>
                  <a:pt x="1632144" y="1574179"/>
                </a:lnTo>
                <a:lnTo>
                  <a:pt x="1627586" y="1573528"/>
                </a:lnTo>
                <a:lnTo>
                  <a:pt x="1623244" y="1572227"/>
                </a:lnTo>
                <a:lnTo>
                  <a:pt x="1618903" y="1570708"/>
                </a:lnTo>
                <a:lnTo>
                  <a:pt x="1614779" y="1568323"/>
                </a:lnTo>
                <a:lnTo>
                  <a:pt x="1610872" y="1565720"/>
                </a:lnTo>
                <a:lnTo>
                  <a:pt x="1483234" y="1473326"/>
                </a:lnTo>
                <a:lnTo>
                  <a:pt x="1473250" y="1483085"/>
                </a:lnTo>
                <a:lnTo>
                  <a:pt x="1463047" y="1492195"/>
                </a:lnTo>
                <a:lnTo>
                  <a:pt x="1452628" y="1501521"/>
                </a:lnTo>
                <a:lnTo>
                  <a:pt x="1442209" y="1510631"/>
                </a:lnTo>
                <a:lnTo>
                  <a:pt x="1431572" y="1519523"/>
                </a:lnTo>
                <a:lnTo>
                  <a:pt x="1420719" y="1527982"/>
                </a:lnTo>
                <a:lnTo>
                  <a:pt x="1409648" y="1536440"/>
                </a:lnTo>
                <a:lnTo>
                  <a:pt x="1398578" y="1544682"/>
                </a:lnTo>
                <a:lnTo>
                  <a:pt x="1387290" y="1552923"/>
                </a:lnTo>
                <a:lnTo>
                  <a:pt x="1375785" y="1560731"/>
                </a:lnTo>
                <a:lnTo>
                  <a:pt x="1364281" y="1568323"/>
                </a:lnTo>
                <a:lnTo>
                  <a:pt x="1352342" y="1575914"/>
                </a:lnTo>
                <a:lnTo>
                  <a:pt x="1340403" y="1583071"/>
                </a:lnTo>
                <a:lnTo>
                  <a:pt x="1328464" y="1590228"/>
                </a:lnTo>
                <a:lnTo>
                  <a:pt x="1316091" y="1596952"/>
                </a:lnTo>
                <a:lnTo>
                  <a:pt x="1303718" y="1603676"/>
                </a:lnTo>
                <a:lnTo>
                  <a:pt x="1352559" y="1753112"/>
                </a:lnTo>
                <a:lnTo>
                  <a:pt x="1353645" y="1757883"/>
                </a:lnTo>
                <a:lnTo>
                  <a:pt x="1354296" y="1762655"/>
                </a:lnTo>
                <a:lnTo>
                  <a:pt x="1354946" y="1767426"/>
                </a:lnTo>
                <a:lnTo>
                  <a:pt x="1354730" y="1771764"/>
                </a:lnTo>
                <a:lnTo>
                  <a:pt x="1354079" y="1776319"/>
                </a:lnTo>
                <a:lnTo>
                  <a:pt x="1353210" y="1780657"/>
                </a:lnTo>
                <a:lnTo>
                  <a:pt x="1351474" y="1784995"/>
                </a:lnTo>
                <a:lnTo>
                  <a:pt x="1349737" y="1789115"/>
                </a:lnTo>
                <a:lnTo>
                  <a:pt x="1347349" y="1793019"/>
                </a:lnTo>
                <a:lnTo>
                  <a:pt x="1344962" y="1796707"/>
                </a:lnTo>
                <a:lnTo>
                  <a:pt x="1342139" y="1799960"/>
                </a:lnTo>
                <a:lnTo>
                  <a:pt x="1338666" y="1803214"/>
                </a:lnTo>
                <a:lnTo>
                  <a:pt x="1335194" y="1806033"/>
                </a:lnTo>
                <a:lnTo>
                  <a:pt x="1331286" y="1808419"/>
                </a:lnTo>
                <a:lnTo>
                  <a:pt x="1326945" y="1810588"/>
                </a:lnTo>
                <a:lnTo>
                  <a:pt x="1322603" y="1812323"/>
                </a:lnTo>
                <a:lnTo>
                  <a:pt x="1171306" y="1861556"/>
                </a:lnTo>
                <a:lnTo>
                  <a:pt x="1166531" y="1862641"/>
                </a:lnTo>
                <a:lnTo>
                  <a:pt x="1161972" y="1863508"/>
                </a:lnTo>
                <a:lnTo>
                  <a:pt x="1157414" y="1863725"/>
                </a:lnTo>
                <a:lnTo>
                  <a:pt x="1152638" y="1863725"/>
                </a:lnTo>
                <a:lnTo>
                  <a:pt x="1148080" y="1862858"/>
                </a:lnTo>
                <a:lnTo>
                  <a:pt x="1143738" y="1861990"/>
                </a:lnTo>
                <a:lnTo>
                  <a:pt x="1139614" y="1860472"/>
                </a:lnTo>
                <a:lnTo>
                  <a:pt x="1135490" y="1858520"/>
                </a:lnTo>
                <a:lnTo>
                  <a:pt x="1131365" y="1856568"/>
                </a:lnTo>
                <a:lnTo>
                  <a:pt x="1127675" y="1853748"/>
                </a:lnTo>
                <a:lnTo>
                  <a:pt x="1124419" y="1850929"/>
                </a:lnTo>
                <a:lnTo>
                  <a:pt x="1121380" y="1847459"/>
                </a:lnTo>
                <a:lnTo>
                  <a:pt x="1118558" y="1843989"/>
                </a:lnTo>
                <a:lnTo>
                  <a:pt x="1115954" y="1840085"/>
                </a:lnTo>
                <a:lnTo>
                  <a:pt x="1113783" y="1835747"/>
                </a:lnTo>
                <a:lnTo>
                  <a:pt x="1112046" y="1831409"/>
                </a:lnTo>
                <a:lnTo>
                  <a:pt x="1063423" y="1681538"/>
                </a:lnTo>
                <a:lnTo>
                  <a:pt x="1049747" y="1683491"/>
                </a:lnTo>
                <a:lnTo>
                  <a:pt x="1036289" y="1685009"/>
                </a:lnTo>
                <a:lnTo>
                  <a:pt x="1022397" y="1686310"/>
                </a:lnTo>
                <a:lnTo>
                  <a:pt x="1008505" y="1687611"/>
                </a:lnTo>
                <a:lnTo>
                  <a:pt x="994612" y="1688479"/>
                </a:lnTo>
                <a:lnTo>
                  <a:pt x="980719" y="1689130"/>
                </a:lnTo>
                <a:lnTo>
                  <a:pt x="966392" y="1689346"/>
                </a:lnTo>
                <a:lnTo>
                  <a:pt x="952500" y="1689780"/>
                </a:lnTo>
                <a:lnTo>
                  <a:pt x="938391" y="1689346"/>
                </a:lnTo>
                <a:lnTo>
                  <a:pt x="924281" y="1689130"/>
                </a:lnTo>
                <a:lnTo>
                  <a:pt x="910389" y="1688479"/>
                </a:lnTo>
                <a:lnTo>
                  <a:pt x="896497" y="1687611"/>
                </a:lnTo>
                <a:lnTo>
                  <a:pt x="882604" y="1686310"/>
                </a:lnTo>
                <a:lnTo>
                  <a:pt x="868929" y="1685009"/>
                </a:lnTo>
                <a:lnTo>
                  <a:pt x="855036" y="1683491"/>
                </a:lnTo>
                <a:lnTo>
                  <a:pt x="841361" y="1681538"/>
                </a:lnTo>
                <a:lnTo>
                  <a:pt x="793172" y="1831409"/>
                </a:lnTo>
                <a:lnTo>
                  <a:pt x="791218" y="1835963"/>
                </a:lnTo>
                <a:lnTo>
                  <a:pt x="789264" y="1840085"/>
                </a:lnTo>
                <a:lnTo>
                  <a:pt x="786660" y="1843989"/>
                </a:lnTo>
                <a:lnTo>
                  <a:pt x="783837" y="1847459"/>
                </a:lnTo>
                <a:lnTo>
                  <a:pt x="780798" y="1850929"/>
                </a:lnTo>
                <a:lnTo>
                  <a:pt x="777108" y="1853748"/>
                </a:lnTo>
                <a:lnTo>
                  <a:pt x="773635" y="1856568"/>
                </a:lnTo>
                <a:lnTo>
                  <a:pt x="769728" y="1858520"/>
                </a:lnTo>
                <a:lnTo>
                  <a:pt x="765604" y="1860472"/>
                </a:lnTo>
                <a:lnTo>
                  <a:pt x="761262" y="1861990"/>
                </a:lnTo>
                <a:lnTo>
                  <a:pt x="756921" y="1862858"/>
                </a:lnTo>
                <a:lnTo>
                  <a:pt x="752145" y="1863725"/>
                </a:lnTo>
                <a:lnTo>
                  <a:pt x="747804" y="1863725"/>
                </a:lnTo>
                <a:lnTo>
                  <a:pt x="743246" y="1863508"/>
                </a:lnTo>
                <a:lnTo>
                  <a:pt x="738470" y="1862641"/>
                </a:lnTo>
                <a:lnTo>
                  <a:pt x="733694" y="1861340"/>
                </a:lnTo>
                <a:lnTo>
                  <a:pt x="582614" y="1812323"/>
                </a:lnTo>
                <a:lnTo>
                  <a:pt x="578056" y="1810588"/>
                </a:lnTo>
                <a:lnTo>
                  <a:pt x="573931" y="1808419"/>
                </a:lnTo>
                <a:lnTo>
                  <a:pt x="570024" y="1806033"/>
                </a:lnTo>
                <a:lnTo>
                  <a:pt x="566551" y="1803214"/>
                </a:lnTo>
                <a:lnTo>
                  <a:pt x="563078" y="1799960"/>
                </a:lnTo>
                <a:lnTo>
                  <a:pt x="560039" y="1796707"/>
                </a:lnTo>
                <a:lnTo>
                  <a:pt x="557434" y="1793019"/>
                </a:lnTo>
                <a:lnTo>
                  <a:pt x="555481" y="1789115"/>
                </a:lnTo>
                <a:lnTo>
                  <a:pt x="553310" y="1784995"/>
                </a:lnTo>
                <a:lnTo>
                  <a:pt x="552007" y="1780657"/>
                </a:lnTo>
                <a:lnTo>
                  <a:pt x="550922" y="1776319"/>
                </a:lnTo>
                <a:lnTo>
                  <a:pt x="550271" y="1771764"/>
                </a:lnTo>
                <a:lnTo>
                  <a:pt x="550271" y="1767426"/>
                </a:lnTo>
                <a:lnTo>
                  <a:pt x="550488" y="1762655"/>
                </a:lnTo>
                <a:lnTo>
                  <a:pt x="551356" y="1757883"/>
                </a:lnTo>
                <a:lnTo>
                  <a:pt x="552224" y="1753112"/>
                </a:lnTo>
                <a:lnTo>
                  <a:pt x="601282" y="1603676"/>
                </a:lnTo>
                <a:lnTo>
                  <a:pt x="588909" y="1596952"/>
                </a:lnTo>
                <a:lnTo>
                  <a:pt x="576753" y="1590228"/>
                </a:lnTo>
                <a:lnTo>
                  <a:pt x="564597" y="1583071"/>
                </a:lnTo>
                <a:lnTo>
                  <a:pt x="552658" y="1575914"/>
                </a:lnTo>
                <a:lnTo>
                  <a:pt x="540936" y="1568323"/>
                </a:lnTo>
                <a:lnTo>
                  <a:pt x="529215" y="1560731"/>
                </a:lnTo>
                <a:lnTo>
                  <a:pt x="517927" y="1552923"/>
                </a:lnTo>
                <a:lnTo>
                  <a:pt x="506423" y="1544682"/>
                </a:lnTo>
                <a:lnTo>
                  <a:pt x="495135" y="1536440"/>
                </a:lnTo>
                <a:lnTo>
                  <a:pt x="484281" y="1527982"/>
                </a:lnTo>
                <a:lnTo>
                  <a:pt x="473428" y="1519306"/>
                </a:lnTo>
                <a:lnTo>
                  <a:pt x="462791" y="1510631"/>
                </a:lnTo>
                <a:lnTo>
                  <a:pt x="452155" y="1501521"/>
                </a:lnTo>
                <a:lnTo>
                  <a:pt x="441953" y="1492195"/>
                </a:lnTo>
                <a:lnTo>
                  <a:pt x="431751" y="1482869"/>
                </a:lnTo>
                <a:lnTo>
                  <a:pt x="421549" y="1473108"/>
                </a:lnTo>
                <a:lnTo>
                  <a:pt x="294346" y="1565720"/>
                </a:lnTo>
                <a:lnTo>
                  <a:pt x="290222" y="1568323"/>
                </a:lnTo>
                <a:lnTo>
                  <a:pt x="286097" y="1570708"/>
                </a:lnTo>
                <a:lnTo>
                  <a:pt x="281756" y="1572227"/>
                </a:lnTo>
                <a:lnTo>
                  <a:pt x="277197" y="1573528"/>
                </a:lnTo>
                <a:lnTo>
                  <a:pt x="272856" y="1574179"/>
                </a:lnTo>
                <a:lnTo>
                  <a:pt x="268298" y="1574830"/>
                </a:lnTo>
                <a:lnTo>
                  <a:pt x="263739" y="1574830"/>
                </a:lnTo>
                <a:lnTo>
                  <a:pt x="259397" y="1574179"/>
                </a:lnTo>
                <a:lnTo>
                  <a:pt x="254839" y="1573311"/>
                </a:lnTo>
                <a:lnTo>
                  <a:pt x="250498" y="1572010"/>
                </a:lnTo>
                <a:lnTo>
                  <a:pt x="246374" y="1570275"/>
                </a:lnTo>
                <a:lnTo>
                  <a:pt x="242249" y="1568106"/>
                </a:lnTo>
                <a:lnTo>
                  <a:pt x="238776" y="1565503"/>
                </a:lnTo>
                <a:lnTo>
                  <a:pt x="235086" y="1562467"/>
                </a:lnTo>
                <a:lnTo>
                  <a:pt x="231829" y="1559214"/>
                </a:lnTo>
                <a:lnTo>
                  <a:pt x="228791" y="1555526"/>
                </a:lnTo>
                <a:lnTo>
                  <a:pt x="135017" y="1426694"/>
                </a:lnTo>
                <a:lnTo>
                  <a:pt x="132412" y="1422790"/>
                </a:lnTo>
                <a:lnTo>
                  <a:pt x="130458" y="1418886"/>
                </a:lnTo>
                <a:lnTo>
                  <a:pt x="128722" y="1414332"/>
                </a:lnTo>
                <a:lnTo>
                  <a:pt x="127419" y="1409994"/>
                </a:lnTo>
                <a:lnTo>
                  <a:pt x="126551" y="1405439"/>
                </a:lnTo>
                <a:lnTo>
                  <a:pt x="126334" y="1401101"/>
                </a:lnTo>
                <a:lnTo>
                  <a:pt x="126334" y="1396330"/>
                </a:lnTo>
                <a:lnTo>
                  <a:pt x="126768" y="1391992"/>
                </a:lnTo>
                <a:lnTo>
                  <a:pt x="127853" y="1387654"/>
                </a:lnTo>
                <a:lnTo>
                  <a:pt x="129156" y="1383317"/>
                </a:lnTo>
                <a:lnTo>
                  <a:pt x="130893" y="1379196"/>
                </a:lnTo>
                <a:lnTo>
                  <a:pt x="133063" y="1375075"/>
                </a:lnTo>
                <a:lnTo>
                  <a:pt x="135668" y="1371171"/>
                </a:lnTo>
                <a:lnTo>
                  <a:pt x="138490" y="1367701"/>
                </a:lnTo>
                <a:lnTo>
                  <a:pt x="141746" y="1364447"/>
                </a:lnTo>
                <a:lnTo>
                  <a:pt x="145653" y="1361411"/>
                </a:lnTo>
                <a:lnTo>
                  <a:pt x="272856" y="1269016"/>
                </a:lnTo>
                <a:lnTo>
                  <a:pt x="266995" y="1256654"/>
                </a:lnTo>
                <a:lnTo>
                  <a:pt x="261351" y="1244074"/>
                </a:lnTo>
                <a:lnTo>
                  <a:pt x="255707" y="1231711"/>
                </a:lnTo>
                <a:lnTo>
                  <a:pt x="250281" y="1218698"/>
                </a:lnTo>
                <a:lnTo>
                  <a:pt x="245071" y="1205902"/>
                </a:lnTo>
                <a:lnTo>
                  <a:pt x="240295" y="1193105"/>
                </a:lnTo>
                <a:lnTo>
                  <a:pt x="235737" y="1180092"/>
                </a:lnTo>
                <a:lnTo>
                  <a:pt x="231178" y="1166862"/>
                </a:lnTo>
                <a:lnTo>
                  <a:pt x="227054" y="1153848"/>
                </a:lnTo>
                <a:lnTo>
                  <a:pt x="222930" y="1140401"/>
                </a:lnTo>
                <a:lnTo>
                  <a:pt x="219457" y="1126737"/>
                </a:lnTo>
                <a:lnTo>
                  <a:pt x="215767" y="1113507"/>
                </a:lnTo>
                <a:lnTo>
                  <a:pt x="212728" y="1099626"/>
                </a:lnTo>
                <a:lnTo>
                  <a:pt x="209689" y="1085962"/>
                </a:lnTo>
                <a:lnTo>
                  <a:pt x="207084" y="1072082"/>
                </a:lnTo>
                <a:lnTo>
                  <a:pt x="204479" y="1058201"/>
                </a:lnTo>
                <a:lnTo>
                  <a:pt x="47104" y="1058201"/>
                </a:lnTo>
                <a:lnTo>
                  <a:pt x="42111" y="1057983"/>
                </a:lnTo>
                <a:lnTo>
                  <a:pt x="37552" y="1057116"/>
                </a:lnTo>
                <a:lnTo>
                  <a:pt x="32994" y="1056032"/>
                </a:lnTo>
                <a:lnTo>
                  <a:pt x="28653" y="1054513"/>
                </a:lnTo>
                <a:lnTo>
                  <a:pt x="24745" y="1052562"/>
                </a:lnTo>
                <a:lnTo>
                  <a:pt x="20839" y="1050175"/>
                </a:lnTo>
                <a:lnTo>
                  <a:pt x="16931" y="1047356"/>
                </a:lnTo>
                <a:lnTo>
                  <a:pt x="13892" y="1044536"/>
                </a:lnTo>
                <a:lnTo>
                  <a:pt x="10853" y="1041283"/>
                </a:lnTo>
                <a:lnTo>
                  <a:pt x="8032" y="1037596"/>
                </a:lnTo>
                <a:lnTo>
                  <a:pt x="5644" y="1033692"/>
                </a:lnTo>
                <a:lnTo>
                  <a:pt x="3690" y="1029571"/>
                </a:lnTo>
                <a:lnTo>
                  <a:pt x="1954" y="1025234"/>
                </a:lnTo>
                <a:lnTo>
                  <a:pt x="1085" y="1020896"/>
                </a:lnTo>
                <a:lnTo>
                  <a:pt x="217" y="1015907"/>
                </a:lnTo>
                <a:lnTo>
                  <a:pt x="0" y="1011353"/>
                </a:lnTo>
                <a:lnTo>
                  <a:pt x="0" y="852156"/>
                </a:lnTo>
                <a:lnTo>
                  <a:pt x="217" y="847601"/>
                </a:lnTo>
                <a:lnTo>
                  <a:pt x="1085" y="843047"/>
                </a:lnTo>
                <a:lnTo>
                  <a:pt x="1954" y="838275"/>
                </a:lnTo>
                <a:lnTo>
                  <a:pt x="3690" y="833937"/>
                </a:lnTo>
                <a:lnTo>
                  <a:pt x="5644" y="830250"/>
                </a:lnTo>
                <a:lnTo>
                  <a:pt x="8032" y="826346"/>
                </a:lnTo>
                <a:lnTo>
                  <a:pt x="10853" y="822659"/>
                </a:lnTo>
                <a:lnTo>
                  <a:pt x="13892" y="819406"/>
                </a:lnTo>
                <a:lnTo>
                  <a:pt x="16931" y="816370"/>
                </a:lnTo>
                <a:lnTo>
                  <a:pt x="20839" y="813550"/>
                </a:lnTo>
                <a:lnTo>
                  <a:pt x="24745" y="811164"/>
                </a:lnTo>
                <a:lnTo>
                  <a:pt x="28653" y="809429"/>
                </a:lnTo>
                <a:lnTo>
                  <a:pt x="32994" y="807477"/>
                </a:lnTo>
                <a:lnTo>
                  <a:pt x="37552" y="806609"/>
                </a:lnTo>
                <a:lnTo>
                  <a:pt x="42111" y="805742"/>
                </a:lnTo>
                <a:lnTo>
                  <a:pt x="47104" y="805525"/>
                </a:lnTo>
                <a:lnTo>
                  <a:pt x="204479" y="805525"/>
                </a:lnTo>
                <a:lnTo>
                  <a:pt x="207084" y="791644"/>
                </a:lnTo>
                <a:lnTo>
                  <a:pt x="209689" y="777764"/>
                </a:lnTo>
                <a:lnTo>
                  <a:pt x="212728" y="764099"/>
                </a:lnTo>
                <a:lnTo>
                  <a:pt x="215767" y="750436"/>
                </a:lnTo>
                <a:lnTo>
                  <a:pt x="219457" y="736771"/>
                </a:lnTo>
                <a:lnTo>
                  <a:pt x="222930" y="723324"/>
                </a:lnTo>
                <a:lnTo>
                  <a:pt x="227054" y="709877"/>
                </a:lnTo>
                <a:lnTo>
                  <a:pt x="231178" y="696647"/>
                </a:lnTo>
                <a:lnTo>
                  <a:pt x="235737" y="683634"/>
                </a:lnTo>
                <a:lnTo>
                  <a:pt x="240295" y="670620"/>
                </a:lnTo>
                <a:lnTo>
                  <a:pt x="245071" y="657607"/>
                </a:lnTo>
                <a:lnTo>
                  <a:pt x="250281" y="644810"/>
                </a:lnTo>
                <a:lnTo>
                  <a:pt x="255707" y="632014"/>
                </a:lnTo>
                <a:lnTo>
                  <a:pt x="261351" y="619434"/>
                </a:lnTo>
                <a:lnTo>
                  <a:pt x="266995" y="607072"/>
                </a:lnTo>
                <a:lnTo>
                  <a:pt x="272856" y="594709"/>
                </a:lnTo>
                <a:lnTo>
                  <a:pt x="145653" y="502098"/>
                </a:lnTo>
                <a:lnTo>
                  <a:pt x="141746" y="499061"/>
                </a:lnTo>
                <a:lnTo>
                  <a:pt x="138490" y="495808"/>
                </a:lnTo>
                <a:lnTo>
                  <a:pt x="135668" y="492337"/>
                </a:lnTo>
                <a:lnTo>
                  <a:pt x="133063" y="488651"/>
                </a:lnTo>
                <a:lnTo>
                  <a:pt x="130893" y="484529"/>
                </a:lnTo>
                <a:lnTo>
                  <a:pt x="129156" y="480409"/>
                </a:lnTo>
                <a:lnTo>
                  <a:pt x="127853" y="475854"/>
                </a:lnTo>
                <a:lnTo>
                  <a:pt x="126768" y="471516"/>
                </a:lnTo>
                <a:lnTo>
                  <a:pt x="126334" y="467178"/>
                </a:lnTo>
                <a:lnTo>
                  <a:pt x="126334" y="462624"/>
                </a:lnTo>
                <a:lnTo>
                  <a:pt x="126551" y="458069"/>
                </a:lnTo>
                <a:lnTo>
                  <a:pt x="127419" y="453515"/>
                </a:lnTo>
                <a:lnTo>
                  <a:pt x="128722" y="449177"/>
                </a:lnTo>
                <a:lnTo>
                  <a:pt x="130458" y="444839"/>
                </a:lnTo>
                <a:lnTo>
                  <a:pt x="132412" y="440718"/>
                </a:lnTo>
                <a:lnTo>
                  <a:pt x="135017" y="436597"/>
                </a:lnTo>
                <a:lnTo>
                  <a:pt x="228791" y="308416"/>
                </a:lnTo>
                <a:lnTo>
                  <a:pt x="231829" y="304512"/>
                </a:lnTo>
                <a:lnTo>
                  <a:pt x="235086" y="301259"/>
                </a:lnTo>
                <a:lnTo>
                  <a:pt x="238776" y="298005"/>
                </a:lnTo>
                <a:lnTo>
                  <a:pt x="242249" y="295619"/>
                </a:lnTo>
                <a:lnTo>
                  <a:pt x="246374" y="293451"/>
                </a:lnTo>
                <a:lnTo>
                  <a:pt x="250498" y="291715"/>
                </a:lnTo>
                <a:lnTo>
                  <a:pt x="254839" y="290414"/>
                </a:lnTo>
                <a:lnTo>
                  <a:pt x="259397" y="289330"/>
                </a:lnTo>
                <a:lnTo>
                  <a:pt x="263739" y="288896"/>
                </a:lnTo>
                <a:lnTo>
                  <a:pt x="268298" y="288896"/>
                </a:lnTo>
                <a:lnTo>
                  <a:pt x="272856" y="289330"/>
                </a:lnTo>
                <a:lnTo>
                  <a:pt x="277197" y="290197"/>
                </a:lnTo>
                <a:lnTo>
                  <a:pt x="281756" y="291499"/>
                </a:lnTo>
                <a:lnTo>
                  <a:pt x="286097" y="293017"/>
                </a:lnTo>
                <a:lnTo>
                  <a:pt x="290222" y="295186"/>
                </a:lnTo>
                <a:lnTo>
                  <a:pt x="294346" y="297788"/>
                </a:lnTo>
                <a:lnTo>
                  <a:pt x="421549" y="390400"/>
                </a:lnTo>
                <a:lnTo>
                  <a:pt x="431751" y="380857"/>
                </a:lnTo>
                <a:lnTo>
                  <a:pt x="441953" y="371314"/>
                </a:lnTo>
                <a:lnTo>
                  <a:pt x="452155" y="361988"/>
                </a:lnTo>
                <a:lnTo>
                  <a:pt x="462791" y="353095"/>
                </a:lnTo>
                <a:lnTo>
                  <a:pt x="473645" y="344203"/>
                </a:lnTo>
                <a:lnTo>
                  <a:pt x="484281" y="335527"/>
                </a:lnTo>
                <a:lnTo>
                  <a:pt x="495135" y="327068"/>
                </a:lnTo>
                <a:lnTo>
                  <a:pt x="506423" y="318827"/>
                </a:lnTo>
                <a:lnTo>
                  <a:pt x="517927" y="310585"/>
                </a:lnTo>
                <a:lnTo>
                  <a:pt x="529215" y="302994"/>
                </a:lnTo>
                <a:lnTo>
                  <a:pt x="540936" y="295186"/>
                </a:lnTo>
                <a:lnTo>
                  <a:pt x="552658" y="287811"/>
                </a:lnTo>
                <a:lnTo>
                  <a:pt x="564597" y="280654"/>
                </a:lnTo>
                <a:lnTo>
                  <a:pt x="576753" y="273497"/>
                </a:lnTo>
                <a:lnTo>
                  <a:pt x="588909" y="266773"/>
                </a:lnTo>
                <a:lnTo>
                  <a:pt x="601282" y="260050"/>
                </a:lnTo>
                <a:lnTo>
                  <a:pt x="552224" y="110396"/>
                </a:lnTo>
                <a:lnTo>
                  <a:pt x="550922" y="105842"/>
                </a:lnTo>
                <a:lnTo>
                  <a:pt x="550488" y="100853"/>
                </a:lnTo>
                <a:lnTo>
                  <a:pt x="550053" y="96299"/>
                </a:lnTo>
                <a:lnTo>
                  <a:pt x="550271" y="91961"/>
                </a:lnTo>
                <a:lnTo>
                  <a:pt x="550704" y="87406"/>
                </a:lnTo>
                <a:lnTo>
                  <a:pt x="552007" y="82852"/>
                </a:lnTo>
                <a:lnTo>
                  <a:pt x="553310" y="78514"/>
                </a:lnTo>
                <a:lnTo>
                  <a:pt x="555046" y="74826"/>
                </a:lnTo>
                <a:lnTo>
                  <a:pt x="557434" y="70706"/>
                </a:lnTo>
                <a:lnTo>
                  <a:pt x="560039" y="67018"/>
                </a:lnTo>
                <a:lnTo>
                  <a:pt x="563078" y="63765"/>
                </a:lnTo>
                <a:lnTo>
                  <a:pt x="566551" y="60512"/>
                </a:lnTo>
                <a:lnTo>
                  <a:pt x="570024" y="57693"/>
                </a:lnTo>
                <a:lnTo>
                  <a:pt x="573931" y="55090"/>
                </a:lnTo>
                <a:lnTo>
                  <a:pt x="578056" y="53137"/>
                </a:lnTo>
                <a:lnTo>
                  <a:pt x="582614" y="51402"/>
                </a:lnTo>
                <a:lnTo>
                  <a:pt x="733912" y="1952"/>
                </a:lnTo>
                <a:lnTo>
                  <a:pt x="738470" y="868"/>
                </a:lnTo>
                <a:lnTo>
                  <a:pt x="743246" y="216"/>
                </a:lnTo>
              </a:path>
            </a:pathLst>
          </a:custGeom>
          <a:solidFill>
            <a:schemeClr val="accent4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>
            <a:off x="2446132" y="1836140"/>
            <a:ext cx="2100199" cy="2054694"/>
          </a:xfrm>
          <a:custGeom>
            <a:avLst/>
            <a:gdLst/>
            <a:ahLst/>
            <a:cxnLst/>
            <a:rect l="l" t="t" r="r" b="b"/>
            <a:pathLst>
              <a:path w="1905000" h="1863725">
                <a:moveTo>
                  <a:pt x="952500" y="355818"/>
                </a:moveTo>
                <a:cubicBezTo>
                  <a:pt x="634360" y="355818"/>
                  <a:pt x="376456" y="613722"/>
                  <a:pt x="376456" y="931862"/>
                </a:cubicBezTo>
                <a:cubicBezTo>
                  <a:pt x="376456" y="1250002"/>
                  <a:pt x="634360" y="1507906"/>
                  <a:pt x="952500" y="1507906"/>
                </a:cubicBezTo>
                <a:cubicBezTo>
                  <a:pt x="1270640" y="1507906"/>
                  <a:pt x="1528544" y="1250002"/>
                  <a:pt x="1528544" y="931862"/>
                </a:cubicBezTo>
                <a:cubicBezTo>
                  <a:pt x="1528544" y="613722"/>
                  <a:pt x="1270640" y="355818"/>
                  <a:pt x="952500" y="355818"/>
                </a:cubicBezTo>
                <a:close/>
              </a:path>
              <a:path w="1905000" h="1863725">
                <a:moveTo>
                  <a:pt x="747804" y="0"/>
                </a:moveTo>
                <a:lnTo>
                  <a:pt x="752363" y="0"/>
                </a:lnTo>
                <a:lnTo>
                  <a:pt x="756921" y="650"/>
                </a:lnTo>
                <a:lnTo>
                  <a:pt x="761262" y="1735"/>
                </a:lnTo>
                <a:lnTo>
                  <a:pt x="765604" y="3253"/>
                </a:lnTo>
                <a:lnTo>
                  <a:pt x="769728" y="4988"/>
                </a:lnTo>
                <a:lnTo>
                  <a:pt x="773635" y="7374"/>
                </a:lnTo>
                <a:lnTo>
                  <a:pt x="777108" y="9977"/>
                </a:lnTo>
                <a:lnTo>
                  <a:pt x="780798" y="12796"/>
                </a:lnTo>
                <a:lnTo>
                  <a:pt x="783837" y="16050"/>
                </a:lnTo>
                <a:lnTo>
                  <a:pt x="786660" y="19736"/>
                </a:lnTo>
                <a:lnTo>
                  <a:pt x="789264" y="23640"/>
                </a:lnTo>
                <a:lnTo>
                  <a:pt x="791218" y="27978"/>
                </a:lnTo>
                <a:lnTo>
                  <a:pt x="793172" y="32316"/>
                </a:lnTo>
                <a:lnTo>
                  <a:pt x="841361" y="181970"/>
                </a:lnTo>
                <a:lnTo>
                  <a:pt x="855036" y="180018"/>
                </a:lnTo>
                <a:lnTo>
                  <a:pt x="868929" y="178499"/>
                </a:lnTo>
                <a:lnTo>
                  <a:pt x="882604" y="176981"/>
                </a:lnTo>
                <a:lnTo>
                  <a:pt x="896497" y="175897"/>
                </a:lnTo>
                <a:lnTo>
                  <a:pt x="910389" y="175029"/>
                </a:lnTo>
                <a:lnTo>
                  <a:pt x="924281" y="174378"/>
                </a:lnTo>
                <a:lnTo>
                  <a:pt x="938391" y="173945"/>
                </a:lnTo>
                <a:lnTo>
                  <a:pt x="952500" y="173945"/>
                </a:lnTo>
                <a:lnTo>
                  <a:pt x="966392" y="173945"/>
                </a:lnTo>
                <a:lnTo>
                  <a:pt x="980719" y="174378"/>
                </a:lnTo>
                <a:lnTo>
                  <a:pt x="994612" y="175029"/>
                </a:lnTo>
                <a:lnTo>
                  <a:pt x="1008505" y="175897"/>
                </a:lnTo>
                <a:lnTo>
                  <a:pt x="1022397" y="176981"/>
                </a:lnTo>
                <a:lnTo>
                  <a:pt x="1035855" y="178499"/>
                </a:lnTo>
                <a:lnTo>
                  <a:pt x="1049747" y="180018"/>
                </a:lnTo>
                <a:lnTo>
                  <a:pt x="1063423" y="181970"/>
                </a:lnTo>
                <a:lnTo>
                  <a:pt x="1112046" y="32316"/>
                </a:lnTo>
                <a:lnTo>
                  <a:pt x="1113783" y="27762"/>
                </a:lnTo>
                <a:lnTo>
                  <a:pt x="1115954" y="23640"/>
                </a:lnTo>
                <a:lnTo>
                  <a:pt x="1118558" y="19736"/>
                </a:lnTo>
                <a:lnTo>
                  <a:pt x="1121380" y="16050"/>
                </a:lnTo>
                <a:lnTo>
                  <a:pt x="1124419" y="12796"/>
                </a:lnTo>
                <a:lnTo>
                  <a:pt x="1127675" y="9977"/>
                </a:lnTo>
                <a:lnTo>
                  <a:pt x="1131582" y="7157"/>
                </a:lnTo>
                <a:lnTo>
                  <a:pt x="1135490" y="4988"/>
                </a:lnTo>
                <a:lnTo>
                  <a:pt x="1139614" y="3253"/>
                </a:lnTo>
                <a:lnTo>
                  <a:pt x="1143738" y="1735"/>
                </a:lnTo>
                <a:lnTo>
                  <a:pt x="1148080" y="650"/>
                </a:lnTo>
                <a:lnTo>
                  <a:pt x="1152638" y="0"/>
                </a:lnTo>
                <a:lnTo>
                  <a:pt x="1157414" y="0"/>
                </a:lnTo>
                <a:lnTo>
                  <a:pt x="1161972" y="216"/>
                </a:lnTo>
                <a:lnTo>
                  <a:pt x="1166531" y="868"/>
                </a:lnTo>
                <a:lnTo>
                  <a:pt x="1171306" y="1952"/>
                </a:lnTo>
                <a:lnTo>
                  <a:pt x="1322169" y="51402"/>
                </a:lnTo>
                <a:lnTo>
                  <a:pt x="1326945" y="52921"/>
                </a:lnTo>
                <a:lnTo>
                  <a:pt x="1331069" y="55090"/>
                </a:lnTo>
                <a:lnTo>
                  <a:pt x="1335194" y="57475"/>
                </a:lnTo>
                <a:lnTo>
                  <a:pt x="1338666" y="60295"/>
                </a:lnTo>
                <a:lnTo>
                  <a:pt x="1342139" y="63765"/>
                </a:lnTo>
                <a:lnTo>
                  <a:pt x="1344962" y="67018"/>
                </a:lnTo>
                <a:lnTo>
                  <a:pt x="1347349" y="70706"/>
                </a:lnTo>
                <a:lnTo>
                  <a:pt x="1349737" y="74392"/>
                </a:lnTo>
                <a:lnTo>
                  <a:pt x="1351474" y="78514"/>
                </a:lnTo>
                <a:lnTo>
                  <a:pt x="1353210" y="82852"/>
                </a:lnTo>
                <a:lnTo>
                  <a:pt x="1354079" y="87406"/>
                </a:lnTo>
                <a:lnTo>
                  <a:pt x="1354730" y="91961"/>
                </a:lnTo>
                <a:lnTo>
                  <a:pt x="1354946" y="96515"/>
                </a:lnTo>
                <a:lnTo>
                  <a:pt x="1354296" y="101287"/>
                </a:lnTo>
                <a:lnTo>
                  <a:pt x="1353645" y="105842"/>
                </a:lnTo>
                <a:lnTo>
                  <a:pt x="1352559" y="110396"/>
                </a:lnTo>
                <a:lnTo>
                  <a:pt x="1303718" y="260050"/>
                </a:lnTo>
                <a:lnTo>
                  <a:pt x="1316091" y="266773"/>
                </a:lnTo>
                <a:lnTo>
                  <a:pt x="1328464" y="273497"/>
                </a:lnTo>
                <a:lnTo>
                  <a:pt x="1340403" y="280654"/>
                </a:lnTo>
                <a:lnTo>
                  <a:pt x="1352342" y="287811"/>
                </a:lnTo>
                <a:lnTo>
                  <a:pt x="1364281" y="295186"/>
                </a:lnTo>
                <a:lnTo>
                  <a:pt x="1375785" y="302994"/>
                </a:lnTo>
                <a:lnTo>
                  <a:pt x="1387073" y="310585"/>
                </a:lnTo>
                <a:lnTo>
                  <a:pt x="1398578" y="318827"/>
                </a:lnTo>
                <a:lnTo>
                  <a:pt x="1409648" y="327068"/>
                </a:lnTo>
                <a:lnTo>
                  <a:pt x="1420719" y="335527"/>
                </a:lnTo>
                <a:lnTo>
                  <a:pt x="1431572" y="344203"/>
                </a:lnTo>
                <a:lnTo>
                  <a:pt x="1442209" y="353095"/>
                </a:lnTo>
                <a:lnTo>
                  <a:pt x="1452628" y="361988"/>
                </a:lnTo>
                <a:lnTo>
                  <a:pt x="1463047" y="371314"/>
                </a:lnTo>
                <a:lnTo>
                  <a:pt x="1473250" y="380857"/>
                </a:lnTo>
                <a:lnTo>
                  <a:pt x="1483234" y="390400"/>
                </a:lnTo>
                <a:lnTo>
                  <a:pt x="1610872" y="297788"/>
                </a:lnTo>
                <a:lnTo>
                  <a:pt x="1614779" y="295186"/>
                </a:lnTo>
                <a:lnTo>
                  <a:pt x="1619120" y="293017"/>
                </a:lnTo>
                <a:lnTo>
                  <a:pt x="1623244" y="291499"/>
                </a:lnTo>
                <a:lnTo>
                  <a:pt x="1627803" y="290197"/>
                </a:lnTo>
                <a:lnTo>
                  <a:pt x="1632144" y="289330"/>
                </a:lnTo>
                <a:lnTo>
                  <a:pt x="1636702" y="288896"/>
                </a:lnTo>
                <a:lnTo>
                  <a:pt x="1641261" y="288896"/>
                </a:lnTo>
                <a:lnTo>
                  <a:pt x="1645603" y="289330"/>
                </a:lnTo>
                <a:lnTo>
                  <a:pt x="1649944" y="290414"/>
                </a:lnTo>
                <a:lnTo>
                  <a:pt x="1654285" y="291715"/>
                </a:lnTo>
                <a:lnTo>
                  <a:pt x="1658410" y="293451"/>
                </a:lnTo>
                <a:lnTo>
                  <a:pt x="1662534" y="295619"/>
                </a:lnTo>
                <a:lnTo>
                  <a:pt x="1666441" y="298005"/>
                </a:lnTo>
                <a:lnTo>
                  <a:pt x="1670132" y="301259"/>
                </a:lnTo>
                <a:lnTo>
                  <a:pt x="1673171" y="304512"/>
                </a:lnTo>
                <a:lnTo>
                  <a:pt x="1676210" y="308416"/>
                </a:lnTo>
                <a:lnTo>
                  <a:pt x="1769766" y="436597"/>
                </a:lnTo>
                <a:lnTo>
                  <a:pt x="1772371" y="440718"/>
                </a:lnTo>
                <a:lnTo>
                  <a:pt x="1774542" y="444839"/>
                </a:lnTo>
                <a:lnTo>
                  <a:pt x="1776278" y="449177"/>
                </a:lnTo>
                <a:lnTo>
                  <a:pt x="1777581" y="453515"/>
                </a:lnTo>
                <a:lnTo>
                  <a:pt x="1778449" y="458069"/>
                </a:lnTo>
                <a:lnTo>
                  <a:pt x="1778666" y="462624"/>
                </a:lnTo>
                <a:lnTo>
                  <a:pt x="1778666" y="467178"/>
                </a:lnTo>
                <a:lnTo>
                  <a:pt x="1778015" y="471516"/>
                </a:lnTo>
                <a:lnTo>
                  <a:pt x="1777146" y="475854"/>
                </a:lnTo>
                <a:lnTo>
                  <a:pt x="1775844" y="480409"/>
                </a:lnTo>
                <a:lnTo>
                  <a:pt x="1774325" y="484529"/>
                </a:lnTo>
                <a:lnTo>
                  <a:pt x="1771937" y="488651"/>
                </a:lnTo>
                <a:lnTo>
                  <a:pt x="1769332" y="492337"/>
                </a:lnTo>
                <a:lnTo>
                  <a:pt x="1766510" y="496025"/>
                </a:lnTo>
                <a:lnTo>
                  <a:pt x="1763254" y="499278"/>
                </a:lnTo>
                <a:lnTo>
                  <a:pt x="1759564" y="502098"/>
                </a:lnTo>
                <a:lnTo>
                  <a:pt x="1631927" y="594709"/>
                </a:lnTo>
                <a:lnTo>
                  <a:pt x="1637788" y="607072"/>
                </a:lnTo>
                <a:lnTo>
                  <a:pt x="1643866" y="619651"/>
                </a:lnTo>
                <a:lnTo>
                  <a:pt x="1649293" y="632231"/>
                </a:lnTo>
                <a:lnTo>
                  <a:pt x="1654502" y="644810"/>
                </a:lnTo>
                <a:lnTo>
                  <a:pt x="1659712" y="657607"/>
                </a:lnTo>
                <a:lnTo>
                  <a:pt x="1664704" y="670620"/>
                </a:lnTo>
                <a:lnTo>
                  <a:pt x="1669263" y="683634"/>
                </a:lnTo>
                <a:lnTo>
                  <a:pt x="1673605" y="696647"/>
                </a:lnTo>
                <a:lnTo>
                  <a:pt x="1677946" y="710094"/>
                </a:lnTo>
                <a:lnTo>
                  <a:pt x="1681853" y="723541"/>
                </a:lnTo>
                <a:lnTo>
                  <a:pt x="1685760" y="736771"/>
                </a:lnTo>
                <a:lnTo>
                  <a:pt x="1689017" y="750436"/>
                </a:lnTo>
                <a:lnTo>
                  <a:pt x="1692489" y="764099"/>
                </a:lnTo>
                <a:lnTo>
                  <a:pt x="1695311" y="777764"/>
                </a:lnTo>
                <a:lnTo>
                  <a:pt x="1698133" y="791644"/>
                </a:lnTo>
                <a:lnTo>
                  <a:pt x="1700738" y="805525"/>
                </a:lnTo>
                <a:lnTo>
                  <a:pt x="1857896" y="805525"/>
                </a:lnTo>
                <a:lnTo>
                  <a:pt x="1862672" y="805742"/>
                </a:lnTo>
                <a:lnTo>
                  <a:pt x="1867448" y="806609"/>
                </a:lnTo>
                <a:lnTo>
                  <a:pt x="1872006" y="807477"/>
                </a:lnTo>
                <a:lnTo>
                  <a:pt x="1876130" y="809429"/>
                </a:lnTo>
                <a:lnTo>
                  <a:pt x="1880255" y="811164"/>
                </a:lnTo>
                <a:lnTo>
                  <a:pt x="1884161" y="813550"/>
                </a:lnTo>
                <a:lnTo>
                  <a:pt x="1887635" y="816370"/>
                </a:lnTo>
                <a:lnTo>
                  <a:pt x="1891108" y="819406"/>
                </a:lnTo>
                <a:lnTo>
                  <a:pt x="1894147" y="822659"/>
                </a:lnTo>
                <a:lnTo>
                  <a:pt x="1896969" y="826346"/>
                </a:lnTo>
                <a:lnTo>
                  <a:pt x="1899356" y="830250"/>
                </a:lnTo>
                <a:lnTo>
                  <a:pt x="1901310" y="833937"/>
                </a:lnTo>
                <a:lnTo>
                  <a:pt x="1902830" y="838275"/>
                </a:lnTo>
                <a:lnTo>
                  <a:pt x="1903915" y="843047"/>
                </a:lnTo>
                <a:lnTo>
                  <a:pt x="1904566" y="847601"/>
                </a:lnTo>
                <a:lnTo>
                  <a:pt x="1905000" y="852156"/>
                </a:lnTo>
                <a:lnTo>
                  <a:pt x="1905000" y="1011353"/>
                </a:lnTo>
                <a:lnTo>
                  <a:pt x="1904566" y="1015907"/>
                </a:lnTo>
                <a:lnTo>
                  <a:pt x="1904132" y="1020896"/>
                </a:lnTo>
                <a:lnTo>
                  <a:pt x="1902830" y="1025234"/>
                </a:lnTo>
                <a:lnTo>
                  <a:pt x="1901310" y="1029571"/>
                </a:lnTo>
                <a:lnTo>
                  <a:pt x="1899356" y="1033692"/>
                </a:lnTo>
                <a:lnTo>
                  <a:pt x="1896969" y="1037596"/>
                </a:lnTo>
                <a:lnTo>
                  <a:pt x="1894147" y="1041283"/>
                </a:lnTo>
                <a:lnTo>
                  <a:pt x="1891325" y="1044536"/>
                </a:lnTo>
                <a:lnTo>
                  <a:pt x="1887852" y="1047356"/>
                </a:lnTo>
                <a:lnTo>
                  <a:pt x="1884161" y="1050175"/>
                </a:lnTo>
                <a:lnTo>
                  <a:pt x="1880255" y="1052562"/>
                </a:lnTo>
                <a:lnTo>
                  <a:pt x="1876130" y="1054513"/>
                </a:lnTo>
                <a:lnTo>
                  <a:pt x="1872006" y="1056032"/>
                </a:lnTo>
                <a:lnTo>
                  <a:pt x="1867448" y="1057116"/>
                </a:lnTo>
                <a:lnTo>
                  <a:pt x="1862672" y="1057983"/>
                </a:lnTo>
                <a:lnTo>
                  <a:pt x="1858113" y="1058201"/>
                </a:lnTo>
                <a:lnTo>
                  <a:pt x="1700738" y="1058201"/>
                </a:lnTo>
                <a:lnTo>
                  <a:pt x="1698133" y="1072082"/>
                </a:lnTo>
                <a:lnTo>
                  <a:pt x="1695311" y="1085962"/>
                </a:lnTo>
                <a:lnTo>
                  <a:pt x="1692489" y="1099626"/>
                </a:lnTo>
                <a:lnTo>
                  <a:pt x="1689017" y="1113507"/>
                </a:lnTo>
                <a:lnTo>
                  <a:pt x="1685760" y="1126737"/>
                </a:lnTo>
                <a:lnTo>
                  <a:pt x="1681853" y="1140401"/>
                </a:lnTo>
                <a:lnTo>
                  <a:pt x="1677946" y="1153848"/>
                </a:lnTo>
                <a:lnTo>
                  <a:pt x="1673605" y="1166862"/>
                </a:lnTo>
                <a:lnTo>
                  <a:pt x="1669263" y="1180092"/>
                </a:lnTo>
                <a:lnTo>
                  <a:pt x="1664704" y="1193105"/>
                </a:lnTo>
                <a:lnTo>
                  <a:pt x="1659712" y="1205902"/>
                </a:lnTo>
                <a:lnTo>
                  <a:pt x="1654502" y="1218698"/>
                </a:lnTo>
                <a:lnTo>
                  <a:pt x="1649293" y="1231711"/>
                </a:lnTo>
                <a:lnTo>
                  <a:pt x="1643866" y="1244291"/>
                </a:lnTo>
                <a:lnTo>
                  <a:pt x="1637788" y="1256654"/>
                </a:lnTo>
                <a:lnTo>
                  <a:pt x="1631927" y="1269016"/>
                </a:lnTo>
                <a:lnTo>
                  <a:pt x="1759564" y="1361411"/>
                </a:lnTo>
                <a:lnTo>
                  <a:pt x="1763254" y="1364231"/>
                </a:lnTo>
                <a:lnTo>
                  <a:pt x="1766510" y="1367701"/>
                </a:lnTo>
                <a:lnTo>
                  <a:pt x="1769332" y="1371171"/>
                </a:lnTo>
                <a:lnTo>
                  <a:pt x="1771937" y="1375075"/>
                </a:lnTo>
                <a:lnTo>
                  <a:pt x="1774325" y="1379196"/>
                </a:lnTo>
                <a:lnTo>
                  <a:pt x="1775844" y="1383317"/>
                </a:lnTo>
                <a:lnTo>
                  <a:pt x="1777146" y="1387654"/>
                </a:lnTo>
                <a:lnTo>
                  <a:pt x="1778015" y="1391992"/>
                </a:lnTo>
                <a:lnTo>
                  <a:pt x="1778666" y="1396330"/>
                </a:lnTo>
                <a:lnTo>
                  <a:pt x="1778666" y="1401101"/>
                </a:lnTo>
                <a:lnTo>
                  <a:pt x="1778449" y="1405439"/>
                </a:lnTo>
                <a:lnTo>
                  <a:pt x="1777581" y="1409994"/>
                </a:lnTo>
                <a:lnTo>
                  <a:pt x="1776278" y="1414332"/>
                </a:lnTo>
                <a:lnTo>
                  <a:pt x="1774542" y="1418886"/>
                </a:lnTo>
                <a:lnTo>
                  <a:pt x="1772371" y="1422790"/>
                </a:lnTo>
                <a:lnTo>
                  <a:pt x="1769766" y="1426694"/>
                </a:lnTo>
                <a:lnTo>
                  <a:pt x="1676210" y="1555526"/>
                </a:lnTo>
                <a:lnTo>
                  <a:pt x="1673171" y="1559214"/>
                </a:lnTo>
                <a:lnTo>
                  <a:pt x="1670132" y="1562467"/>
                </a:lnTo>
                <a:lnTo>
                  <a:pt x="1666441" y="1565503"/>
                </a:lnTo>
                <a:lnTo>
                  <a:pt x="1662534" y="1567889"/>
                </a:lnTo>
                <a:lnTo>
                  <a:pt x="1658410" y="1570275"/>
                </a:lnTo>
                <a:lnTo>
                  <a:pt x="1654285" y="1572010"/>
                </a:lnTo>
                <a:lnTo>
                  <a:pt x="1649944" y="1573311"/>
                </a:lnTo>
                <a:lnTo>
                  <a:pt x="1645603" y="1573962"/>
                </a:lnTo>
                <a:lnTo>
                  <a:pt x="1641261" y="1574612"/>
                </a:lnTo>
                <a:lnTo>
                  <a:pt x="1636702" y="1574830"/>
                </a:lnTo>
                <a:lnTo>
                  <a:pt x="1632144" y="1574179"/>
                </a:lnTo>
                <a:lnTo>
                  <a:pt x="1627586" y="1573528"/>
                </a:lnTo>
                <a:lnTo>
                  <a:pt x="1623244" y="1572227"/>
                </a:lnTo>
                <a:lnTo>
                  <a:pt x="1618903" y="1570708"/>
                </a:lnTo>
                <a:lnTo>
                  <a:pt x="1614779" y="1568323"/>
                </a:lnTo>
                <a:lnTo>
                  <a:pt x="1610872" y="1565720"/>
                </a:lnTo>
                <a:lnTo>
                  <a:pt x="1483234" y="1473326"/>
                </a:lnTo>
                <a:lnTo>
                  <a:pt x="1473250" y="1483085"/>
                </a:lnTo>
                <a:lnTo>
                  <a:pt x="1463047" y="1492195"/>
                </a:lnTo>
                <a:lnTo>
                  <a:pt x="1452628" y="1501521"/>
                </a:lnTo>
                <a:lnTo>
                  <a:pt x="1442209" y="1510631"/>
                </a:lnTo>
                <a:lnTo>
                  <a:pt x="1431572" y="1519523"/>
                </a:lnTo>
                <a:lnTo>
                  <a:pt x="1420719" y="1527982"/>
                </a:lnTo>
                <a:lnTo>
                  <a:pt x="1409648" y="1536440"/>
                </a:lnTo>
                <a:lnTo>
                  <a:pt x="1398578" y="1544682"/>
                </a:lnTo>
                <a:lnTo>
                  <a:pt x="1387290" y="1552923"/>
                </a:lnTo>
                <a:lnTo>
                  <a:pt x="1375785" y="1560731"/>
                </a:lnTo>
                <a:lnTo>
                  <a:pt x="1364281" y="1568323"/>
                </a:lnTo>
                <a:lnTo>
                  <a:pt x="1352342" y="1575914"/>
                </a:lnTo>
                <a:lnTo>
                  <a:pt x="1340403" y="1583071"/>
                </a:lnTo>
                <a:lnTo>
                  <a:pt x="1328464" y="1590228"/>
                </a:lnTo>
                <a:lnTo>
                  <a:pt x="1316091" y="1596952"/>
                </a:lnTo>
                <a:lnTo>
                  <a:pt x="1303718" y="1603676"/>
                </a:lnTo>
                <a:lnTo>
                  <a:pt x="1352559" y="1753112"/>
                </a:lnTo>
                <a:lnTo>
                  <a:pt x="1353645" y="1757883"/>
                </a:lnTo>
                <a:lnTo>
                  <a:pt x="1354296" y="1762655"/>
                </a:lnTo>
                <a:lnTo>
                  <a:pt x="1354946" y="1767426"/>
                </a:lnTo>
                <a:lnTo>
                  <a:pt x="1354730" y="1771764"/>
                </a:lnTo>
                <a:lnTo>
                  <a:pt x="1354079" y="1776319"/>
                </a:lnTo>
                <a:lnTo>
                  <a:pt x="1353210" y="1780657"/>
                </a:lnTo>
                <a:lnTo>
                  <a:pt x="1351474" y="1784995"/>
                </a:lnTo>
                <a:lnTo>
                  <a:pt x="1349737" y="1789115"/>
                </a:lnTo>
                <a:lnTo>
                  <a:pt x="1347349" y="1793019"/>
                </a:lnTo>
                <a:lnTo>
                  <a:pt x="1344962" y="1796707"/>
                </a:lnTo>
                <a:lnTo>
                  <a:pt x="1342139" y="1799960"/>
                </a:lnTo>
                <a:lnTo>
                  <a:pt x="1338666" y="1803214"/>
                </a:lnTo>
                <a:lnTo>
                  <a:pt x="1335194" y="1806033"/>
                </a:lnTo>
                <a:lnTo>
                  <a:pt x="1331286" y="1808419"/>
                </a:lnTo>
                <a:lnTo>
                  <a:pt x="1326945" y="1810588"/>
                </a:lnTo>
                <a:lnTo>
                  <a:pt x="1322603" y="1812323"/>
                </a:lnTo>
                <a:lnTo>
                  <a:pt x="1171306" y="1861556"/>
                </a:lnTo>
                <a:lnTo>
                  <a:pt x="1166531" y="1862641"/>
                </a:lnTo>
                <a:lnTo>
                  <a:pt x="1161972" y="1863508"/>
                </a:lnTo>
                <a:lnTo>
                  <a:pt x="1157414" y="1863725"/>
                </a:lnTo>
                <a:lnTo>
                  <a:pt x="1152638" y="1863725"/>
                </a:lnTo>
                <a:lnTo>
                  <a:pt x="1148080" y="1862858"/>
                </a:lnTo>
                <a:lnTo>
                  <a:pt x="1143738" y="1861990"/>
                </a:lnTo>
                <a:lnTo>
                  <a:pt x="1139614" y="1860472"/>
                </a:lnTo>
                <a:lnTo>
                  <a:pt x="1135490" y="1858520"/>
                </a:lnTo>
                <a:lnTo>
                  <a:pt x="1131365" y="1856568"/>
                </a:lnTo>
                <a:lnTo>
                  <a:pt x="1127675" y="1853748"/>
                </a:lnTo>
                <a:lnTo>
                  <a:pt x="1124419" y="1850929"/>
                </a:lnTo>
                <a:lnTo>
                  <a:pt x="1121380" y="1847459"/>
                </a:lnTo>
                <a:lnTo>
                  <a:pt x="1118558" y="1843989"/>
                </a:lnTo>
                <a:lnTo>
                  <a:pt x="1115954" y="1840085"/>
                </a:lnTo>
                <a:lnTo>
                  <a:pt x="1113783" y="1835747"/>
                </a:lnTo>
                <a:lnTo>
                  <a:pt x="1112046" y="1831409"/>
                </a:lnTo>
                <a:lnTo>
                  <a:pt x="1063423" y="1681538"/>
                </a:lnTo>
                <a:lnTo>
                  <a:pt x="1049747" y="1683491"/>
                </a:lnTo>
                <a:lnTo>
                  <a:pt x="1036289" y="1685009"/>
                </a:lnTo>
                <a:lnTo>
                  <a:pt x="1022397" y="1686310"/>
                </a:lnTo>
                <a:lnTo>
                  <a:pt x="1008505" y="1687611"/>
                </a:lnTo>
                <a:lnTo>
                  <a:pt x="994612" y="1688479"/>
                </a:lnTo>
                <a:lnTo>
                  <a:pt x="980719" y="1689130"/>
                </a:lnTo>
                <a:lnTo>
                  <a:pt x="966392" y="1689346"/>
                </a:lnTo>
                <a:lnTo>
                  <a:pt x="952500" y="1689780"/>
                </a:lnTo>
                <a:lnTo>
                  <a:pt x="938391" y="1689346"/>
                </a:lnTo>
                <a:lnTo>
                  <a:pt x="924281" y="1689130"/>
                </a:lnTo>
                <a:lnTo>
                  <a:pt x="910389" y="1688479"/>
                </a:lnTo>
                <a:lnTo>
                  <a:pt x="896497" y="1687611"/>
                </a:lnTo>
                <a:lnTo>
                  <a:pt x="882604" y="1686310"/>
                </a:lnTo>
                <a:lnTo>
                  <a:pt x="868929" y="1685009"/>
                </a:lnTo>
                <a:lnTo>
                  <a:pt x="855036" y="1683491"/>
                </a:lnTo>
                <a:lnTo>
                  <a:pt x="841361" y="1681538"/>
                </a:lnTo>
                <a:lnTo>
                  <a:pt x="793172" y="1831409"/>
                </a:lnTo>
                <a:lnTo>
                  <a:pt x="791218" y="1835963"/>
                </a:lnTo>
                <a:lnTo>
                  <a:pt x="789264" y="1840085"/>
                </a:lnTo>
                <a:lnTo>
                  <a:pt x="786660" y="1843989"/>
                </a:lnTo>
                <a:lnTo>
                  <a:pt x="783837" y="1847459"/>
                </a:lnTo>
                <a:lnTo>
                  <a:pt x="780798" y="1850929"/>
                </a:lnTo>
                <a:lnTo>
                  <a:pt x="777108" y="1853748"/>
                </a:lnTo>
                <a:lnTo>
                  <a:pt x="773635" y="1856568"/>
                </a:lnTo>
                <a:lnTo>
                  <a:pt x="769728" y="1858520"/>
                </a:lnTo>
                <a:lnTo>
                  <a:pt x="765604" y="1860472"/>
                </a:lnTo>
                <a:lnTo>
                  <a:pt x="761262" y="1861990"/>
                </a:lnTo>
                <a:lnTo>
                  <a:pt x="756921" y="1862858"/>
                </a:lnTo>
                <a:lnTo>
                  <a:pt x="752145" y="1863725"/>
                </a:lnTo>
                <a:lnTo>
                  <a:pt x="747804" y="1863725"/>
                </a:lnTo>
                <a:lnTo>
                  <a:pt x="743246" y="1863508"/>
                </a:lnTo>
                <a:lnTo>
                  <a:pt x="738470" y="1862641"/>
                </a:lnTo>
                <a:lnTo>
                  <a:pt x="733694" y="1861340"/>
                </a:lnTo>
                <a:lnTo>
                  <a:pt x="582614" y="1812323"/>
                </a:lnTo>
                <a:lnTo>
                  <a:pt x="578056" y="1810588"/>
                </a:lnTo>
                <a:lnTo>
                  <a:pt x="573931" y="1808419"/>
                </a:lnTo>
                <a:lnTo>
                  <a:pt x="570024" y="1806033"/>
                </a:lnTo>
                <a:lnTo>
                  <a:pt x="566551" y="1803214"/>
                </a:lnTo>
                <a:lnTo>
                  <a:pt x="563078" y="1799960"/>
                </a:lnTo>
                <a:lnTo>
                  <a:pt x="560039" y="1796707"/>
                </a:lnTo>
                <a:lnTo>
                  <a:pt x="557434" y="1793019"/>
                </a:lnTo>
                <a:lnTo>
                  <a:pt x="555481" y="1789115"/>
                </a:lnTo>
                <a:lnTo>
                  <a:pt x="553310" y="1784995"/>
                </a:lnTo>
                <a:lnTo>
                  <a:pt x="552007" y="1780657"/>
                </a:lnTo>
                <a:lnTo>
                  <a:pt x="550922" y="1776319"/>
                </a:lnTo>
                <a:lnTo>
                  <a:pt x="550271" y="1771764"/>
                </a:lnTo>
                <a:lnTo>
                  <a:pt x="550271" y="1767426"/>
                </a:lnTo>
                <a:lnTo>
                  <a:pt x="550488" y="1762655"/>
                </a:lnTo>
                <a:lnTo>
                  <a:pt x="551356" y="1757883"/>
                </a:lnTo>
                <a:lnTo>
                  <a:pt x="552224" y="1753112"/>
                </a:lnTo>
                <a:lnTo>
                  <a:pt x="601282" y="1603676"/>
                </a:lnTo>
                <a:lnTo>
                  <a:pt x="588909" y="1596952"/>
                </a:lnTo>
                <a:lnTo>
                  <a:pt x="576753" y="1590228"/>
                </a:lnTo>
                <a:lnTo>
                  <a:pt x="564597" y="1583071"/>
                </a:lnTo>
                <a:lnTo>
                  <a:pt x="552658" y="1575914"/>
                </a:lnTo>
                <a:lnTo>
                  <a:pt x="540936" y="1568323"/>
                </a:lnTo>
                <a:lnTo>
                  <a:pt x="529215" y="1560731"/>
                </a:lnTo>
                <a:lnTo>
                  <a:pt x="517927" y="1552923"/>
                </a:lnTo>
                <a:lnTo>
                  <a:pt x="506423" y="1544682"/>
                </a:lnTo>
                <a:lnTo>
                  <a:pt x="495135" y="1536440"/>
                </a:lnTo>
                <a:lnTo>
                  <a:pt x="484281" y="1527982"/>
                </a:lnTo>
                <a:lnTo>
                  <a:pt x="473428" y="1519306"/>
                </a:lnTo>
                <a:lnTo>
                  <a:pt x="462791" y="1510631"/>
                </a:lnTo>
                <a:lnTo>
                  <a:pt x="452155" y="1501521"/>
                </a:lnTo>
                <a:lnTo>
                  <a:pt x="441953" y="1492195"/>
                </a:lnTo>
                <a:lnTo>
                  <a:pt x="431751" y="1482869"/>
                </a:lnTo>
                <a:lnTo>
                  <a:pt x="421549" y="1473108"/>
                </a:lnTo>
                <a:lnTo>
                  <a:pt x="294346" y="1565720"/>
                </a:lnTo>
                <a:lnTo>
                  <a:pt x="290222" y="1568323"/>
                </a:lnTo>
                <a:lnTo>
                  <a:pt x="286097" y="1570708"/>
                </a:lnTo>
                <a:lnTo>
                  <a:pt x="281756" y="1572227"/>
                </a:lnTo>
                <a:lnTo>
                  <a:pt x="277197" y="1573528"/>
                </a:lnTo>
                <a:lnTo>
                  <a:pt x="272856" y="1574179"/>
                </a:lnTo>
                <a:lnTo>
                  <a:pt x="268298" y="1574830"/>
                </a:lnTo>
                <a:lnTo>
                  <a:pt x="263739" y="1574830"/>
                </a:lnTo>
                <a:lnTo>
                  <a:pt x="259397" y="1574179"/>
                </a:lnTo>
                <a:lnTo>
                  <a:pt x="254839" y="1573311"/>
                </a:lnTo>
                <a:lnTo>
                  <a:pt x="250498" y="1572010"/>
                </a:lnTo>
                <a:lnTo>
                  <a:pt x="246374" y="1570275"/>
                </a:lnTo>
                <a:lnTo>
                  <a:pt x="242249" y="1568106"/>
                </a:lnTo>
                <a:lnTo>
                  <a:pt x="238776" y="1565503"/>
                </a:lnTo>
                <a:lnTo>
                  <a:pt x="235086" y="1562467"/>
                </a:lnTo>
                <a:lnTo>
                  <a:pt x="231829" y="1559214"/>
                </a:lnTo>
                <a:lnTo>
                  <a:pt x="228791" y="1555526"/>
                </a:lnTo>
                <a:lnTo>
                  <a:pt x="135017" y="1426694"/>
                </a:lnTo>
                <a:lnTo>
                  <a:pt x="132412" y="1422790"/>
                </a:lnTo>
                <a:lnTo>
                  <a:pt x="130458" y="1418886"/>
                </a:lnTo>
                <a:lnTo>
                  <a:pt x="128722" y="1414332"/>
                </a:lnTo>
                <a:lnTo>
                  <a:pt x="127419" y="1409994"/>
                </a:lnTo>
                <a:lnTo>
                  <a:pt x="126551" y="1405439"/>
                </a:lnTo>
                <a:lnTo>
                  <a:pt x="126334" y="1401101"/>
                </a:lnTo>
                <a:lnTo>
                  <a:pt x="126334" y="1396330"/>
                </a:lnTo>
                <a:lnTo>
                  <a:pt x="126768" y="1391992"/>
                </a:lnTo>
                <a:lnTo>
                  <a:pt x="127853" y="1387654"/>
                </a:lnTo>
                <a:lnTo>
                  <a:pt x="129156" y="1383317"/>
                </a:lnTo>
                <a:lnTo>
                  <a:pt x="130893" y="1379196"/>
                </a:lnTo>
                <a:lnTo>
                  <a:pt x="133063" y="1375075"/>
                </a:lnTo>
                <a:lnTo>
                  <a:pt x="135668" y="1371171"/>
                </a:lnTo>
                <a:lnTo>
                  <a:pt x="138490" y="1367701"/>
                </a:lnTo>
                <a:lnTo>
                  <a:pt x="141746" y="1364447"/>
                </a:lnTo>
                <a:lnTo>
                  <a:pt x="145653" y="1361411"/>
                </a:lnTo>
                <a:lnTo>
                  <a:pt x="272856" y="1269016"/>
                </a:lnTo>
                <a:lnTo>
                  <a:pt x="266995" y="1256654"/>
                </a:lnTo>
                <a:lnTo>
                  <a:pt x="261351" y="1244074"/>
                </a:lnTo>
                <a:lnTo>
                  <a:pt x="255707" y="1231711"/>
                </a:lnTo>
                <a:lnTo>
                  <a:pt x="250281" y="1218698"/>
                </a:lnTo>
                <a:lnTo>
                  <a:pt x="245071" y="1205902"/>
                </a:lnTo>
                <a:lnTo>
                  <a:pt x="240295" y="1193105"/>
                </a:lnTo>
                <a:lnTo>
                  <a:pt x="235737" y="1180092"/>
                </a:lnTo>
                <a:lnTo>
                  <a:pt x="231178" y="1166862"/>
                </a:lnTo>
                <a:lnTo>
                  <a:pt x="227054" y="1153848"/>
                </a:lnTo>
                <a:lnTo>
                  <a:pt x="222930" y="1140401"/>
                </a:lnTo>
                <a:lnTo>
                  <a:pt x="219457" y="1126737"/>
                </a:lnTo>
                <a:lnTo>
                  <a:pt x="215767" y="1113507"/>
                </a:lnTo>
                <a:lnTo>
                  <a:pt x="212728" y="1099626"/>
                </a:lnTo>
                <a:lnTo>
                  <a:pt x="209689" y="1085962"/>
                </a:lnTo>
                <a:lnTo>
                  <a:pt x="207084" y="1072082"/>
                </a:lnTo>
                <a:lnTo>
                  <a:pt x="204479" y="1058201"/>
                </a:lnTo>
                <a:lnTo>
                  <a:pt x="47104" y="1058201"/>
                </a:lnTo>
                <a:lnTo>
                  <a:pt x="42111" y="1057983"/>
                </a:lnTo>
                <a:lnTo>
                  <a:pt x="37552" y="1057116"/>
                </a:lnTo>
                <a:lnTo>
                  <a:pt x="32994" y="1056032"/>
                </a:lnTo>
                <a:lnTo>
                  <a:pt x="28653" y="1054513"/>
                </a:lnTo>
                <a:lnTo>
                  <a:pt x="24745" y="1052562"/>
                </a:lnTo>
                <a:lnTo>
                  <a:pt x="20839" y="1050175"/>
                </a:lnTo>
                <a:lnTo>
                  <a:pt x="16931" y="1047356"/>
                </a:lnTo>
                <a:lnTo>
                  <a:pt x="13892" y="1044536"/>
                </a:lnTo>
                <a:lnTo>
                  <a:pt x="10853" y="1041283"/>
                </a:lnTo>
                <a:lnTo>
                  <a:pt x="8032" y="1037596"/>
                </a:lnTo>
                <a:lnTo>
                  <a:pt x="5644" y="1033692"/>
                </a:lnTo>
                <a:lnTo>
                  <a:pt x="3690" y="1029571"/>
                </a:lnTo>
                <a:lnTo>
                  <a:pt x="1954" y="1025234"/>
                </a:lnTo>
                <a:lnTo>
                  <a:pt x="1085" y="1020896"/>
                </a:lnTo>
                <a:lnTo>
                  <a:pt x="217" y="1015907"/>
                </a:lnTo>
                <a:lnTo>
                  <a:pt x="0" y="1011353"/>
                </a:lnTo>
                <a:lnTo>
                  <a:pt x="0" y="852156"/>
                </a:lnTo>
                <a:lnTo>
                  <a:pt x="217" y="847601"/>
                </a:lnTo>
                <a:lnTo>
                  <a:pt x="1085" y="843047"/>
                </a:lnTo>
                <a:lnTo>
                  <a:pt x="1954" y="838275"/>
                </a:lnTo>
                <a:lnTo>
                  <a:pt x="3690" y="833937"/>
                </a:lnTo>
                <a:lnTo>
                  <a:pt x="5644" y="830250"/>
                </a:lnTo>
                <a:lnTo>
                  <a:pt x="8032" y="826346"/>
                </a:lnTo>
                <a:lnTo>
                  <a:pt x="10853" y="822659"/>
                </a:lnTo>
                <a:lnTo>
                  <a:pt x="13892" y="819406"/>
                </a:lnTo>
                <a:lnTo>
                  <a:pt x="16931" y="816370"/>
                </a:lnTo>
                <a:lnTo>
                  <a:pt x="20839" y="813550"/>
                </a:lnTo>
                <a:lnTo>
                  <a:pt x="24745" y="811164"/>
                </a:lnTo>
                <a:lnTo>
                  <a:pt x="28653" y="809429"/>
                </a:lnTo>
                <a:lnTo>
                  <a:pt x="32994" y="807477"/>
                </a:lnTo>
                <a:lnTo>
                  <a:pt x="37552" y="806609"/>
                </a:lnTo>
                <a:lnTo>
                  <a:pt x="42111" y="805742"/>
                </a:lnTo>
                <a:lnTo>
                  <a:pt x="47104" y="805525"/>
                </a:lnTo>
                <a:lnTo>
                  <a:pt x="204479" y="805525"/>
                </a:lnTo>
                <a:lnTo>
                  <a:pt x="207084" y="791644"/>
                </a:lnTo>
                <a:lnTo>
                  <a:pt x="209689" y="777764"/>
                </a:lnTo>
                <a:lnTo>
                  <a:pt x="212728" y="764099"/>
                </a:lnTo>
                <a:lnTo>
                  <a:pt x="215767" y="750436"/>
                </a:lnTo>
                <a:lnTo>
                  <a:pt x="219457" y="736771"/>
                </a:lnTo>
                <a:lnTo>
                  <a:pt x="222930" y="723324"/>
                </a:lnTo>
                <a:lnTo>
                  <a:pt x="227054" y="709877"/>
                </a:lnTo>
                <a:lnTo>
                  <a:pt x="231178" y="696647"/>
                </a:lnTo>
                <a:lnTo>
                  <a:pt x="235737" y="683634"/>
                </a:lnTo>
                <a:lnTo>
                  <a:pt x="240295" y="670620"/>
                </a:lnTo>
                <a:lnTo>
                  <a:pt x="245071" y="657607"/>
                </a:lnTo>
                <a:lnTo>
                  <a:pt x="250281" y="644810"/>
                </a:lnTo>
                <a:lnTo>
                  <a:pt x="255707" y="632014"/>
                </a:lnTo>
                <a:lnTo>
                  <a:pt x="261351" y="619434"/>
                </a:lnTo>
                <a:lnTo>
                  <a:pt x="266995" y="607072"/>
                </a:lnTo>
                <a:lnTo>
                  <a:pt x="272856" y="594709"/>
                </a:lnTo>
                <a:lnTo>
                  <a:pt x="145653" y="502098"/>
                </a:lnTo>
                <a:lnTo>
                  <a:pt x="141746" y="499061"/>
                </a:lnTo>
                <a:lnTo>
                  <a:pt x="138490" y="495808"/>
                </a:lnTo>
                <a:lnTo>
                  <a:pt x="135668" y="492337"/>
                </a:lnTo>
                <a:lnTo>
                  <a:pt x="133063" y="488651"/>
                </a:lnTo>
                <a:lnTo>
                  <a:pt x="130893" y="484529"/>
                </a:lnTo>
                <a:lnTo>
                  <a:pt x="129156" y="480409"/>
                </a:lnTo>
                <a:lnTo>
                  <a:pt x="127853" y="475854"/>
                </a:lnTo>
                <a:lnTo>
                  <a:pt x="126768" y="471516"/>
                </a:lnTo>
                <a:lnTo>
                  <a:pt x="126334" y="467178"/>
                </a:lnTo>
                <a:lnTo>
                  <a:pt x="126334" y="462624"/>
                </a:lnTo>
                <a:lnTo>
                  <a:pt x="126551" y="458069"/>
                </a:lnTo>
                <a:lnTo>
                  <a:pt x="127419" y="453515"/>
                </a:lnTo>
                <a:lnTo>
                  <a:pt x="128722" y="449177"/>
                </a:lnTo>
                <a:lnTo>
                  <a:pt x="130458" y="444839"/>
                </a:lnTo>
                <a:lnTo>
                  <a:pt x="132412" y="440718"/>
                </a:lnTo>
                <a:lnTo>
                  <a:pt x="135017" y="436597"/>
                </a:lnTo>
                <a:lnTo>
                  <a:pt x="228791" y="308416"/>
                </a:lnTo>
                <a:lnTo>
                  <a:pt x="231829" y="304512"/>
                </a:lnTo>
                <a:lnTo>
                  <a:pt x="235086" y="301259"/>
                </a:lnTo>
                <a:lnTo>
                  <a:pt x="238776" y="298005"/>
                </a:lnTo>
                <a:lnTo>
                  <a:pt x="242249" y="295619"/>
                </a:lnTo>
                <a:lnTo>
                  <a:pt x="246374" y="293451"/>
                </a:lnTo>
                <a:lnTo>
                  <a:pt x="250498" y="291715"/>
                </a:lnTo>
                <a:lnTo>
                  <a:pt x="254839" y="290414"/>
                </a:lnTo>
                <a:lnTo>
                  <a:pt x="259397" y="289330"/>
                </a:lnTo>
                <a:lnTo>
                  <a:pt x="263739" y="288896"/>
                </a:lnTo>
                <a:lnTo>
                  <a:pt x="268298" y="288896"/>
                </a:lnTo>
                <a:lnTo>
                  <a:pt x="272856" y="289330"/>
                </a:lnTo>
                <a:lnTo>
                  <a:pt x="277197" y="290197"/>
                </a:lnTo>
                <a:lnTo>
                  <a:pt x="281756" y="291499"/>
                </a:lnTo>
                <a:lnTo>
                  <a:pt x="286097" y="293017"/>
                </a:lnTo>
                <a:lnTo>
                  <a:pt x="290222" y="295186"/>
                </a:lnTo>
                <a:lnTo>
                  <a:pt x="294346" y="297788"/>
                </a:lnTo>
                <a:lnTo>
                  <a:pt x="421549" y="390400"/>
                </a:lnTo>
                <a:lnTo>
                  <a:pt x="431751" y="380857"/>
                </a:lnTo>
                <a:lnTo>
                  <a:pt x="441953" y="371314"/>
                </a:lnTo>
                <a:lnTo>
                  <a:pt x="452155" y="361988"/>
                </a:lnTo>
                <a:lnTo>
                  <a:pt x="462791" y="353095"/>
                </a:lnTo>
                <a:lnTo>
                  <a:pt x="473645" y="344203"/>
                </a:lnTo>
                <a:lnTo>
                  <a:pt x="484281" y="335527"/>
                </a:lnTo>
                <a:lnTo>
                  <a:pt x="495135" y="327068"/>
                </a:lnTo>
                <a:lnTo>
                  <a:pt x="506423" y="318827"/>
                </a:lnTo>
                <a:lnTo>
                  <a:pt x="517927" y="310585"/>
                </a:lnTo>
                <a:lnTo>
                  <a:pt x="529215" y="302994"/>
                </a:lnTo>
                <a:lnTo>
                  <a:pt x="540936" y="295186"/>
                </a:lnTo>
                <a:lnTo>
                  <a:pt x="552658" y="287811"/>
                </a:lnTo>
                <a:lnTo>
                  <a:pt x="564597" y="280654"/>
                </a:lnTo>
                <a:lnTo>
                  <a:pt x="576753" y="273497"/>
                </a:lnTo>
                <a:lnTo>
                  <a:pt x="588909" y="266773"/>
                </a:lnTo>
                <a:lnTo>
                  <a:pt x="601282" y="260050"/>
                </a:lnTo>
                <a:lnTo>
                  <a:pt x="552224" y="110396"/>
                </a:lnTo>
                <a:lnTo>
                  <a:pt x="550922" y="105842"/>
                </a:lnTo>
                <a:lnTo>
                  <a:pt x="550488" y="100853"/>
                </a:lnTo>
                <a:lnTo>
                  <a:pt x="550053" y="96299"/>
                </a:lnTo>
                <a:lnTo>
                  <a:pt x="550271" y="91961"/>
                </a:lnTo>
                <a:lnTo>
                  <a:pt x="550704" y="87406"/>
                </a:lnTo>
                <a:lnTo>
                  <a:pt x="552007" y="82852"/>
                </a:lnTo>
                <a:lnTo>
                  <a:pt x="553310" y="78514"/>
                </a:lnTo>
                <a:lnTo>
                  <a:pt x="555046" y="74826"/>
                </a:lnTo>
                <a:lnTo>
                  <a:pt x="557434" y="70706"/>
                </a:lnTo>
                <a:lnTo>
                  <a:pt x="560039" y="67018"/>
                </a:lnTo>
                <a:lnTo>
                  <a:pt x="563078" y="63765"/>
                </a:lnTo>
                <a:lnTo>
                  <a:pt x="566551" y="60512"/>
                </a:lnTo>
                <a:lnTo>
                  <a:pt x="570024" y="57693"/>
                </a:lnTo>
                <a:lnTo>
                  <a:pt x="573931" y="55090"/>
                </a:lnTo>
                <a:lnTo>
                  <a:pt x="578056" y="53137"/>
                </a:lnTo>
                <a:lnTo>
                  <a:pt x="582614" y="51402"/>
                </a:lnTo>
                <a:lnTo>
                  <a:pt x="733912" y="1952"/>
                </a:lnTo>
                <a:lnTo>
                  <a:pt x="738470" y="868"/>
                </a:lnTo>
                <a:lnTo>
                  <a:pt x="743246" y="216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1" name="Freeform 11"/>
          <p:cNvSpPr/>
          <p:nvPr/>
        </p:nvSpPr>
        <p:spPr>
          <a:xfrm>
            <a:off x="3874260" y="3317341"/>
            <a:ext cx="2016190" cy="1972506"/>
          </a:xfrm>
          <a:custGeom>
            <a:avLst/>
            <a:gdLst/>
            <a:ahLst/>
            <a:cxnLst/>
            <a:rect l="l" t="t" r="r" b="b"/>
            <a:pathLst>
              <a:path w="1905000" h="1863725">
                <a:moveTo>
                  <a:pt x="952500" y="355818"/>
                </a:moveTo>
                <a:cubicBezTo>
                  <a:pt x="634360" y="355818"/>
                  <a:pt x="376456" y="613722"/>
                  <a:pt x="376456" y="931862"/>
                </a:cubicBezTo>
                <a:cubicBezTo>
                  <a:pt x="376456" y="1250002"/>
                  <a:pt x="634360" y="1507906"/>
                  <a:pt x="952500" y="1507906"/>
                </a:cubicBezTo>
                <a:cubicBezTo>
                  <a:pt x="1270640" y="1507906"/>
                  <a:pt x="1528544" y="1250002"/>
                  <a:pt x="1528544" y="931862"/>
                </a:cubicBezTo>
                <a:cubicBezTo>
                  <a:pt x="1528544" y="613722"/>
                  <a:pt x="1270640" y="355818"/>
                  <a:pt x="952500" y="355818"/>
                </a:cubicBezTo>
                <a:close/>
              </a:path>
              <a:path w="1905000" h="1863725">
                <a:moveTo>
                  <a:pt x="747804" y="0"/>
                </a:moveTo>
                <a:lnTo>
                  <a:pt x="752363" y="0"/>
                </a:lnTo>
                <a:lnTo>
                  <a:pt x="756921" y="650"/>
                </a:lnTo>
                <a:lnTo>
                  <a:pt x="761262" y="1735"/>
                </a:lnTo>
                <a:lnTo>
                  <a:pt x="765604" y="3253"/>
                </a:lnTo>
                <a:lnTo>
                  <a:pt x="769728" y="4988"/>
                </a:lnTo>
                <a:lnTo>
                  <a:pt x="773635" y="7374"/>
                </a:lnTo>
                <a:lnTo>
                  <a:pt x="777108" y="9977"/>
                </a:lnTo>
                <a:lnTo>
                  <a:pt x="780798" y="12796"/>
                </a:lnTo>
                <a:lnTo>
                  <a:pt x="783837" y="16050"/>
                </a:lnTo>
                <a:lnTo>
                  <a:pt x="786660" y="19736"/>
                </a:lnTo>
                <a:lnTo>
                  <a:pt x="789264" y="23640"/>
                </a:lnTo>
                <a:lnTo>
                  <a:pt x="791218" y="27978"/>
                </a:lnTo>
                <a:lnTo>
                  <a:pt x="793172" y="32316"/>
                </a:lnTo>
                <a:lnTo>
                  <a:pt x="841361" y="181970"/>
                </a:lnTo>
                <a:lnTo>
                  <a:pt x="855036" y="180018"/>
                </a:lnTo>
                <a:lnTo>
                  <a:pt x="868929" y="178499"/>
                </a:lnTo>
                <a:lnTo>
                  <a:pt x="882604" y="176981"/>
                </a:lnTo>
                <a:lnTo>
                  <a:pt x="896497" y="175897"/>
                </a:lnTo>
                <a:lnTo>
                  <a:pt x="910389" y="175029"/>
                </a:lnTo>
                <a:lnTo>
                  <a:pt x="924281" y="174378"/>
                </a:lnTo>
                <a:lnTo>
                  <a:pt x="938391" y="173945"/>
                </a:lnTo>
                <a:lnTo>
                  <a:pt x="952500" y="173945"/>
                </a:lnTo>
                <a:lnTo>
                  <a:pt x="966392" y="173945"/>
                </a:lnTo>
                <a:lnTo>
                  <a:pt x="980719" y="174378"/>
                </a:lnTo>
                <a:lnTo>
                  <a:pt x="994612" y="175029"/>
                </a:lnTo>
                <a:lnTo>
                  <a:pt x="1008505" y="175897"/>
                </a:lnTo>
                <a:lnTo>
                  <a:pt x="1022397" y="176981"/>
                </a:lnTo>
                <a:lnTo>
                  <a:pt x="1035855" y="178499"/>
                </a:lnTo>
                <a:lnTo>
                  <a:pt x="1049747" y="180018"/>
                </a:lnTo>
                <a:lnTo>
                  <a:pt x="1063423" y="181970"/>
                </a:lnTo>
                <a:lnTo>
                  <a:pt x="1112046" y="32316"/>
                </a:lnTo>
                <a:lnTo>
                  <a:pt x="1113783" y="27762"/>
                </a:lnTo>
                <a:lnTo>
                  <a:pt x="1115954" y="23640"/>
                </a:lnTo>
                <a:lnTo>
                  <a:pt x="1118558" y="19736"/>
                </a:lnTo>
                <a:lnTo>
                  <a:pt x="1121380" y="16050"/>
                </a:lnTo>
                <a:lnTo>
                  <a:pt x="1124419" y="12796"/>
                </a:lnTo>
                <a:lnTo>
                  <a:pt x="1127675" y="9977"/>
                </a:lnTo>
                <a:lnTo>
                  <a:pt x="1131582" y="7157"/>
                </a:lnTo>
                <a:lnTo>
                  <a:pt x="1135490" y="4988"/>
                </a:lnTo>
                <a:lnTo>
                  <a:pt x="1139614" y="3253"/>
                </a:lnTo>
                <a:lnTo>
                  <a:pt x="1143738" y="1735"/>
                </a:lnTo>
                <a:lnTo>
                  <a:pt x="1148080" y="650"/>
                </a:lnTo>
                <a:lnTo>
                  <a:pt x="1152638" y="0"/>
                </a:lnTo>
                <a:lnTo>
                  <a:pt x="1157414" y="0"/>
                </a:lnTo>
                <a:lnTo>
                  <a:pt x="1161972" y="216"/>
                </a:lnTo>
                <a:lnTo>
                  <a:pt x="1166531" y="868"/>
                </a:lnTo>
                <a:lnTo>
                  <a:pt x="1171306" y="1952"/>
                </a:lnTo>
                <a:lnTo>
                  <a:pt x="1322169" y="51402"/>
                </a:lnTo>
                <a:lnTo>
                  <a:pt x="1326945" y="52921"/>
                </a:lnTo>
                <a:lnTo>
                  <a:pt x="1331069" y="55090"/>
                </a:lnTo>
                <a:lnTo>
                  <a:pt x="1335194" y="57475"/>
                </a:lnTo>
                <a:lnTo>
                  <a:pt x="1338666" y="60295"/>
                </a:lnTo>
                <a:lnTo>
                  <a:pt x="1342139" y="63765"/>
                </a:lnTo>
                <a:lnTo>
                  <a:pt x="1344962" y="67018"/>
                </a:lnTo>
                <a:lnTo>
                  <a:pt x="1347349" y="70706"/>
                </a:lnTo>
                <a:lnTo>
                  <a:pt x="1349737" y="74392"/>
                </a:lnTo>
                <a:lnTo>
                  <a:pt x="1351474" y="78514"/>
                </a:lnTo>
                <a:lnTo>
                  <a:pt x="1353210" y="82852"/>
                </a:lnTo>
                <a:lnTo>
                  <a:pt x="1354079" y="87406"/>
                </a:lnTo>
                <a:lnTo>
                  <a:pt x="1354730" y="91961"/>
                </a:lnTo>
                <a:lnTo>
                  <a:pt x="1354946" y="96515"/>
                </a:lnTo>
                <a:lnTo>
                  <a:pt x="1354296" y="101287"/>
                </a:lnTo>
                <a:lnTo>
                  <a:pt x="1353645" y="105842"/>
                </a:lnTo>
                <a:lnTo>
                  <a:pt x="1352559" y="110396"/>
                </a:lnTo>
                <a:lnTo>
                  <a:pt x="1303718" y="260050"/>
                </a:lnTo>
                <a:lnTo>
                  <a:pt x="1316091" y="266773"/>
                </a:lnTo>
                <a:lnTo>
                  <a:pt x="1328464" y="273497"/>
                </a:lnTo>
                <a:lnTo>
                  <a:pt x="1340403" y="280654"/>
                </a:lnTo>
                <a:lnTo>
                  <a:pt x="1352342" y="287811"/>
                </a:lnTo>
                <a:lnTo>
                  <a:pt x="1364281" y="295186"/>
                </a:lnTo>
                <a:lnTo>
                  <a:pt x="1375785" y="302994"/>
                </a:lnTo>
                <a:lnTo>
                  <a:pt x="1387073" y="310585"/>
                </a:lnTo>
                <a:lnTo>
                  <a:pt x="1398578" y="318827"/>
                </a:lnTo>
                <a:lnTo>
                  <a:pt x="1409648" y="327068"/>
                </a:lnTo>
                <a:lnTo>
                  <a:pt x="1420719" y="335527"/>
                </a:lnTo>
                <a:lnTo>
                  <a:pt x="1431572" y="344203"/>
                </a:lnTo>
                <a:lnTo>
                  <a:pt x="1442209" y="353095"/>
                </a:lnTo>
                <a:lnTo>
                  <a:pt x="1452628" y="361988"/>
                </a:lnTo>
                <a:lnTo>
                  <a:pt x="1463047" y="371314"/>
                </a:lnTo>
                <a:lnTo>
                  <a:pt x="1473250" y="380857"/>
                </a:lnTo>
                <a:lnTo>
                  <a:pt x="1483234" y="390400"/>
                </a:lnTo>
                <a:lnTo>
                  <a:pt x="1610872" y="297788"/>
                </a:lnTo>
                <a:lnTo>
                  <a:pt x="1614779" y="295186"/>
                </a:lnTo>
                <a:lnTo>
                  <a:pt x="1619120" y="293017"/>
                </a:lnTo>
                <a:lnTo>
                  <a:pt x="1623244" y="291499"/>
                </a:lnTo>
                <a:lnTo>
                  <a:pt x="1627803" y="290197"/>
                </a:lnTo>
                <a:lnTo>
                  <a:pt x="1632144" y="289330"/>
                </a:lnTo>
                <a:lnTo>
                  <a:pt x="1636702" y="288896"/>
                </a:lnTo>
                <a:lnTo>
                  <a:pt x="1641261" y="288896"/>
                </a:lnTo>
                <a:lnTo>
                  <a:pt x="1645603" y="289330"/>
                </a:lnTo>
                <a:lnTo>
                  <a:pt x="1649944" y="290414"/>
                </a:lnTo>
                <a:lnTo>
                  <a:pt x="1654285" y="291715"/>
                </a:lnTo>
                <a:lnTo>
                  <a:pt x="1658410" y="293451"/>
                </a:lnTo>
                <a:lnTo>
                  <a:pt x="1662534" y="295619"/>
                </a:lnTo>
                <a:lnTo>
                  <a:pt x="1666441" y="298005"/>
                </a:lnTo>
                <a:lnTo>
                  <a:pt x="1670132" y="301259"/>
                </a:lnTo>
                <a:lnTo>
                  <a:pt x="1673171" y="304512"/>
                </a:lnTo>
                <a:lnTo>
                  <a:pt x="1676210" y="308416"/>
                </a:lnTo>
                <a:lnTo>
                  <a:pt x="1769766" y="436597"/>
                </a:lnTo>
                <a:lnTo>
                  <a:pt x="1772371" y="440718"/>
                </a:lnTo>
                <a:lnTo>
                  <a:pt x="1774542" y="444839"/>
                </a:lnTo>
                <a:lnTo>
                  <a:pt x="1776278" y="449177"/>
                </a:lnTo>
                <a:lnTo>
                  <a:pt x="1777581" y="453515"/>
                </a:lnTo>
                <a:lnTo>
                  <a:pt x="1778449" y="458069"/>
                </a:lnTo>
                <a:lnTo>
                  <a:pt x="1778666" y="462624"/>
                </a:lnTo>
                <a:lnTo>
                  <a:pt x="1778666" y="467178"/>
                </a:lnTo>
                <a:lnTo>
                  <a:pt x="1778015" y="471516"/>
                </a:lnTo>
                <a:lnTo>
                  <a:pt x="1777146" y="475854"/>
                </a:lnTo>
                <a:lnTo>
                  <a:pt x="1775844" y="480409"/>
                </a:lnTo>
                <a:lnTo>
                  <a:pt x="1774325" y="484529"/>
                </a:lnTo>
                <a:lnTo>
                  <a:pt x="1771937" y="488651"/>
                </a:lnTo>
                <a:lnTo>
                  <a:pt x="1769332" y="492337"/>
                </a:lnTo>
                <a:lnTo>
                  <a:pt x="1766510" y="496025"/>
                </a:lnTo>
                <a:lnTo>
                  <a:pt x="1763254" y="499278"/>
                </a:lnTo>
                <a:lnTo>
                  <a:pt x="1759564" y="502098"/>
                </a:lnTo>
                <a:lnTo>
                  <a:pt x="1631927" y="594709"/>
                </a:lnTo>
                <a:lnTo>
                  <a:pt x="1637788" y="607072"/>
                </a:lnTo>
                <a:lnTo>
                  <a:pt x="1643866" y="619651"/>
                </a:lnTo>
                <a:lnTo>
                  <a:pt x="1649293" y="632231"/>
                </a:lnTo>
                <a:lnTo>
                  <a:pt x="1654502" y="644810"/>
                </a:lnTo>
                <a:lnTo>
                  <a:pt x="1659712" y="657607"/>
                </a:lnTo>
                <a:lnTo>
                  <a:pt x="1664704" y="670620"/>
                </a:lnTo>
                <a:lnTo>
                  <a:pt x="1669263" y="683634"/>
                </a:lnTo>
                <a:lnTo>
                  <a:pt x="1673605" y="696647"/>
                </a:lnTo>
                <a:lnTo>
                  <a:pt x="1677946" y="710094"/>
                </a:lnTo>
                <a:lnTo>
                  <a:pt x="1681853" y="723541"/>
                </a:lnTo>
                <a:lnTo>
                  <a:pt x="1685760" y="736771"/>
                </a:lnTo>
                <a:lnTo>
                  <a:pt x="1689017" y="750436"/>
                </a:lnTo>
                <a:lnTo>
                  <a:pt x="1692489" y="764099"/>
                </a:lnTo>
                <a:lnTo>
                  <a:pt x="1695311" y="777764"/>
                </a:lnTo>
                <a:lnTo>
                  <a:pt x="1698133" y="791644"/>
                </a:lnTo>
                <a:lnTo>
                  <a:pt x="1700738" y="805525"/>
                </a:lnTo>
                <a:lnTo>
                  <a:pt x="1857896" y="805525"/>
                </a:lnTo>
                <a:lnTo>
                  <a:pt x="1862672" y="805742"/>
                </a:lnTo>
                <a:lnTo>
                  <a:pt x="1867448" y="806609"/>
                </a:lnTo>
                <a:lnTo>
                  <a:pt x="1872006" y="807477"/>
                </a:lnTo>
                <a:lnTo>
                  <a:pt x="1876130" y="809429"/>
                </a:lnTo>
                <a:lnTo>
                  <a:pt x="1880255" y="811164"/>
                </a:lnTo>
                <a:lnTo>
                  <a:pt x="1884161" y="813550"/>
                </a:lnTo>
                <a:lnTo>
                  <a:pt x="1887635" y="816370"/>
                </a:lnTo>
                <a:lnTo>
                  <a:pt x="1891108" y="819406"/>
                </a:lnTo>
                <a:lnTo>
                  <a:pt x="1894147" y="822659"/>
                </a:lnTo>
                <a:lnTo>
                  <a:pt x="1896969" y="826346"/>
                </a:lnTo>
                <a:lnTo>
                  <a:pt x="1899356" y="830250"/>
                </a:lnTo>
                <a:lnTo>
                  <a:pt x="1901310" y="833937"/>
                </a:lnTo>
                <a:lnTo>
                  <a:pt x="1902830" y="838275"/>
                </a:lnTo>
                <a:lnTo>
                  <a:pt x="1903915" y="843047"/>
                </a:lnTo>
                <a:lnTo>
                  <a:pt x="1904566" y="847601"/>
                </a:lnTo>
                <a:lnTo>
                  <a:pt x="1905000" y="852156"/>
                </a:lnTo>
                <a:lnTo>
                  <a:pt x="1905000" y="1011353"/>
                </a:lnTo>
                <a:lnTo>
                  <a:pt x="1904566" y="1015907"/>
                </a:lnTo>
                <a:lnTo>
                  <a:pt x="1904132" y="1020896"/>
                </a:lnTo>
                <a:lnTo>
                  <a:pt x="1902830" y="1025234"/>
                </a:lnTo>
                <a:lnTo>
                  <a:pt x="1901310" y="1029571"/>
                </a:lnTo>
                <a:lnTo>
                  <a:pt x="1899356" y="1033692"/>
                </a:lnTo>
                <a:lnTo>
                  <a:pt x="1896969" y="1037596"/>
                </a:lnTo>
                <a:lnTo>
                  <a:pt x="1894147" y="1041283"/>
                </a:lnTo>
                <a:lnTo>
                  <a:pt x="1891325" y="1044536"/>
                </a:lnTo>
                <a:lnTo>
                  <a:pt x="1887852" y="1047356"/>
                </a:lnTo>
                <a:lnTo>
                  <a:pt x="1884161" y="1050175"/>
                </a:lnTo>
                <a:lnTo>
                  <a:pt x="1880255" y="1052562"/>
                </a:lnTo>
                <a:lnTo>
                  <a:pt x="1876130" y="1054513"/>
                </a:lnTo>
                <a:lnTo>
                  <a:pt x="1872006" y="1056032"/>
                </a:lnTo>
                <a:lnTo>
                  <a:pt x="1867448" y="1057116"/>
                </a:lnTo>
                <a:lnTo>
                  <a:pt x="1862672" y="1057983"/>
                </a:lnTo>
                <a:lnTo>
                  <a:pt x="1858113" y="1058201"/>
                </a:lnTo>
                <a:lnTo>
                  <a:pt x="1700738" y="1058201"/>
                </a:lnTo>
                <a:lnTo>
                  <a:pt x="1698133" y="1072082"/>
                </a:lnTo>
                <a:lnTo>
                  <a:pt x="1695311" y="1085962"/>
                </a:lnTo>
                <a:lnTo>
                  <a:pt x="1692489" y="1099626"/>
                </a:lnTo>
                <a:lnTo>
                  <a:pt x="1689017" y="1113507"/>
                </a:lnTo>
                <a:lnTo>
                  <a:pt x="1685760" y="1126737"/>
                </a:lnTo>
                <a:lnTo>
                  <a:pt x="1681853" y="1140401"/>
                </a:lnTo>
                <a:lnTo>
                  <a:pt x="1677946" y="1153848"/>
                </a:lnTo>
                <a:lnTo>
                  <a:pt x="1673605" y="1166862"/>
                </a:lnTo>
                <a:lnTo>
                  <a:pt x="1669263" y="1180092"/>
                </a:lnTo>
                <a:lnTo>
                  <a:pt x="1664704" y="1193105"/>
                </a:lnTo>
                <a:lnTo>
                  <a:pt x="1659712" y="1205902"/>
                </a:lnTo>
                <a:lnTo>
                  <a:pt x="1654502" y="1218698"/>
                </a:lnTo>
                <a:lnTo>
                  <a:pt x="1649293" y="1231711"/>
                </a:lnTo>
                <a:lnTo>
                  <a:pt x="1643866" y="1244291"/>
                </a:lnTo>
                <a:lnTo>
                  <a:pt x="1637788" y="1256654"/>
                </a:lnTo>
                <a:lnTo>
                  <a:pt x="1631927" y="1269016"/>
                </a:lnTo>
                <a:lnTo>
                  <a:pt x="1759564" y="1361411"/>
                </a:lnTo>
                <a:lnTo>
                  <a:pt x="1763254" y="1364231"/>
                </a:lnTo>
                <a:lnTo>
                  <a:pt x="1766510" y="1367701"/>
                </a:lnTo>
                <a:lnTo>
                  <a:pt x="1769332" y="1371171"/>
                </a:lnTo>
                <a:lnTo>
                  <a:pt x="1771937" y="1375075"/>
                </a:lnTo>
                <a:lnTo>
                  <a:pt x="1774325" y="1379196"/>
                </a:lnTo>
                <a:lnTo>
                  <a:pt x="1775844" y="1383317"/>
                </a:lnTo>
                <a:lnTo>
                  <a:pt x="1777146" y="1387654"/>
                </a:lnTo>
                <a:lnTo>
                  <a:pt x="1778015" y="1391992"/>
                </a:lnTo>
                <a:lnTo>
                  <a:pt x="1778666" y="1396330"/>
                </a:lnTo>
                <a:lnTo>
                  <a:pt x="1778666" y="1401101"/>
                </a:lnTo>
                <a:lnTo>
                  <a:pt x="1778449" y="1405439"/>
                </a:lnTo>
                <a:lnTo>
                  <a:pt x="1777581" y="1409994"/>
                </a:lnTo>
                <a:lnTo>
                  <a:pt x="1776278" y="1414332"/>
                </a:lnTo>
                <a:lnTo>
                  <a:pt x="1774542" y="1418886"/>
                </a:lnTo>
                <a:lnTo>
                  <a:pt x="1772371" y="1422790"/>
                </a:lnTo>
                <a:lnTo>
                  <a:pt x="1769766" y="1426694"/>
                </a:lnTo>
                <a:lnTo>
                  <a:pt x="1676210" y="1555526"/>
                </a:lnTo>
                <a:lnTo>
                  <a:pt x="1673171" y="1559214"/>
                </a:lnTo>
                <a:lnTo>
                  <a:pt x="1670132" y="1562467"/>
                </a:lnTo>
                <a:lnTo>
                  <a:pt x="1666441" y="1565503"/>
                </a:lnTo>
                <a:lnTo>
                  <a:pt x="1662534" y="1567889"/>
                </a:lnTo>
                <a:lnTo>
                  <a:pt x="1658410" y="1570275"/>
                </a:lnTo>
                <a:lnTo>
                  <a:pt x="1654285" y="1572010"/>
                </a:lnTo>
                <a:lnTo>
                  <a:pt x="1649944" y="1573311"/>
                </a:lnTo>
                <a:lnTo>
                  <a:pt x="1645603" y="1573962"/>
                </a:lnTo>
                <a:lnTo>
                  <a:pt x="1641261" y="1574612"/>
                </a:lnTo>
                <a:lnTo>
                  <a:pt x="1636702" y="1574830"/>
                </a:lnTo>
                <a:lnTo>
                  <a:pt x="1632144" y="1574179"/>
                </a:lnTo>
                <a:lnTo>
                  <a:pt x="1627586" y="1573528"/>
                </a:lnTo>
                <a:lnTo>
                  <a:pt x="1623244" y="1572227"/>
                </a:lnTo>
                <a:lnTo>
                  <a:pt x="1618903" y="1570708"/>
                </a:lnTo>
                <a:lnTo>
                  <a:pt x="1614779" y="1568323"/>
                </a:lnTo>
                <a:lnTo>
                  <a:pt x="1610872" y="1565720"/>
                </a:lnTo>
                <a:lnTo>
                  <a:pt x="1483234" y="1473326"/>
                </a:lnTo>
                <a:lnTo>
                  <a:pt x="1473250" y="1483085"/>
                </a:lnTo>
                <a:lnTo>
                  <a:pt x="1463047" y="1492195"/>
                </a:lnTo>
                <a:lnTo>
                  <a:pt x="1452628" y="1501521"/>
                </a:lnTo>
                <a:lnTo>
                  <a:pt x="1442209" y="1510631"/>
                </a:lnTo>
                <a:lnTo>
                  <a:pt x="1431572" y="1519523"/>
                </a:lnTo>
                <a:lnTo>
                  <a:pt x="1420719" y="1527982"/>
                </a:lnTo>
                <a:lnTo>
                  <a:pt x="1409648" y="1536440"/>
                </a:lnTo>
                <a:lnTo>
                  <a:pt x="1398578" y="1544682"/>
                </a:lnTo>
                <a:lnTo>
                  <a:pt x="1387290" y="1552923"/>
                </a:lnTo>
                <a:lnTo>
                  <a:pt x="1375785" y="1560731"/>
                </a:lnTo>
                <a:lnTo>
                  <a:pt x="1364281" y="1568323"/>
                </a:lnTo>
                <a:lnTo>
                  <a:pt x="1352342" y="1575914"/>
                </a:lnTo>
                <a:lnTo>
                  <a:pt x="1340403" y="1583071"/>
                </a:lnTo>
                <a:lnTo>
                  <a:pt x="1328464" y="1590228"/>
                </a:lnTo>
                <a:lnTo>
                  <a:pt x="1316091" y="1596952"/>
                </a:lnTo>
                <a:lnTo>
                  <a:pt x="1303718" y="1603676"/>
                </a:lnTo>
                <a:lnTo>
                  <a:pt x="1352559" y="1753112"/>
                </a:lnTo>
                <a:lnTo>
                  <a:pt x="1353645" y="1757883"/>
                </a:lnTo>
                <a:lnTo>
                  <a:pt x="1354296" y="1762655"/>
                </a:lnTo>
                <a:lnTo>
                  <a:pt x="1354946" y="1767426"/>
                </a:lnTo>
                <a:lnTo>
                  <a:pt x="1354730" y="1771764"/>
                </a:lnTo>
                <a:lnTo>
                  <a:pt x="1354079" y="1776319"/>
                </a:lnTo>
                <a:lnTo>
                  <a:pt x="1353210" y="1780657"/>
                </a:lnTo>
                <a:lnTo>
                  <a:pt x="1351474" y="1784995"/>
                </a:lnTo>
                <a:lnTo>
                  <a:pt x="1349737" y="1789115"/>
                </a:lnTo>
                <a:lnTo>
                  <a:pt x="1347349" y="1793019"/>
                </a:lnTo>
                <a:lnTo>
                  <a:pt x="1344962" y="1796707"/>
                </a:lnTo>
                <a:lnTo>
                  <a:pt x="1342139" y="1799960"/>
                </a:lnTo>
                <a:lnTo>
                  <a:pt x="1338666" y="1803214"/>
                </a:lnTo>
                <a:lnTo>
                  <a:pt x="1335194" y="1806033"/>
                </a:lnTo>
                <a:lnTo>
                  <a:pt x="1331286" y="1808419"/>
                </a:lnTo>
                <a:lnTo>
                  <a:pt x="1326945" y="1810588"/>
                </a:lnTo>
                <a:lnTo>
                  <a:pt x="1322603" y="1812323"/>
                </a:lnTo>
                <a:lnTo>
                  <a:pt x="1171306" y="1861556"/>
                </a:lnTo>
                <a:lnTo>
                  <a:pt x="1166531" y="1862641"/>
                </a:lnTo>
                <a:lnTo>
                  <a:pt x="1161972" y="1863508"/>
                </a:lnTo>
                <a:lnTo>
                  <a:pt x="1157414" y="1863725"/>
                </a:lnTo>
                <a:lnTo>
                  <a:pt x="1152638" y="1863725"/>
                </a:lnTo>
                <a:lnTo>
                  <a:pt x="1148080" y="1862858"/>
                </a:lnTo>
                <a:lnTo>
                  <a:pt x="1143738" y="1861990"/>
                </a:lnTo>
                <a:lnTo>
                  <a:pt x="1139614" y="1860472"/>
                </a:lnTo>
                <a:lnTo>
                  <a:pt x="1135490" y="1858520"/>
                </a:lnTo>
                <a:lnTo>
                  <a:pt x="1131365" y="1856568"/>
                </a:lnTo>
                <a:lnTo>
                  <a:pt x="1127675" y="1853748"/>
                </a:lnTo>
                <a:lnTo>
                  <a:pt x="1124419" y="1850929"/>
                </a:lnTo>
                <a:lnTo>
                  <a:pt x="1121380" y="1847459"/>
                </a:lnTo>
                <a:lnTo>
                  <a:pt x="1118558" y="1843989"/>
                </a:lnTo>
                <a:lnTo>
                  <a:pt x="1115954" y="1840085"/>
                </a:lnTo>
                <a:lnTo>
                  <a:pt x="1113783" y="1835747"/>
                </a:lnTo>
                <a:lnTo>
                  <a:pt x="1112046" y="1831409"/>
                </a:lnTo>
                <a:lnTo>
                  <a:pt x="1063423" y="1681538"/>
                </a:lnTo>
                <a:lnTo>
                  <a:pt x="1049747" y="1683491"/>
                </a:lnTo>
                <a:lnTo>
                  <a:pt x="1036289" y="1685009"/>
                </a:lnTo>
                <a:lnTo>
                  <a:pt x="1022397" y="1686310"/>
                </a:lnTo>
                <a:lnTo>
                  <a:pt x="1008505" y="1687611"/>
                </a:lnTo>
                <a:lnTo>
                  <a:pt x="994612" y="1688479"/>
                </a:lnTo>
                <a:lnTo>
                  <a:pt x="980719" y="1689130"/>
                </a:lnTo>
                <a:lnTo>
                  <a:pt x="966392" y="1689346"/>
                </a:lnTo>
                <a:lnTo>
                  <a:pt x="952500" y="1689780"/>
                </a:lnTo>
                <a:lnTo>
                  <a:pt x="938391" y="1689346"/>
                </a:lnTo>
                <a:lnTo>
                  <a:pt x="924281" y="1689130"/>
                </a:lnTo>
                <a:lnTo>
                  <a:pt x="910389" y="1688479"/>
                </a:lnTo>
                <a:lnTo>
                  <a:pt x="896497" y="1687611"/>
                </a:lnTo>
                <a:lnTo>
                  <a:pt x="882604" y="1686310"/>
                </a:lnTo>
                <a:lnTo>
                  <a:pt x="868929" y="1685009"/>
                </a:lnTo>
                <a:lnTo>
                  <a:pt x="855036" y="1683491"/>
                </a:lnTo>
                <a:lnTo>
                  <a:pt x="841361" y="1681538"/>
                </a:lnTo>
                <a:lnTo>
                  <a:pt x="793172" y="1831409"/>
                </a:lnTo>
                <a:lnTo>
                  <a:pt x="791218" y="1835963"/>
                </a:lnTo>
                <a:lnTo>
                  <a:pt x="789264" y="1840085"/>
                </a:lnTo>
                <a:lnTo>
                  <a:pt x="786660" y="1843989"/>
                </a:lnTo>
                <a:lnTo>
                  <a:pt x="783837" y="1847459"/>
                </a:lnTo>
                <a:lnTo>
                  <a:pt x="780798" y="1850929"/>
                </a:lnTo>
                <a:lnTo>
                  <a:pt x="777108" y="1853748"/>
                </a:lnTo>
                <a:lnTo>
                  <a:pt x="773635" y="1856568"/>
                </a:lnTo>
                <a:lnTo>
                  <a:pt x="769728" y="1858520"/>
                </a:lnTo>
                <a:lnTo>
                  <a:pt x="765604" y="1860472"/>
                </a:lnTo>
                <a:lnTo>
                  <a:pt x="761262" y="1861990"/>
                </a:lnTo>
                <a:lnTo>
                  <a:pt x="756921" y="1862858"/>
                </a:lnTo>
                <a:lnTo>
                  <a:pt x="752145" y="1863725"/>
                </a:lnTo>
                <a:lnTo>
                  <a:pt x="747804" y="1863725"/>
                </a:lnTo>
                <a:lnTo>
                  <a:pt x="743246" y="1863508"/>
                </a:lnTo>
                <a:lnTo>
                  <a:pt x="738470" y="1862641"/>
                </a:lnTo>
                <a:lnTo>
                  <a:pt x="733694" y="1861340"/>
                </a:lnTo>
                <a:lnTo>
                  <a:pt x="582614" y="1812323"/>
                </a:lnTo>
                <a:lnTo>
                  <a:pt x="578056" y="1810588"/>
                </a:lnTo>
                <a:lnTo>
                  <a:pt x="573931" y="1808419"/>
                </a:lnTo>
                <a:lnTo>
                  <a:pt x="570024" y="1806033"/>
                </a:lnTo>
                <a:lnTo>
                  <a:pt x="566551" y="1803214"/>
                </a:lnTo>
                <a:lnTo>
                  <a:pt x="563078" y="1799960"/>
                </a:lnTo>
                <a:lnTo>
                  <a:pt x="560039" y="1796707"/>
                </a:lnTo>
                <a:lnTo>
                  <a:pt x="557434" y="1793019"/>
                </a:lnTo>
                <a:lnTo>
                  <a:pt x="555481" y="1789115"/>
                </a:lnTo>
                <a:lnTo>
                  <a:pt x="553310" y="1784995"/>
                </a:lnTo>
                <a:lnTo>
                  <a:pt x="552007" y="1780657"/>
                </a:lnTo>
                <a:lnTo>
                  <a:pt x="550922" y="1776319"/>
                </a:lnTo>
                <a:lnTo>
                  <a:pt x="550271" y="1771764"/>
                </a:lnTo>
                <a:lnTo>
                  <a:pt x="550271" y="1767426"/>
                </a:lnTo>
                <a:lnTo>
                  <a:pt x="550488" y="1762655"/>
                </a:lnTo>
                <a:lnTo>
                  <a:pt x="551356" y="1757883"/>
                </a:lnTo>
                <a:lnTo>
                  <a:pt x="552224" y="1753112"/>
                </a:lnTo>
                <a:lnTo>
                  <a:pt x="601282" y="1603676"/>
                </a:lnTo>
                <a:lnTo>
                  <a:pt x="588909" y="1596952"/>
                </a:lnTo>
                <a:lnTo>
                  <a:pt x="576753" y="1590228"/>
                </a:lnTo>
                <a:lnTo>
                  <a:pt x="564597" y="1583071"/>
                </a:lnTo>
                <a:lnTo>
                  <a:pt x="552658" y="1575914"/>
                </a:lnTo>
                <a:lnTo>
                  <a:pt x="540936" y="1568323"/>
                </a:lnTo>
                <a:lnTo>
                  <a:pt x="529215" y="1560731"/>
                </a:lnTo>
                <a:lnTo>
                  <a:pt x="517927" y="1552923"/>
                </a:lnTo>
                <a:lnTo>
                  <a:pt x="506423" y="1544682"/>
                </a:lnTo>
                <a:lnTo>
                  <a:pt x="495135" y="1536440"/>
                </a:lnTo>
                <a:lnTo>
                  <a:pt x="484281" y="1527982"/>
                </a:lnTo>
                <a:lnTo>
                  <a:pt x="473428" y="1519306"/>
                </a:lnTo>
                <a:lnTo>
                  <a:pt x="462791" y="1510631"/>
                </a:lnTo>
                <a:lnTo>
                  <a:pt x="452155" y="1501521"/>
                </a:lnTo>
                <a:lnTo>
                  <a:pt x="441953" y="1492195"/>
                </a:lnTo>
                <a:lnTo>
                  <a:pt x="431751" y="1482869"/>
                </a:lnTo>
                <a:lnTo>
                  <a:pt x="421549" y="1473108"/>
                </a:lnTo>
                <a:lnTo>
                  <a:pt x="294346" y="1565720"/>
                </a:lnTo>
                <a:lnTo>
                  <a:pt x="290222" y="1568323"/>
                </a:lnTo>
                <a:lnTo>
                  <a:pt x="286097" y="1570708"/>
                </a:lnTo>
                <a:lnTo>
                  <a:pt x="281756" y="1572227"/>
                </a:lnTo>
                <a:lnTo>
                  <a:pt x="277197" y="1573528"/>
                </a:lnTo>
                <a:lnTo>
                  <a:pt x="272856" y="1574179"/>
                </a:lnTo>
                <a:lnTo>
                  <a:pt x="268298" y="1574830"/>
                </a:lnTo>
                <a:lnTo>
                  <a:pt x="263739" y="1574830"/>
                </a:lnTo>
                <a:lnTo>
                  <a:pt x="259397" y="1574179"/>
                </a:lnTo>
                <a:lnTo>
                  <a:pt x="254839" y="1573311"/>
                </a:lnTo>
                <a:lnTo>
                  <a:pt x="250498" y="1572010"/>
                </a:lnTo>
                <a:lnTo>
                  <a:pt x="246374" y="1570275"/>
                </a:lnTo>
                <a:lnTo>
                  <a:pt x="242249" y="1568106"/>
                </a:lnTo>
                <a:lnTo>
                  <a:pt x="238776" y="1565503"/>
                </a:lnTo>
                <a:lnTo>
                  <a:pt x="235086" y="1562467"/>
                </a:lnTo>
                <a:lnTo>
                  <a:pt x="231829" y="1559214"/>
                </a:lnTo>
                <a:lnTo>
                  <a:pt x="228791" y="1555526"/>
                </a:lnTo>
                <a:lnTo>
                  <a:pt x="135017" y="1426694"/>
                </a:lnTo>
                <a:lnTo>
                  <a:pt x="132412" y="1422790"/>
                </a:lnTo>
                <a:lnTo>
                  <a:pt x="130458" y="1418886"/>
                </a:lnTo>
                <a:lnTo>
                  <a:pt x="128722" y="1414332"/>
                </a:lnTo>
                <a:lnTo>
                  <a:pt x="127419" y="1409994"/>
                </a:lnTo>
                <a:lnTo>
                  <a:pt x="126551" y="1405439"/>
                </a:lnTo>
                <a:lnTo>
                  <a:pt x="126334" y="1401101"/>
                </a:lnTo>
                <a:lnTo>
                  <a:pt x="126334" y="1396330"/>
                </a:lnTo>
                <a:lnTo>
                  <a:pt x="126768" y="1391992"/>
                </a:lnTo>
                <a:lnTo>
                  <a:pt x="127853" y="1387654"/>
                </a:lnTo>
                <a:lnTo>
                  <a:pt x="129156" y="1383317"/>
                </a:lnTo>
                <a:lnTo>
                  <a:pt x="130893" y="1379196"/>
                </a:lnTo>
                <a:lnTo>
                  <a:pt x="133063" y="1375075"/>
                </a:lnTo>
                <a:lnTo>
                  <a:pt x="135668" y="1371171"/>
                </a:lnTo>
                <a:lnTo>
                  <a:pt x="138490" y="1367701"/>
                </a:lnTo>
                <a:lnTo>
                  <a:pt x="141746" y="1364447"/>
                </a:lnTo>
                <a:lnTo>
                  <a:pt x="145653" y="1361411"/>
                </a:lnTo>
                <a:lnTo>
                  <a:pt x="272856" y="1269016"/>
                </a:lnTo>
                <a:lnTo>
                  <a:pt x="266995" y="1256654"/>
                </a:lnTo>
                <a:lnTo>
                  <a:pt x="261351" y="1244074"/>
                </a:lnTo>
                <a:lnTo>
                  <a:pt x="255707" y="1231711"/>
                </a:lnTo>
                <a:lnTo>
                  <a:pt x="250281" y="1218698"/>
                </a:lnTo>
                <a:lnTo>
                  <a:pt x="245071" y="1205902"/>
                </a:lnTo>
                <a:lnTo>
                  <a:pt x="240295" y="1193105"/>
                </a:lnTo>
                <a:lnTo>
                  <a:pt x="235737" y="1180092"/>
                </a:lnTo>
                <a:lnTo>
                  <a:pt x="231178" y="1166862"/>
                </a:lnTo>
                <a:lnTo>
                  <a:pt x="227054" y="1153848"/>
                </a:lnTo>
                <a:lnTo>
                  <a:pt x="222930" y="1140401"/>
                </a:lnTo>
                <a:lnTo>
                  <a:pt x="219457" y="1126737"/>
                </a:lnTo>
                <a:lnTo>
                  <a:pt x="215767" y="1113507"/>
                </a:lnTo>
                <a:lnTo>
                  <a:pt x="212728" y="1099626"/>
                </a:lnTo>
                <a:lnTo>
                  <a:pt x="209689" y="1085962"/>
                </a:lnTo>
                <a:lnTo>
                  <a:pt x="207084" y="1072082"/>
                </a:lnTo>
                <a:lnTo>
                  <a:pt x="204479" y="1058201"/>
                </a:lnTo>
                <a:lnTo>
                  <a:pt x="47104" y="1058201"/>
                </a:lnTo>
                <a:lnTo>
                  <a:pt x="42111" y="1057983"/>
                </a:lnTo>
                <a:lnTo>
                  <a:pt x="37552" y="1057116"/>
                </a:lnTo>
                <a:lnTo>
                  <a:pt x="32994" y="1056032"/>
                </a:lnTo>
                <a:lnTo>
                  <a:pt x="28653" y="1054513"/>
                </a:lnTo>
                <a:lnTo>
                  <a:pt x="24745" y="1052562"/>
                </a:lnTo>
                <a:lnTo>
                  <a:pt x="20839" y="1050175"/>
                </a:lnTo>
                <a:lnTo>
                  <a:pt x="16931" y="1047356"/>
                </a:lnTo>
                <a:lnTo>
                  <a:pt x="13892" y="1044536"/>
                </a:lnTo>
                <a:lnTo>
                  <a:pt x="10853" y="1041283"/>
                </a:lnTo>
                <a:lnTo>
                  <a:pt x="8032" y="1037596"/>
                </a:lnTo>
                <a:lnTo>
                  <a:pt x="5644" y="1033692"/>
                </a:lnTo>
                <a:lnTo>
                  <a:pt x="3690" y="1029571"/>
                </a:lnTo>
                <a:lnTo>
                  <a:pt x="1954" y="1025234"/>
                </a:lnTo>
                <a:lnTo>
                  <a:pt x="1085" y="1020896"/>
                </a:lnTo>
                <a:lnTo>
                  <a:pt x="217" y="1015907"/>
                </a:lnTo>
                <a:lnTo>
                  <a:pt x="0" y="1011353"/>
                </a:lnTo>
                <a:lnTo>
                  <a:pt x="0" y="852156"/>
                </a:lnTo>
                <a:lnTo>
                  <a:pt x="217" y="847601"/>
                </a:lnTo>
                <a:lnTo>
                  <a:pt x="1085" y="843047"/>
                </a:lnTo>
                <a:lnTo>
                  <a:pt x="1954" y="838275"/>
                </a:lnTo>
                <a:lnTo>
                  <a:pt x="3690" y="833937"/>
                </a:lnTo>
                <a:lnTo>
                  <a:pt x="5644" y="830250"/>
                </a:lnTo>
                <a:lnTo>
                  <a:pt x="8032" y="826346"/>
                </a:lnTo>
                <a:lnTo>
                  <a:pt x="10853" y="822659"/>
                </a:lnTo>
                <a:lnTo>
                  <a:pt x="13892" y="819406"/>
                </a:lnTo>
                <a:lnTo>
                  <a:pt x="16931" y="816370"/>
                </a:lnTo>
                <a:lnTo>
                  <a:pt x="20839" y="813550"/>
                </a:lnTo>
                <a:lnTo>
                  <a:pt x="24745" y="811164"/>
                </a:lnTo>
                <a:lnTo>
                  <a:pt x="28653" y="809429"/>
                </a:lnTo>
                <a:lnTo>
                  <a:pt x="32994" y="807477"/>
                </a:lnTo>
                <a:lnTo>
                  <a:pt x="37552" y="806609"/>
                </a:lnTo>
                <a:lnTo>
                  <a:pt x="42111" y="805742"/>
                </a:lnTo>
                <a:lnTo>
                  <a:pt x="47104" y="805525"/>
                </a:lnTo>
                <a:lnTo>
                  <a:pt x="204479" y="805525"/>
                </a:lnTo>
                <a:lnTo>
                  <a:pt x="207084" y="791644"/>
                </a:lnTo>
                <a:lnTo>
                  <a:pt x="209689" y="777764"/>
                </a:lnTo>
                <a:lnTo>
                  <a:pt x="212728" y="764099"/>
                </a:lnTo>
                <a:lnTo>
                  <a:pt x="215767" y="750436"/>
                </a:lnTo>
                <a:lnTo>
                  <a:pt x="219457" y="736771"/>
                </a:lnTo>
                <a:lnTo>
                  <a:pt x="222930" y="723324"/>
                </a:lnTo>
                <a:lnTo>
                  <a:pt x="227054" y="709877"/>
                </a:lnTo>
                <a:lnTo>
                  <a:pt x="231178" y="696647"/>
                </a:lnTo>
                <a:lnTo>
                  <a:pt x="235737" y="683634"/>
                </a:lnTo>
                <a:lnTo>
                  <a:pt x="240295" y="670620"/>
                </a:lnTo>
                <a:lnTo>
                  <a:pt x="245071" y="657607"/>
                </a:lnTo>
                <a:lnTo>
                  <a:pt x="250281" y="644810"/>
                </a:lnTo>
                <a:lnTo>
                  <a:pt x="255707" y="632014"/>
                </a:lnTo>
                <a:lnTo>
                  <a:pt x="261351" y="619434"/>
                </a:lnTo>
                <a:lnTo>
                  <a:pt x="266995" y="607072"/>
                </a:lnTo>
                <a:lnTo>
                  <a:pt x="272856" y="594709"/>
                </a:lnTo>
                <a:lnTo>
                  <a:pt x="145653" y="502098"/>
                </a:lnTo>
                <a:lnTo>
                  <a:pt x="141746" y="499061"/>
                </a:lnTo>
                <a:lnTo>
                  <a:pt x="138490" y="495808"/>
                </a:lnTo>
                <a:lnTo>
                  <a:pt x="135668" y="492337"/>
                </a:lnTo>
                <a:lnTo>
                  <a:pt x="133063" y="488651"/>
                </a:lnTo>
                <a:lnTo>
                  <a:pt x="130893" y="484529"/>
                </a:lnTo>
                <a:lnTo>
                  <a:pt x="129156" y="480409"/>
                </a:lnTo>
                <a:lnTo>
                  <a:pt x="127853" y="475854"/>
                </a:lnTo>
                <a:lnTo>
                  <a:pt x="126768" y="471516"/>
                </a:lnTo>
                <a:lnTo>
                  <a:pt x="126334" y="467178"/>
                </a:lnTo>
                <a:lnTo>
                  <a:pt x="126334" y="462624"/>
                </a:lnTo>
                <a:lnTo>
                  <a:pt x="126551" y="458069"/>
                </a:lnTo>
                <a:lnTo>
                  <a:pt x="127419" y="453515"/>
                </a:lnTo>
                <a:lnTo>
                  <a:pt x="128722" y="449177"/>
                </a:lnTo>
                <a:lnTo>
                  <a:pt x="130458" y="444839"/>
                </a:lnTo>
                <a:lnTo>
                  <a:pt x="132412" y="440718"/>
                </a:lnTo>
                <a:lnTo>
                  <a:pt x="135017" y="436597"/>
                </a:lnTo>
                <a:lnTo>
                  <a:pt x="228791" y="308416"/>
                </a:lnTo>
                <a:lnTo>
                  <a:pt x="231829" y="304512"/>
                </a:lnTo>
                <a:lnTo>
                  <a:pt x="235086" y="301259"/>
                </a:lnTo>
                <a:lnTo>
                  <a:pt x="238776" y="298005"/>
                </a:lnTo>
                <a:lnTo>
                  <a:pt x="242249" y="295619"/>
                </a:lnTo>
                <a:lnTo>
                  <a:pt x="246374" y="293451"/>
                </a:lnTo>
                <a:lnTo>
                  <a:pt x="250498" y="291715"/>
                </a:lnTo>
                <a:lnTo>
                  <a:pt x="254839" y="290414"/>
                </a:lnTo>
                <a:lnTo>
                  <a:pt x="259397" y="289330"/>
                </a:lnTo>
                <a:lnTo>
                  <a:pt x="263739" y="288896"/>
                </a:lnTo>
                <a:lnTo>
                  <a:pt x="268298" y="288896"/>
                </a:lnTo>
                <a:lnTo>
                  <a:pt x="272856" y="289330"/>
                </a:lnTo>
                <a:lnTo>
                  <a:pt x="277197" y="290197"/>
                </a:lnTo>
                <a:lnTo>
                  <a:pt x="281756" y="291499"/>
                </a:lnTo>
                <a:lnTo>
                  <a:pt x="286097" y="293017"/>
                </a:lnTo>
                <a:lnTo>
                  <a:pt x="290222" y="295186"/>
                </a:lnTo>
                <a:lnTo>
                  <a:pt x="294346" y="297788"/>
                </a:lnTo>
                <a:lnTo>
                  <a:pt x="421549" y="390400"/>
                </a:lnTo>
                <a:lnTo>
                  <a:pt x="431751" y="380857"/>
                </a:lnTo>
                <a:lnTo>
                  <a:pt x="441953" y="371314"/>
                </a:lnTo>
                <a:lnTo>
                  <a:pt x="452155" y="361988"/>
                </a:lnTo>
                <a:lnTo>
                  <a:pt x="462791" y="353095"/>
                </a:lnTo>
                <a:lnTo>
                  <a:pt x="473645" y="344203"/>
                </a:lnTo>
                <a:lnTo>
                  <a:pt x="484281" y="335527"/>
                </a:lnTo>
                <a:lnTo>
                  <a:pt x="495135" y="327068"/>
                </a:lnTo>
                <a:lnTo>
                  <a:pt x="506423" y="318827"/>
                </a:lnTo>
                <a:lnTo>
                  <a:pt x="517927" y="310585"/>
                </a:lnTo>
                <a:lnTo>
                  <a:pt x="529215" y="302994"/>
                </a:lnTo>
                <a:lnTo>
                  <a:pt x="540936" y="295186"/>
                </a:lnTo>
                <a:lnTo>
                  <a:pt x="552658" y="287811"/>
                </a:lnTo>
                <a:lnTo>
                  <a:pt x="564597" y="280654"/>
                </a:lnTo>
                <a:lnTo>
                  <a:pt x="576753" y="273497"/>
                </a:lnTo>
                <a:lnTo>
                  <a:pt x="588909" y="266773"/>
                </a:lnTo>
                <a:lnTo>
                  <a:pt x="601282" y="260050"/>
                </a:lnTo>
                <a:lnTo>
                  <a:pt x="552224" y="110396"/>
                </a:lnTo>
                <a:lnTo>
                  <a:pt x="550922" y="105842"/>
                </a:lnTo>
                <a:lnTo>
                  <a:pt x="550488" y="100853"/>
                </a:lnTo>
                <a:lnTo>
                  <a:pt x="550053" y="96299"/>
                </a:lnTo>
                <a:lnTo>
                  <a:pt x="550271" y="91961"/>
                </a:lnTo>
                <a:lnTo>
                  <a:pt x="550704" y="87406"/>
                </a:lnTo>
                <a:lnTo>
                  <a:pt x="552007" y="82852"/>
                </a:lnTo>
                <a:lnTo>
                  <a:pt x="553310" y="78514"/>
                </a:lnTo>
                <a:lnTo>
                  <a:pt x="555046" y="74826"/>
                </a:lnTo>
                <a:lnTo>
                  <a:pt x="557434" y="70706"/>
                </a:lnTo>
                <a:lnTo>
                  <a:pt x="560039" y="67018"/>
                </a:lnTo>
                <a:lnTo>
                  <a:pt x="563078" y="63765"/>
                </a:lnTo>
                <a:lnTo>
                  <a:pt x="566551" y="60512"/>
                </a:lnTo>
                <a:lnTo>
                  <a:pt x="570024" y="57693"/>
                </a:lnTo>
                <a:lnTo>
                  <a:pt x="573931" y="55090"/>
                </a:lnTo>
                <a:lnTo>
                  <a:pt x="578056" y="53137"/>
                </a:lnTo>
                <a:lnTo>
                  <a:pt x="582614" y="51402"/>
                </a:lnTo>
                <a:lnTo>
                  <a:pt x="733912" y="1952"/>
                </a:lnTo>
                <a:lnTo>
                  <a:pt x="738470" y="868"/>
                </a:lnTo>
                <a:lnTo>
                  <a:pt x="743246" y="216"/>
                </a:lnTo>
              </a:path>
            </a:pathLst>
          </a:custGeom>
          <a:solidFill>
            <a:schemeClr val="accent4">
              <a:alpha val="100000"/>
            </a:schemeClr>
          </a:solidFill>
        </p:spPr>
      </p:sp>
      <p:sp>
        <p:nvSpPr>
          <p:cNvPr id="12" name="Freeform 12"/>
          <p:cNvSpPr/>
          <p:nvPr/>
        </p:nvSpPr>
        <p:spPr>
          <a:xfrm>
            <a:off x="5302399" y="2225236"/>
            <a:ext cx="1621384" cy="1586253"/>
          </a:xfrm>
          <a:custGeom>
            <a:avLst/>
            <a:gdLst/>
            <a:ahLst/>
            <a:cxnLst/>
            <a:rect l="l" t="t" r="r" b="b"/>
            <a:pathLst>
              <a:path w="1905000" h="1863725">
                <a:moveTo>
                  <a:pt x="952500" y="355818"/>
                </a:moveTo>
                <a:cubicBezTo>
                  <a:pt x="634360" y="355818"/>
                  <a:pt x="376456" y="613722"/>
                  <a:pt x="376456" y="931862"/>
                </a:cubicBezTo>
                <a:cubicBezTo>
                  <a:pt x="376456" y="1250002"/>
                  <a:pt x="634360" y="1507906"/>
                  <a:pt x="952500" y="1507906"/>
                </a:cubicBezTo>
                <a:cubicBezTo>
                  <a:pt x="1270640" y="1507906"/>
                  <a:pt x="1528544" y="1250002"/>
                  <a:pt x="1528544" y="931862"/>
                </a:cubicBezTo>
                <a:cubicBezTo>
                  <a:pt x="1528544" y="613722"/>
                  <a:pt x="1270640" y="355818"/>
                  <a:pt x="952500" y="355818"/>
                </a:cubicBezTo>
                <a:close/>
              </a:path>
              <a:path w="1905000" h="1863725">
                <a:moveTo>
                  <a:pt x="747804" y="0"/>
                </a:moveTo>
                <a:lnTo>
                  <a:pt x="752363" y="0"/>
                </a:lnTo>
                <a:lnTo>
                  <a:pt x="756921" y="650"/>
                </a:lnTo>
                <a:lnTo>
                  <a:pt x="761262" y="1735"/>
                </a:lnTo>
                <a:lnTo>
                  <a:pt x="765604" y="3253"/>
                </a:lnTo>
                <a:lnTo>
                  <a:pt x="769728" y="4988"/>
                </a:lnTo>
                <a:lnTo>
                  <a:pt x="773635" y="7374"/>
                </a:lnTo>
                <a:lnTo>
                  <a:pt x="777108" y="9977"/>
                </a:lnTo>
                <a:lnTo>
                  <a:pt x="780798" y="12796"/>
                </a:lnTo>
                <a:lnTo>
                  <a:pt x="783837" y="16050"/>
                </a:lnTo>
                <a:lnTo>
                  <a:pt x="786660" y="19736"/>
                </a:lnTo>
                <a:lnTo>
                  <a:pt x="789264" y="23640"/>
                </a:lnTo>
                <a:lnTo>
                  <a:pt x="791218" y="27978"/>
                </a:lnTo>
                <a:lnTo>
                  <a:pt x="793172" y="32316"/>
                </a:lnTo>
                <a:lnTo>
                  <a:pt x="841361" y="181970"/>
                </a:lnTo>
                <a:lnTo>
                  <a:pt x="855036" y="180018"/>
                </a:lnTo>
                <a:lnTo>
                  <a:pt x="868929" y="178499"/>
                </a:lnTo>
                <a:lnTo>
                  <a:pt x="882604" y="176981"/>
                </a:lnTo>
                <a:lnTo>
                  <a:pt x="896497" y="175897"/>
                </a:lnTo>
                <a:lnTo>
                  <a:pt x="910389" y="175029"/>
                </a:lnTo>
                <a:lnTo>
                  <a:pt x="924281" y="174378"/>
                </a:lnTo>
                <a:lnTo>
                  <a:pt x="938391" y="173945"/>
                </a:lnTo>
                <a:lnTo>
                  <a:pt x="952500" y="173945"/>
                </a:lnTo>
                <a:lnTo>
                  <a:pt x="966392" y="173945"/>
                </a:lnTo>
                <a:lnTo>
                  <a:pt x="980719" y="174378"/>
                </a:lnTo>
                <a:lnTo>
                  <a:pt x="994612" y="175029"/>
                </a:lnTo>
                <a:lnTo>
                  <a:pt x="1008505" y="175897"/>
                </a:lnTo>
                <a:lnTo>
                  <a:pt x="1022397" y="176981"/>
                </a:lnTo>
                <a:lnTo>
                  <a:pt x="1035855" y="178499"/>
                </a:lnTo>
                <a:lnTo>
                  <a:pt x="1049747" y="180018"/>
                </a:lnTo>
                <a:lnTo>
                  <a:pt x="1063423" y="181970"/>
                </a:lnTo>
                <a:lnTo>
                  <a:pt x="1112046" y="32316"/>
                </a:lnTo>
                <a:lnTo>
                  <a:pt x="1113783" y="27762"/>
                </a:lnTo>
                <a:lnTo>
                  <a:pt x="1115954" y="23640"/>
                </a:lnTo>
                <a:lnTo>
                  <a:pt x="1118558" y="19736"/>
                </a:lnTo>
                <a:lnTo>
                  <a:pt x="1121380" y="16050"/>
                </a:lnTo>
                <a:lnTo>
                  <a:pt x="1124419" y="12796"/>
                </a:lnTo>
                <a:lnTo>
                  <a:pt x="1127675" y="9977"/>
                </a:lnTo>
                <a:lnTo>
                  <a:pt x="1131582" y="7157"/>
                </a:lnTo>
                <a:lnTo>
                  <a:pt x="1135490" y="4988"/>
                </a:lnTo>
                <a:lnTo>
                  <a:pt x="1139614" y="3253"/>
                </a:lnTo>
                <a:lnTo>
                  <a:pt x="1143738" y="1735"/>
                </a:lnTo>
                <a:lnTo>
                  <a:pt x="1148080" y="650"/>
                </a:lnTo>
                <a:lnTo>
                  <a:pt x="1152638" y="0"/>
                </a:lnTo>
                <a:lnTo>
                  <a:pt x="1157414" y="0"/>
                </a:lnTo>
                <a:lnTo>
                  <a:pt x="1161972" y="216"/>
                </a:lnTo>
                <a:lnTo>
                  <a:pt x="1166531" y="868"/>
                </a:lnTo>
                <a:lnTo>
                  <a:pt x="1171306" y="1952"/>
                </a:lnTo>
                <a:lnTo>
                  <a:pt x="1322169" y="51402"/>
                </a:lnTo>
                <a:lnTo>
                  <a:pt x="1326945" y="52921"/>
                </a:lnTo>
                <a:lnTo>
                  <a:pt x="1331069" y="55090"/>
                </a:lnTo>
                <a:lnTo>
                  <a:pt x="1335194" y="57475"/>
                </a:lnTo>
                <a:lnTo>
                  <a:pt x="1338666" y="60295"/>
                </a:lnTo>
                <a:lnTo>
                  <a:pt x="1342139" y="63765"/>
                </a:lnTo>
                <a:lnTo>
                  <a:pt x="1344962" y="67018"/>
                </a:lnTo>
                <a:lnTo>
                  <a:pt x="1347349" y="70706"/>
                </a:lnTo>
                <a:lnTo>
                  <a:pt x="1349737" y="74392"/>
                </a:lnTo>
                <a:lnTo>
                  <a:pt x="1351474" y="78514"/>
                </a:lnTo>
                <a:lnTo>
                  <a:pt x="1353210" y="82852"/>
                </a:lnTo>
                <a:lnTo>
                  <a:pt x="1354079" y="87406"/>
                </a:lnTo>
                <a:lnTo>
                  <a:pt x="1354730" y="91961"/>
                </a:lnTo>
                <a:lnTo>
                  <a:pt x="1354946" y="96515"/>
                </a:lnTo>
                <a:lnTo>
                  <a:pt x="1354296" y="101287"/>
                </a:lnTo>
                <a:lnTo>
                  <a:pt x="1353645" y="105842"/>
                </a:lnTo>
                <a:lnTo>
                  <a:pt x="1352559" y="110396"/>
                </a:lnTo>
                <a:lnTo>
                  <a:pt x="1303718" y="260050"/>
                </a:lnTo>
                <a:lnTo>
                  <a:pt x="1316091" y="266773"/>
                </a:lnTo>
                <a:lnTo>
                  <a:pt x="1328464" y="273497"/>
                </a:lnTo>
                <a:lnTo>
                  <a:pt x="1340403" y="280654"/>
                </a:lnTo>
                <a:lnTo>
                  <a:pt x="1352342" y="287811"/>
                </a:lnTo>
                <a:lnTo>
                  <a:pt x="1364281" y="295186"/>
                </a:lnTo>
                <a:lnTo>
                  <a:pt x="1375785" y="302994"/>
                </a:lnTo>
                <a:lnTo>
                  <a:pt x="1387073" y="310585"/>
                </a:lnTo>
                <a:lnTo>
                  <a:pt x="1398578" y="318827"/>
                </a:lnTo>
                <a:lnTo>
                  <a:pt x="1409648" y="327068"/>
                </a:lnTo>
                <a:lnTo>
                  <a:pt x="1420719" y="335527"/>
                </a:lnTo>
                <a:lnTo>
                  <a:pt x="1431572" y="344203"/>
                </a:lnTo>
                <a:lnTo>
                  <a:pt x="1442209" y="353095"/>
                </a:lnTo>
                <a:lnTo>
                  <a:pt x="1452628" y="361988"/>
                </a:lnTo>
                <a:lnTo>
                  <a:pt x="1463047" y="371314"/>
                </a:lnTo>
                <a:lnTo>
                  <a:pt x="1473250" y="380857"/>
                </a:lnTo>
                <a:lnTo>
                  <a:pt x="1483234" y="390400"/>
                </a:lnTo>
                <a:lnTo>
                  <a:pt x="1610872" y="297788"/>
                </a:lnTo>
                <a:lnTo>
                  <a:pt x="1614779" y="295186"/>
                </a:lnTo>
                <a:lnTo>
                  <a:pt x="1619120" y="293017"/>
                </a:lnTo>
                <a:lnTo>
                  <a:pt x="1623244" y="291499"/>
                </a:lnTo>
                <a:lnTo>
                  <a:pt x="1627803" y="290197"/>
                </a:lnTo>
                <a:lnTo>
                  <a:pt x="1632144" y="289330"/>
                </a:lnTo>
                <a:lnTo>
                  <a:pt x="1636702" y="288896"/>
                </a:lnTo>
                <a:lnTo>
                  <a:pt x="1641261" y="288896"/>
                </a:lnTo>
                <a:lnTo>
                  <a:pt x="1645603" y="289330"/>
                </a:lnTo>
                <a:lnTo>
                  <a:pt x="1649944" y="290414"/>
                </a:lnTo>
                <a:lnTo>
                  <a:pt x="1654285" y="291715"/>
                </a:lnTo>
                <a:lnTo>
                  <a:pt x="1658410" y="293451"/>
                </a:lnTo>
                <a:lnTo>
                  <a:pt x="1662534" y="295619"/>
                </a:lnTo>
                <a:lnTo>
                  <a:pt x="1666441" y="298005"/>
                </a:lnTo>
                <a:lnTo>
                  <a:pt x="1670132" y="301259"/>
                </a:lnTo>
                <a:lnTo>
                  <a:pt x="1673171" y="304512"/>
                </a:lnTo>
                <a:lnTo>
                  <a:pt x="1676210" y="308416"/>
                </a:lnTo>
                <a:lnTo>
                  <a:pt x="1769766" y="436597"/>
                </a:lnTo>
                <a:lnTo>
                  <a:pt x="1772371" y="440718"/>
                </a:lnTo>
                <a:lnTo>
                  <a:pt x="1774542" y="444839"/>
                </a:lnTo>
                <a:lnTo>
                  <a:pt x="1776278" y="449177"/>
                </a:lnTo>
                <a:lnTo>
                  <a:pt x="1777581" y="453515"/>
                </a:lnTo>
                <a:lnTo>
                  <a:pt x="1778449" y="458069"/>
                </a:lnTo>
                <a:lnTo>
                  <a:pt x="1778666" y="462624"/>
                </a:lnTo>
                <a:lnTo>
                  <a:pt x="1778666" y="467178"/>
                </a:lnTo>
                <a:lnTo>
                  <a:pt x="1778015" y="471516"/>
                </a:lnTo>
                <a:lnTo>
                  <a:pt x="1777146" y="475854"/>
                </a:lnTo>
                <a:lnTo>
                  <a:pt x="1775844" y="480409"/>
                </a:lnTo>
                <a:lnTo>
                  <a:pt x="1774325" y="484529"/>
                </a:lnTo>
                <a:lnTo>
                  <a:pt x="1771937" y="488651"/>
                </a:lnTo>
                <a:lnTo>
                  <a:pt x="1769332" y="492337"/>
                </a:lnTo>
                <a:lnTo>
                  <a:pt x="1766510" y="496025"/>
                </a:lnTo>
                <a:lnTo>
                  <a:pt x="1763254" y="499278"/>
                </a:lnTo>
                <a:lnTo>
                  <a:pt x="1759564" y="502098"/>
                </a:lnTo>
                <a:lnTo>
                  <a:pt x="1631927" y="594709"/>
                </a:lnTo>
                <a:lnTo>
                  <a:pt x="1637788" y="607072"/>
                </a:lnTo>
                <a:lnTo>
                  <a:pt x="1643866" y="619651"/>
                </a:lnTo>
                <a:lnTo>
                  <a:pt x="1649293" y="632231"/>
                </a:lnTo>
                <a:lnTo>
                  <a:pt x="1654502" y="644810"/>
                </a:lnTo>
                <a:lnTo>
                  <a:pt x="1659712" y="657607"/>
                </a:lnTo>
                <a:lnTo>
                  <a:pt x="1664704" y="670620"/>
                </a:lnTo>
                <a:lnTo>
                  <a:pt x="1669263" y="683634"/>
                </a:lnTo>
                <a:lnTo>
                  <a:pt x="1673605" y="696647"/>
                </a:lnTo>
                <a:lnTo>
                  <a:pt x="1677946" y="710094"/>
                </a:lnTo>
                <a:lnTo>
                  <a:pt x="1681853" y="723541"/>
                </a:lnTo>
                <a:lnTo>
                  <a:pt x="1685760" y="736771"/>
                </a:lnTo>
                <a:lnTo>
                  <a:pt x="1689017" y="750436"/>
                </a:lnTo>
                <a:lnTo>
                  <a:pt x="1692489" y="764099"/>
                </a:lnTo>
                <a:lnTo>
                  <a:pt x="1695311" y="777764"/>
                </a:lnTo>
                <a:lnTo>
                  <a:pt x="1698133" y="791644"/>
                </a:lnTo>
                <a:lnTo>
                  <a:pt x="1700738" y="805525"/>
                </a:lnTo>
                <a:lnTo>
                  <a:pt x="1857896" y="805525"/>
                </a:lnTo>
                <a:lnTo>
                  <a:pt x="1862672" y="805742"/>
                </a:lnTo>
                <a:lnTo>
                  <a:pt x="1867448" y="806609"/>
                </a:lnTo>
                <a:lnTo>
                  <a:pt x="1872006" y="807477"/>
                </a:lnTo>
                <a:lnTo>
                  <a:pt x="1876130" y="809429"/>
                </a:lnTo>
                <a:lnTo>
                  <a:pt x="1880255" y="811164"/>
                </a:lnTo>
                <a:lnTo>
                  <a:pt x="1884161" y="813550"/>
                </a:lnTo>
                <a:lnTo>
                  <a:pt x="1887635" y="816370"/>
                </a:lnTo>
                <a:lnTo>
                  <a:pt x="1891108" y="819406"/>
                </a:lnTo>
                <a:lnTo>
                  <a:pt x="1894147" y="822659"/>
                </a:lnTo>
                <a:lnTo>
                  <a:pt x="1896969" y="826346"/>
                </a:lnTo>
                <a:lnTo>
                  <a:pt x="1899356" y="830250"/>
                </a:lnTo>
                <a:lnTo>
                  <a:pt x="1901310" y="833937"/>
                </a:lnTo>
                <a:lnTo>
                  <a:pt x="1902830" y="838275"/>
                </a:lnTo>
                <a:lnTo>
                  <a:pt x="1903915" y="843047"/>
                </a:lnTo>
                <a:lnTo>
                  <a:pt x="1904566" y="847601"/>
                </a:lnTo>
                <a:lnTo>
                  <a:pt x="1905000" y="852156"/>
                </a:lnTo>
                <a:lnTo>
                  <a:pt x="1905000" y="1011353"/>
                </a:lnTo>
                <a:lnTo>
                  <a:pt x="1904566" y="1015907"/>
                </a:lnTo>
                <a:lnTo>
                  <a:pt x="1904132" y="1020896"/>
                </a:lnTo>
                <a:lnTo>
                  <a:pt x="1902830" y="1025234"/>
                </a:lnTo>
                <a:lnTo>
                  <a:pt x="1901310" y="1029571"/>
                </a:lnTo>
                <a:lnTo>
                  <a:pt x="1899356" y="1033692"/>
                </a:lnTo>
                <a:lnTo>
                  <a:pt x="1896969" y="1037596"/>
                </a:lnTo>
                <a:lnTo>
                  <a:pt x="1894147" y="1041283"/>
                </a:lnTo>
                <a:lnTo>
                  <a:pt x="1891325" y="1044536"/>
                </a:lnTo>
                <a:lnTo>
                  <a:pt x="1887852" y="1047356"/>
                </a:lnTo>
                <a:lnTo>
                  <a:pt x="1884161" y="1050175"/>
                </a:lnTo>
                <a:lnTo>
                  <a:pt x="1880255" y="1052562"/>
                </a:lnTo>
                <a:lnTo>
                  <a:pt x="1876130" y="1054513"/>
                </a:lnTo>
                <a:lnTo>
                  <a:pt x="1872006" y="1056032"/>
                </a:lnTo>
                <a:lnTo>
                  <a:pt x="1867448" y="1057116"/>
                </a:lnTo>
                <a:lnTo>
                  <a:pt x="1862672" y="1057983"/>
                </a:lnTo>
                <a:lnTo>
                  <a:pt x="1858113" y="1058201"/>
                </a:lnTo>
                <a:lnTo>
                  <a:pt x="1700738" y="1058201"/>
                </a:lnTo>
                <a:lnTo>
                  <a:pt x="1698133" y="1072082"/>
                </a:lnTo>
                <a:lnTo>
                  <a:pt x="1695311" y="1085962"/>
                </a:lnTo>
                <a:lnTo>
                  <a:pt x="1692489" y="1099626"/>
                </a:lnTo>
                <a:lnTo>
                  <a:pt x="1689017" y="1113507"/>
                </a:lnTo>
                <a:lnTo>
                  <a:pt x="1685760" y="1126737"/>
                </a:lnTo>
                <a:lnTo>
                  <a:pt x="1681853" y="1140401"/>
                </a:lnTo>
                <a:lnTo>
                  <a:pt x="1677946" y="1153848"/>
                </a:lnTo>
                <a:lnTo>
                  <a:pt x="1673605" y="1166862"/>
                </a:lnTo>
                <a:lnTo>
                  <a:pt x="1669263" y="1180092"/>
                </a:lnTo>
                <a:lnTo>
                  <a:pt x="1664704" y="1193105"/>
                </a:lnTo>
                <a:lnTo>
                  <a:pt x="1659712" y="1205902"/>
                </a:lnTo>
                <a:lnTo>
                  <a:pt x="1654502" y="1218698"/>
                </a:lnTo>
                <a:lnTo>
                  <a:pt x="1649293" y="1231711"/>
                </a:lnTo>
                <a:lnTo>
                  <a:pt x="1643866" y="1244291"/>
                </a:lnTo>
                <a:lnTo>
                  <a:pt x="1637788" y="1256654"/>
                </a:lnTo>
                <a:lnTo>
                  <a:pt x="1631927" y="1269016"/>
                </a:lnTo>
                <a:lnTo>
                  <a:pt x="1759564" y="1361411"/>
                </a:lnTo>
                <a:lnTo>
                  <a:pt x="1763254" y="1364231"/>
                </a:lnTo>
                <a:lnTo>
                  <a:pt x="1766510" y="1367701"/>
                </a:lnTo>
                <a:lnTo>
                  <a:pt x="1769332" y="1371171"/>
                </a:lnTo>
                <a:lnTo>
                  <a:pt x="1771937" y="1375075"/>
                </a:lnTo>
                <a:lnTo>
                  <a:pt x="1774325" y="1379196"/>
                </a:lnTo>
                <a:lnTo>
                  <a:pt x="1775844" y="1383317"/>
                </a:lnTo>
                <a:lnTo>
                  <a:pt x="1777146" y="1387654"/>
                </a:lnTo>
                <a:lnTo>
                  <a:pt x="1778015" y="1391992"/>
                </a:lnTo>
                <a:lnTo>
                  <a:pt x="1778666" y="1396330"/>
                </a:lnTo>
                <a:lnTo>
                  <a:pt x="1778666" y="1401101"/>
                </a:lnTo>
                <a:lnTo>
                  <a:pt x="1778449" y="1405439"/>
                </a:lnTo>
                <a:lnTo>
                  <a:pt x="1777581" y="1409994"/>
                </a:lnTo>
                <a:lnTo>
                  <a:pt x="1776278" y="1414332"/>
                </a:lnTo>
                <a:lnTo>
                  <a:pt x="1774542" y="1418886"/>
                </a:lnTo>
                <a:lnTo>
                  <a:pt x="1772371" y="1422790"/>
                </a:lnTo>
                <a:lnTo>
                  <a:pt x="1769766" y="1426694"/>
                </a:lnTo>
                <a:lnTo>
                  <a:pt x="1676210" y="1555526"/>
                </a:lnTo>
                <a:lnTo>
                  <a:pt x="1673171" y="1559214"/>
                </a:lnTo>
                <a:lnTo>
                  <a:pt x="1670132" y="1562467"/>
                </a:lnTo>
                <a:lnTo>
                  <a:pt x="1666441" y="1565503"/>
                </a:lnTo>
                <a:lnTo>
                  <a:pt x="1662534" y="1567889"/>
                </a:lnTo>
                <a:lnTo>
                  <a:pt x="1658410" y="1570275"/>
                </a:lnTo>
                <a:lnTo>
                  <a:pt x="1654285" y="1572010"/>
                </a:lnTo>
                <a:lnTo>
                  <a:pt x="1649944" y="1573311"/>
                </a:lnTo>
                <a:lnTo>
                  <a:pt x="1645603" y="1573962"/>
                </a:lnTo>
                <a:lnTo>
                  <a:pt x="1641261" y="1574612"/>
                </a:lnTo>
                <a:lnTo>
                  <a:pt x="1636702" y="1574830"/>
                </a:lnTo>
                <a:lnTo>
                  <a:pt x="1632144" y="1574179"/>
                </a:lnTo>
                <a:lnTo>
                  <a:pt x="1627586" y="1573528"/>
                </a:lnTo>
                <a:lnTo>
                  <a:pt x="1623244" y="1572227"/>
                </a:lnTo>
                <a:lnTo>
                  <a:pt x="1618903" y="1570708"/>
                </a:lnTo>
                <a:lnTo>
                  <a:pt x="1614779" y="1568323"/>
                </a:lnTo>
                <a:lnTo>
                  <a:pt x="1610872" y="1565720"/>
                </a:lnTo>
                <a:lnTo>
                  <a:pt x="1483234" y="1473326"/>
                </a:lnTo>
                <a:lnTo>
                  <a:pt x="1473250" y="1483085"/>
                </a:lnTo>
                <a:lnTo>
                  <a:pt x="1463047" y="1492195"/>
                </a:lnTo>
                <a:lnTo>
                  <a:pt x="1452628" y="1501521"/>
                </a:lnTo>
                <a:lnTo>
                  <a:pt x="1442209" y="1510631"/>
                </a:lnTo>
                <a:lnTo>
                  <a:pt x="1431572" y="1519523"/>
                </a:lnTo>
                <a:lnTo>
                  <a:pt x="1420719" y="1527982"/>
                </a:lnTo>
                <a:lnTo>
                  <a:pt x="1409648" y="1536440"/>
                </a:lnTo>
                <a:lnTo>
                  <a:pt x="1398578" y="1544682"/>
                </a:lnTo>
                <a:lnTo>
                  <a:pt x="1387290" y="1552923"/>
                </a:lnTo>
                <a:lnTo>
                  <a:pt x="1375785" y="1560731"/>
                </a:lnTo>
                <a:lnTo>
                  <a:pt x="1364281" y="1568323"/>
                </a:lnTo>
                <a:lnTo>
                  <a:pt x="1352342" y="1575914"/>
                </a:lnTo>
                <a:lnTo>
                  <a:pt x="1340403" y="1583071"/>
                </a:lnTo>
                <a:lnTo>
                  <a:pt x="1328464" y="1590228"/>
                </a:lnTo>
                <a:lnTo>
                  <a:pt x="1316091" y="1596952"/>
                </a:lnTo>
                <a:lnTo>
                  <a:pt x="1303718" y="1603676"/>
                </a:lnTo>
                <a:lnTo>
                  <a:pt x="1352559" y="1753112"/>
                </a:lnTo>
                <a:lnTo>
                  <a:pt x="1353645" y="1757883"/>
                </a:lnTo>
                <a:lnTo>
                  <a:pt x="1354296" y="1762655"/>
                </a:lnTo>
                <a:lnTo>
                  <a:pt x="1354946" y="1767426"/>
                </a:lnTo>
                <a:lnTo>
                  <a:pt x="1354730" y="1771764"/>
                </a:lnTo>
                <a:lnTo>
                  <a:pt x="1354079" y="1776319"/>
                </a:lnTo>
                <a:lnTo>
                  <a:pt x="1353210" y="1780657"/>
                </a:lnTo>
                <a:lnTo>
                  <a:pt x="1351474" y="1784995"/>
                </a:lnTo>
                <a:lnTo>
                  <a:pt x="1349737" y="1789115"/>
                </a:lnTo>
                <a:lnTo>
                  <a:pt x="1347349" y="1793019"/>
                </a:lnTo>
                <a:lnTo>
                  <a:pt x="1344962" y="1796707"/>
                </a:lnTo>
                <a:lnTo>
                  <a:pt x="1342139" y="1799960"/>
                </a:lnTo>
                <a:lnTo>
                  <a:pt x="1338666" y="1803214"/>
                </a:lnTo>
                <a:lnTo>
                  <a:pt x="1335194" y="1806033"/>
                </a:lnTo>
                <a:lnTo>
                  <a:pt x="1331286" y="1808419"/>
                </a:lnTo>
                <a:lnTo>
                  <a:pt x="1326945" y="1810588"/>
                </a:lnTo>
                <a:lnTo>
                  <a:pt x="1322603" y="1812323"/>
                </a:lnTo>
                <a:lnTo>
                  <a:pt x="1171306" y="1861556"/>
                </a:lnTo>
                <a:lnTo>
                  <a:pt x="1166531" y="1862641"/>
                </a:lnTo>
                <a:lnTo>
                  <a:pt x="1161972" y="1863508"/>
                </a:lnTo>
                <a:lnTo>
                  <a:pt x="1157414" y="1863725"/>
                </a:lnTo>
                <a:lnTo>
                  <a:pt x="1152638" y="1863725"/>
                </a:lnTo>
                <a:lnTo>
                  <a:pt x="1148080" y="1862858"/>
                </a:lnTo>
                <a:lnTo>
                  <a:pt x="1143738" y="1861990"/>
                </a:lnTo>
                <a:lnTo>
                  <a:pt x="1139614" y="1860472"/>
                </a:lnTo>
                <a:lnTo>
                  <a:pt x="1135490" y="1858520"/>
                </a:lnTo>
                <a:lnTo>
                  <a:pt x="1131365" y="1856568"/>
                </a:lnTo>
                <a:lnTo>
                  <a:pt x="1127675" y="1853748"/>
                </a:lnTo>
                <a:lnTo>
                  <a:pt x="1124419" y="1850929"/>
                </a:lnTo>
                <a:lnTo>
                  <a:pt x="1121380" y="1847459"/>
                </a:lnTo>
                <a:lnTo>
                  <a:pt x="1118558" y="1843989"/>
                </a:lnTo>
                <a:lnTo>
                  <a:pt x="1115954" y="1840085"/>
                </a:lnTo>
                <a:lnTo>
                  <a:pt x="1113783" y="1835747"/>
                </a:lnTo>
                <a:lnTo>
                  <a:pt x="1112046" y="1831409"/>
                </a:lnTo>
                <a:lnTo>
                  <a:pt x="1063423" y="1681538"/>
                </a:lnTo>
                <a:lnTo>
                  <a:pt x="1049747" y="1683491"/>
                </a:lnTo>
                <a:lnTo>
                  <a:pt x="1036289" y="1685009"/>
                </a:lnTo>
                <a:lnTo>
                  <a:pt x="1022397" y="1686310"/>
                </a:lnTo>
                <a:lnTo>
                  <a:pt x="1008505" y="1687611"/>
                </a:lnTo>
                <a:lnTo>
                  <a:pt x="994612" y="1688479"/>
                </a:lnTo>
                <a:lnTo>
                  <a:pt x="980719" y="1689130"/>
                </a:lnTo>
                <a:lnTo>
                  <a:pt x="966392" y="1689346"/>
                </a:lnTo>
                <a:lnTo>
                  <a:pt x="952500" y="1689780"/>
                </a:lnTo>
                <a:lnTo>
                  <a:pt x="938391" y="1689346"/>
                </a:lnTo>
                <a:lnTo>
                  <a:pt x="924281" y="1689130"/>
                </a:lnTo>
                <a:lnTo>
                  <a:pt x="910389" y="1688479"/>
                </a:lnTo>
                <a:lnTo>
                  <a:pt x="896497" y="1687611"/>
                </a:lnTo>
                <a:lnTo>
                  <a:pt x="882604" y="1686310"/>
                </a:lnTo>
                <a:lnTo>
                  <a:pt x="868929" y="1685009"/>
                </a:lnTo>
                <a:lnTo>
                  <a:pt x="855036" y="1683491"/>
                </a:lnTo>
                <a:lnTo>
                  <a:pt x="841361" y="1681538"/>
                </a:lnTo>
                <a:lnTo>
                  <a:pt x="793172" y="1831409"/>
                </a:lnTo>
                <a:lnTo>
                  <a:pt x="791218" y="1835963"/>
                </a:lnTo>
                <a:lnTo>
                  <a:pt x="789264" y="1840085"/>
                </a:lnTo>
                <a:lnTo>
                  <a:pt x="786660" y="1843989"/>
                </a:lnTo>
                <a:lnTo>
                  <a:pt x="783837" y="1847459"/>
                </a:lnTo>
                <a:lnTo>
                  <a:pt x="780798" y="1850929"/>
                </a:lnTo>
                <a:lnTo>
                  <a:pt x="777108" y="1853748"/>
                </a:lnTo>
                <a:lnTo>
                  <a:pt x="773635" y="1856568"/>
                </a:lnTo>
                <a:lnTo>
                  <a:pt x="769728" y="1858520"/>
                </a:lnTo>
                <a:lnTo>
                  <a:pt x="765604" y="1860472"/>
                </a:lnTo>
                <a:lnTo>
                  <a:pt x="761262" y="1861990"/>
                </a:lnTo>
                <a:lnTo>
                  <a:pt x="756921" y="1862858"/>
                </a:lnTo>
                <a:lnTo>
                  <a:pt x="752145" y="1863725"/>
                </a:lnTo>
                <a:lnTo>
                  <a:pt x="747804" y="1863725"/>
                </a:lnTo>
                <a:lnTo>
                  <a:pt x="743246" y="1863508"/>
                </a:lnTo>
                <a:lnTo>
                  <a:pt x="738470" y="1862641"/>
                </a:lnTo>
                <a:lnTo>
                  <a:pt x="733694" y="1861340"/>
                </a:lnTo>
                <a:lnTo>
                  <a:pt x="582614" y="1812323"/>
                </a:lnTo>
                <a:lnTo>
                  <a:pt x="578056" y="1810588"/>
                </a:lnTo>
                <a:lnTo>
                  <a:pt x="573931" y="1808419"/>
                </a:lnTo>
                <a:lnTo>
                  <a:pt x="570024" y="1806033"/>
                </a:lnTo>
                <a:lnTo>
                  <a:pt x="566551" y="1803214"/>
                </a:lnTo>
                <a:lnTo>
                  <a:pt x="563078" y="1799960"/>
                </a:lnTo>
                <a:lnTo>
                  <a:pt x="560039" y="1796707"/>
                </a:lnTo>
                <a:lnTo>
                  <a:pt x="557434" y="1793019"/>
                </a:lnTo>
                <a:lnTo>
                  <a:pt x="555481" y="1789115"/>
                </a:lnTo>
                <a:lnTo>
                  <a:pt x="553310" y="1784995"/>
                </a:lnTo>
                <a:lnTo>
                  <a:pt x="552007" y="1780657"/>
                </a:lnTo>
                <a:lnTo>
                  <a:pt x="550922" y="1776319"/>
                </a:lnTo>
                <a:lnTo>
                  <a:pt x="550271" y="1771764"/>
                </a:lnTo>
                <a:lnTo>
                  <a:pt x="550271" y="1767426"/>
                </a:lnTo>
                <a:lnTo>
                  <a:pt x="550488" y="1762655"/>
                </a:lnTo>
                <a:lnTo>
                  <a:pt x="551356" y="1757883"/>
                </a:lnTo>
                <a:lnTo>
                  <a:pt x="552224" y="1753112"/>
                </a:lnTo>
                <a:lnTo>
                  <a:pt x="601282" y="1603676"/>
                </a:lnTo>
                <a:lnTo>
                  <a:pt x="588909" y="1596952"/>
                </a:lnTo>
                <a:lnTo>
                  <a:pt x="576753" y="1590228"/>
                </a:lnTo>
                <a:lnTo>
                  <a:pt x="564597" y="1583071"/>
                </a:lnTo>
                <a:lnTo>
                  <a:pt x="552658" y="1575914"/>
                </a:lnTo>
                <a:lnTo>
                  <a:pt x="540936" y="1568323"/>
                </a:lnTo>
                <a:lnTo>
                  <a:pt x="529215" y="1560731"/>
                </a:lnTo>
                <a:lnTo>
                  <a:pt x="517927" y="1552923"/>
                </a:lnTo>
                <a:lnTo>
                  <a:pt x="506423" y="1544682"/>
                </a:lnTo>
                <a:lnTo>
                  <a:pt x="495135" y="1536440"/>
                </a:lnTo>
                <a:lnTo>
                  <a:pt x="484281" y="1527982"/>
                </a:lnTo>
                <a:lnTo>
                  <a:pt x="473428" y="1519306"/>
                </a:lnTo>
                <a:lnTo>
                  <a:pt x="462791" y="1510631"/>
                </a:lnTo>
                <a:lnTo>
                  <a:pt x="452155" y="1501521"/>
                </a:lnTo>
                <a:lnTo>
                  <a:pt x="441953" y="1492195"/>
                </a:lnTo>
                <a:lnTo>
                  <a:pt x="431751" y="1482869"/>
                </a:lnTo>
                <a:lnTo>
                  <a:pt x="421549" y="1473108"/>
                </a:lnTo>
                <a:lnTo>
                  <a:pt x="294346" y="1565720"/>
                </a:lnTo>
                <a:lnTo>
                  <a:pt x="290222" y="1568323"/>
                </a:lnTo>
                <a:lnTo>
                  <a:pt x="286097" y="1570708"/>
                </a:lnTo>
                <a:lnTo>
                  <a:pt x="281756" y="1572227"/>
                </a:lnTo>
                <a:lnTo>
                  <a:pt x="277197" y="1573528"/>
                </a:lnTo>
                <a:lnTo>
                  <a:pt x="272856" y="1574179"/>
                </a:lnTo>
                <a:lnTo>
                  <a:pt x="268298" y="1574830"/>
                </a:lnTo>
                <a:lnTo>
                  <a:pt x="263739" y="1574830"/>
                </a:lnTo>
                <a:lnTo>
                  <a:pt x="259397" y="1574179"/>
                </a:lnTo>
                <a:lnTo>
                  <a:pt x="254839" y="1573311"/>
                </a:lnTo>
                <a:lnTo>
                  <a:pt x="250498" y="1572010"/>
                </a:lnTo>
                <a:lnTo>
                  <a:pt x="246374" y="1570275"/>
                </a:lnTo>
                <a:lnTo>
                  <a:pt x="242249" y="1568106"/>
                </a:lnTo>
                <a:lnTo>
                  <a:pt x="238776" y="1565503"/>
                </a:lnTo>
                <a:lnTo>
                  <a:pt x="235086" y="1562467"/>
                </a:lnTo>
                <a:lnTo>
                  <a:pt x="231829" y="1559214"/>
                </a:lnTo>
                <a:lnTo>
                  <a:pt x="228791" y="1555526"/>
                </a:lnTo>
                <a:lnTo>
                  <a:pt x="135017" y="1426694"/>
                </a:lnTo>
                <a:lnTo>
                  <a:pt x="132412" y="1422790"/>
                </a:lnTo>
                <a:lnTo>
                  <a:pt x="130458" y="1418886"/>
                </a:lnTo>
                <a:lnTo>
                  <a:pt x="128722" y="1414332"/>
                </a:lnTo>
                <a:lnTo>
                  <a:pt x="127419" y="1409994"/>
                </a:lnTo>
                <a:lnTo>
                  <a:pt x="126551" y="1405439"/>
                </a:lnTo>
                <a:lnTo>
                  <a:pt x="126334" y="1401101"/>
                </a:lnTo>
                <a:lnTo>
                  <a:pt x="126334" y="1396330"/>
                </a:lnTo>
                <a:lnTo>
                  <a:pt x="126768" y="1391992"/>
                </a:lnTo>
                <a:lnTo>
                  <a:pt x="127853" y="1387654"/>
                </a:lnTo>
                <a:lnTo>
                  <a:pt x="129156" y="1383317"/>
                </a:lnTo>
                <a:lnTo>
                  <a:pt x="130893" y="1379196"/>
                </a:lnTo>
                <a:lnTo>
                  <a:pt x="133063" y="1375075"/>
                </a:lnTo>
                <a:lnTo>
                  <a:pt x="135668" y="1371171"/>
                </a:lnTo>
                <a:lnTo>
                  <a:pt x="138490" y="1367701"/>
                </a:lnTo>
                <a:lnTo>
                  <a:pt x="141746" y="1364447"/>
                </a:lnTo>
                <a:lnTo>
                  <a:pt x="145653" y="1361411"/>
                </a:lnTo>
                <a:lnTo>
                  <a:pt x="272856" y="1269016"/>
                </a:lnTo>
                <a:lnTo>
                  <a:pt x="266995" y="1256654"/>
                </a:lnTo>
                <a:lnTo>
                  <a:pt x="261351" y="1244074"/>
                </a:lnTo>
                <a:lnTo>
                  <a:pt x="255707" y="1231711"/>
                </a:lnTo>
                <a:lnTo>
                  <a:pt x="250281" y="1218698"/>
                </a:lnTo>
                <a:lnTo>
                  <a:pt x="245071" y="1205902"/>
                </a:lnTo>
                <a:lnTo>
                  <a:pt x="240295" y="1193105"/>
                </a:lnTo>
                <a:lnTo>
                  <a:pt x="235737" y="1180092"/>
                </a:lnTo>
                <a:lnTo>
                  <a:pt x="231178" y="1166862"/>
                </a:lnTo>
                <a:lnTo>
                  <a:pt x="227054" y="1153848"/>
                </a:lnTo>
                <a:lnTo>
                  <a:pt x="222930" y="1140401"/>
                </a:lnTo>
                <a:lnTo>
                  <a:pt x="219457" y="1126737"/>
                </a:lnTo>
                <a:lnTo>
                  <a:pt x="215767" y="1113507"/>
                </a:lnTo>
                <a:lnTo>
                  <a:pt x="212728" y="1099626"/>
                </a:lnTo>
                <a:lnTo>
                  <a:pt x="209689" y="1085962"/>
                </a:lnTo>
                <a:lnTo>
                  <a:pt x="207084" y="1072082"/>
                </a:lnTo>
                <a:lnTo>
                  <a:pt x="204479" y="1058201"/>
                </a:lnTo>
                <a:lnTo>
                  <a:pt x="47104" y="1058201"/>
                </a:lnTo>
                <a:lnTo>
                  <a:pt x="42111" y="1057983"/>
                </a:lnTo>
                <a:lnTo>
                  <a:pt x="37552" y="1057116"/>
                </a:lnTo>
                <a:lnTo>
                  <a:pt x="32994" y="1056032"/>
                </a:lnTo>
                <a:lnTo>
                  <a:pt x="28653" y="1054513"/>
                </a:lnTo>
                <a:lnTo>
                  <a:pt x="24745" y="1052562"/>
                </a:lnTo>
                <a:lnTo>
                  <a:pt x="20839" y="1050175"/>
                </a:lnTo>
                <a:lnTo>
                  <a:pt x="16931" y="1047356"/>
                </a:lnTo>
                <a:lnTo>
                  <a:pt x="13892" y="1044536"/>
                </a:lnTo>
                <a:lnTo>
                  <a:pt x="10853" y="1041283"/>
                </a:lnTo>
                <a:lnTo>
                  <a:pt x="8032" y="1037596"/>
                </a:lnTo>
                <a:lnTo>
                  <a:pt x="5644" y="1033692"/>
                </a:lnTo>
                <a:lnTo>
                  <a:pt x="3690" y="1029571"/>
                </a:lnTo>
                <a:lnTo>
                  <a:pt x="1954" y="1025234"/>
                </a:lnTo>
                <a:lnTo>
                  <a:pt x="1085" y="1020896"/>
                </a:lnTo>
                <a:lnTo>
                  <a:pt x="217" y="1015907"/>
                </a:lnTo>
                <a:lnTo>
                  <a:pt x="0" y="1011353"/>
                </a:lnTo>
                <a:lnTo>
                  <a:pt x="0" y="852156"/>
                </a:lnTo>
                <a:lnTo>
                  <a:pt x="217" y="847601"/>
                </a:lnTo>
                <a:lnTo>
                  <a:pt x="1085" y="843047"/>
                </a:lnTo>
                <a:lnTo>
                  <a:pt x="1954" y="838275"/>
                </a:lnTo>
                <a:lnTo>
                  <a:pt x="3690" y="833937"/>
                </a:lnTo>
                <a:lnTo>
                  <a:pt x="5644" y="830250"/>
                </a:lnTo>
                <a:lnTo>
                  <a:pt x="8032" y="826346"/>
                </a:lnTo>
                <a:lnTo>
                  <a:pt x="10853" y="822659"/>
                </a:lnTo>
                <a:lnTo>
                  <a:pt x="13892" y="819406"/>
                </a:lnTo>
                <a:lnTo>
                  <a:pt x="16931" y="816370"/>
                </a:lnTo>
                <a:lnTo>
                  <a:pt x="20839" y="813550"/>
                </a:lnTo>
                <a:lnTo>
                  <a:pt x="24745" y="811164"/>
                </a:lnTo>
                <a:lnTo>
                  <a:pt x="28653" y="809429"/>
                </a:lnTo>
                <a:lnTo>
                  <a:pt x="32994" y="807477"/>
                </a:lnTo>
                <a:lnTo>
                  <a:pt x="37552" y="806609"/>
                </a:lnTo>
                <a:lnTo>
                  <a:pt x="42111" y="805742"/>
                </a:lnTo>
                <a:lnTo>
                  <a:pt x="47104" y="805525"/>
                </a:lnTo>
                <a:lnTo>
                  <a:pt x="204479" y="805525"/>
                </a:lnTo>
                <a:lnTo>
                  <a:pt x="207084" y="791644"/>
                </a:lnTo>
                <a:lnTo>
                  <a:pt x="209689" y="777764"/>
                </a:lnTo>
                <a:lnTo>
                  <a:pt x="212728" y="764099"/>
                </a:lnTo>
                <a:lnTo>
                  <a:pt x="215767" y="750436"/>
                </a:lnTo>
                <a:lnTo>
                  <a:pt x="219457" y="736771"/>
                </a:lnTo>
                <a:lnTo>
                  <a:pt x="222930" y="723324"/>
                </a:lnTo>
                <a:lnTo>
                  <a:pt x="227054" y="709877"/>
                </a:lnTo>
                <a:lnTo>
                  <a:pt x="231178" y="696647"/>
                </a:lnTo>
                <a:lnTo>
                  <a:pt x="235737" y="683634"/>
                </a:lnTo>
                <a:lnTo>
                  <a:pt x="240295" y="670620"/>
                </a:lnTo>
                <a:lnTo>
                  <a:pt x="245071" y="657607"/>
                </a:lnTo>
                <a:lnTo>
                  <a:pt x="250281" y="644810"/>
                </a:lnTo>
                <a:lnTo>
                  <a:pt x="255707" y="632014"/>
                </a:lnTo>
                <a:lnTo>
                  <a:pt x="261351" y="619434"/>
                </a:lnTo>
                <a:lnTo>
                  <a:pt x="266995" y="607072"/>
                </a:lnTo>
                <a:lnTo>
                  <a:pt x="272856" y="594709"/>
                </a:lnTo>
                <a:lnTo>
                  <a:pt x="145653" y="502098"/>
                </a:lnTo>
                <a:lnTo>
                  <a:pt x="141746" y="499061"/>
                </a:lnTo>
                <a:lnTo>
                  <a:pt x="138490" y="495808"/>
                </a:lnTo>
                <a:lnTo>
                  <a:pt x="135668" y="492337"/>
                </a:lnTo>
                <a:lnTo>
                  <a:pt x="133063" y="488651"/>
                </a:lnTo>
                <a:lnTo>
                  <a:pt x="130893" y="484529"/>
                </a:lnTo>
                <a:lnTo>
                  <a:pt x="129156" y="480409"/>
                </a:lnTo>
                <a:lnTo>
                  <a:pt x="127853" y="475854"/>
                </a:lnTo>
                <a:lnTo>
                  <a:pt x="126768" y="471516"/>
                </a:lnTo>
                <a:lnTo>
                  <a:pt x="126334" y="467178"/>
                </a:lnTo>
                <a:lnTo>
                  <a:pt x="126334" y="462624"/>
                </a:lnTo>
                <a:lnTo>
                  <a:pt x="126551" y="458069"/>
                </a:lnTo>
                <a:lnTo>
                  <a:pt x="127419" y="453515"/>
                </a:lnTo>
                <a:lnTo>
                  <a:pt x="128722" y="449177"/>
                </a:lnTo>
                <a:lnTo>
                  <a:pt x="130458" y="444839"/>
                </a:lnTo>
                <a:lnTo>
                  <a:pt x="132412" y="440718"/>
                </a:lnTo>
                <a:lnTo>
                  <a:pt x="135017" y="436597"/>
                </a:lnTo>
                <a:lnTo>
                  <a:pt x="228791" y="308416"/>
                </a:lnTo>
                <a:lnTo>
                  <a:pt x="231829" y="304512"/>
                </a:lnTo>
                <a:lnTo>
                  <a:pt x="235086" y="301259"/>
                </a:lnTo>
                <a:lnTo>
                  <a:pt x="238776" y="298005"/>
                </a:lnTo>
                <a:lnTo>
                  <a:pt x="242249" y="295619"/>
                </a:lnTo>
                <a:lnTo>
                  <a:pt x="246374" y="293451"/>
                </a:lnTo>
                <a:lnTo>
                  <a:pt x="250498" y="291715"/>
                </a:lnTo>
                <a:lnTo>
                  <a:pt x="254839" y="290414"/>
                </a:lnTo>
                <a:lnTo>
                  <a:pt x="259397" y="289330"/>
                </a:lnTo>
                <a:lnTo>
                  <a:pt x="263739" y="288896"/>
                </a:lnTo>
                <a:lnTo>
                  <a:pt x="268298" y="288896"/>
                </a:lnTo>
                <a:lnTo>
                  <a:pt x="272856" y="289330"/>
                </a:lnTo>
                <a:lnTo>
                  <a:pt x="277197" y="290197"/>
                </a:lnTo>
                <a:lnTo>
                  <a:pt x="281756" y="291499"/>
                </a:lnTo>
                <a:lnTo>
                  <a:pt x="286097" y="293017"/>
                </a:lnTo>
                <a:lnTo>
                  <a:pt x="290222" y="295186"/>
                </a:lnTo>
                <a:lnTo>
                  <a:pt x="294346" y="297788"/>
                </a:lnTo>
                <a:lnTo>
                  <a:pt x="421549" y="390400"/>
                </a:lnTo>
                <a:lnTo>
                  <a:pt x="431751" y="380857"/>
                </a:lnTo>
                <a:lnTo>
                  <a:pt x="441953" y="371314"/>
                </a:lnTo>
                <a:lnTo>
                  <a:pt x="452155" y="361988"/>
                </a:lnTo>
                <a:lnTo>
                  <a:pt x="462791" y="353095"/>
                </a:lnTo>
                <a:lnTo>
                  <a:pt x="473645" y="344203"/>
                </a:lnTo>
                <a:lnTo>
                  <a:pt x="484281" y="335527"/>
                </a:lnTo>
                <a:lnTo>
                  <a:pt x="495135" y="327068"/>
                </a:lnTo>
                <a:lnTo>
                  <a:pt x="506423" y="318827"/>
                </a:lnTo>
                <a:lnTo>
                  <a:pt x="517927" y="310585"/>
                </a:lnTo>
                <a:lnTo>
                  <a:pt x="529215" y="302994"/>
                </a:lnTo>
                <a:lnTo>
                  <a:pt x="540936" y="295186"/>
                </a:lnTo>
                <a:lnTo>
                  <a:pt x="552658" y="287811"/>
                </a:lnTo>
                <a:lnTo>
                  <a:pt x="564597" y="280654"/>
                </a:lnTo>
                <a:lnTo>
                  <a:pt x="576753" y="273497"/>
                </a:lnTo>
                <a:lnTo>
                  <a:pt x="588909" y="266773"/>
                </a:lnTo>
                <a:lnTo>
                  <a:pt x="601282" y="260050"/>
                </a:lnTo>
                <a:lnTo>
                  <a:pt x="552224" y="110396"/>
                </a:lnTo>
                <a:lnTo>
                  <a:pt x="550922" y="105842"/>
                </a:lnTo>
                <a:lnTo>
                  <a:pt x="550488" y="100853"/>
                </a:lnTo>
                <a:lnTo>
                  <a:pt x="550053" y="96299"/>
                </a:lnTo>
                <a:lnTo>
                  <a:pt x="550271" y="91961"/>
                </a:lnTo>
                <a:lnTo>
                  <a:pt x="550704" y="87406"/>
                </a:lnTo>
                <a:lnTo>
                  <a:pt x="552007" y="82852"/>
                </a:lnTo>
                <a:lnTo>
                  <a:pt x="553310" y="78514"/>
                </a:lnTo>
                <a:lnTo>
                  <a:pt x="555046" y="74826"/>
                </a:lnTo>
                <a:lnTo>
                  <a:pt x="557434" y="70706"/>
                </a:lnTo>
                <a:lnTo>
                  <a:pt x="560039" y="67018"/>
                </a:lnTo>
                <a:lnTo>
                  <a:pt x="563078" y="63765"/>
                </a:lnTo>
                <a:lnTo>
                  <a:pt x="566551" y="60512"/>
                </a:lnTo>
                <a:lnTo>
                  <a:pt x="570024" y="57693"/>
                </a:lnTo>
                <a:lnTo>
                  <a:pt x="573931" y="55090"/>
                </a:lnTo>
                <a:lnTo>
                  <a:pt x="578056" y="53137"/>
                </a:lnTo>
                <a:lnTo>
                  <a:pt x="582614" y="51402"/>
                </a:lnTo>
                <a:lnTo>
                  <a:pt x="733912" y="1952"/>
                </a:lnTo>
                <a:lnTo>
                  <a:pt x="738470" y="868"/>
                </a:lnTo>
                <a:lnTo>
                  <a:pt x="743246" y="216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grpSp>
        <p:nvGrpSpPr>
          <p:cNvPr id="13" name="Group 13"/>
          <p:cNvGrpSpPr/>
          <p:nvPr/>
        </p:nvGrpSpPr>
        <p:grpSpPr>
          <a:xfrm rot="0">
            <a:off x="5890450" y="2741457"/>
            <a:ext cx="439747" cy="524666"/>
            <a:chOff x="5890450" y="2741457"/>
            <a:chExt cx="439747" cy="524666"/>
          </a:xfrm>
        </p:grpSpPr>
        <p:sp>
          <p:nvSpPr>
            <p:cNvPr id="14" name="Freeform 14"/>
            <p:cNvSpPr/>
            <p:nvPr/>
          </p:nvSpPr>
          <p:spPr>
            <a:xfrm>
              <a:off x="6048767" y="2842344"/>
              <a:ext cx="140171" cy="167842"/>
            </a:xfrm>
            <a:custGeom>
              <a:avLst/>
              <a:gdLst/>
              <a:ahLst/>
              <a:cxnLst/>
              <a:rect l="l" t="t" r="r" b="b"/>
              <a:pathLst>
                <a:path w="56" h="67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34"/>
                    <a:pt x="2" y="40"/>
                    <a:pt x="7" y="46"/>
                  </a:cubicBezTo>
                  <a:cubicBezTo>
                    <a:pt x="11" y="52"/>
                    <a:pt x="15" y="58"/>
                    <a:pt x="16" y="65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1"/>
                    <a:pt x="26" y="50"/>
                    <a:pt x="22" y="42"/>
                  </a:cubicBezTo>
                  <a:cubicBezTo>
                    <a:pt x="24" y="42"/>
                    <a:pt x="26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1" y="41"/>
                    <a:pt x="33" y="42"/>
                    <a:pt x="34" y="42"/>
                  </a:cubicBezTo>
                  <a:cubicBezTo>
                    <a:pt x="32" y="48"/>
                    <a:pt x="31" y="55"/>
                    <a:pt x="31" y="65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40" y="67"/>
                    <a:pt x="40" y="67"/>
                    <a:pt x="40" y="6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2" y="58"/>
                    <a:pt x="46" y="52"/>
                    <a:pt x="50" y="46"/>
                  </a:cubicBezTo>
                  <a:cubicBezTo>
                    <a:pt x="54" y="41"/>
                    <a:pt x="56" y="34"/>
                    <a:pt x="56" y="28"/>
                  </a:cubicBezTo>
                  <a:cubicBezTo>
                    <a:pt x="56" y="13"/>
                    <a:pt x="44" y="0"/>
                    <a:pt x="28" y="0"/>
                  </a:cubicBez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5890450" y="2741457"/>
              <a:ext cx="439747" cy="524666"/>
            </a:xfrm>
            <a:custGeom>
              <a:avLst/>
              <a:gdLst/>
              <a:ahLst/>
              <a:cxnLst/>
              <a:rect l="l" t="t" r="r" b="b"/>
              <a:pathLst>
                <a:path w="175" h="209">
                  <a:moveTo>
                    <a:pt x="146" y="24"/>
                  </a:moveTo>
                  <a:cubicBezTo>
                    <a:pt x="126" y="8"/>
                    <a:pt x="100" y="0"/>
                    <a:pt x="66" y="8"/>
                  </a:cubicBezTo>
                  <a:cubicBezTo>
                    <a:pt x="42" y="15"/>
                    <a:pt x="21" y="33"/>
                    <a:pt x="16" y="67"/>
                  </a:cubicBezTo>
                  <a:cubicBezTo>
                    <a:pt x="14" y="78"/>
                    <a:pt x="16" y="84"/>
                    <a:pt x="16" y="85"/>
                  </a:cubicBezTo>
                  <a:cubicBezTo>
                    <a:pt x="18" y="87"/>
                    <a:pt x="20" y="91"/>
                    <a:pt x="20" y="94"/>
                  </a:cubicBezTo>
                  <a:cubicBezTo>
                    <a:pt x="20" y="95"/>
                    <a:pt x="19" y="96"/>
                    <a:pt x="19" y="97"/>
                  </a:cubicBezTo>
                  <a:cubicBezTo>
                    <a:pt x="2" y="121"/>
                    <a:pt x="2" y="121"/>
                    <a:pt x="2" y="121"/>
                  </a:cubicBezTo>
                  <a:cubicBezTo>
                    <a:pt x="1" y="123"/>
                    <a:pt x="0" y="125"/>
                    <a:pt x="1" y="127"/>
                  </a:cubicBezTo>
                  <a:cubicBezTo>
                    <a:pt x="4" y="132"/>
                    <a:pt x="12" y="131"/>
                    <a:pt x="14" y="132"/>
                  </a:cubicBezTo>
                  <a:cubicBezTo>
                    <a:pt x="16" y="133"/>
                    <a:pt x="17" y="136"/>
                    <a:pt x="16" y="139"/>
                  </a:cubicBezTo>
                  <a:cubicBezTo>
                    <a:pt x="15" y="141"/>
                    <a:pt x="13" y="145"/>
                    <a:pt x="15" y="146"/>
                  </a:cubicBezTo>
                  <a:cubicBezTo>
                    <a:pt x="17" y="147"/>
                    <a:pt x="19" y="148"/>
                    <a:pt x="19" y="148"/>
                  </a:cubicBezTo>
                  <a:cubicBezTo>
                    <a:pt x="19" y="148"/>
                    <a:pt x="16" y="149"/>
                    <a:pt x="16" y="151"/>
                  </a:cubicBezTo>
                  <a:cubicBezTo>
                    <a:pt x="15" y="153"/>
                    <a:pt x="16" y="156"/>
                    <a:pt x="19" y="157"/>
                  </a:cubicBezTo>
                  <a:cubicBezTo>
                    <a:pt x="19" y="157"/>
                    <a:pt x="22" y="164"/>
                    <a:pt x="21" y="171"/>
                  </a:cubicBezTo>
                  <a:cubicBezTo>
                    <a:pt x="20" y="177"/>
                    <a:pt x="18" y="183"/>
                    <a:pt x="23" y="187"/>
                  </a:cubicBezTo>
                  <a:cubicBezTo>
                    <a:pt x="28" y="191"/>
                    <a:pt x="48" y="188"/>
                    <a:pt x="60" y="184"/>
                  </a:cubicBezTo>
                  <a:cubicBezTo>
                    <a:pt x="60" y="184"/>
                    <a:pt x="64" y="191"/>
                    <a:pt x="68" y="209"/>
                  </a:cubicBezTo>
                  <a:cubicBezTo>
                    <a:pt x="152" y="183"/>
                    <a:pt x="152" y="183"/>
                    <a:pt x="152" y="183"/>
                  </a:cubicBezTo>
                  <a:cubicBezTo>
                    <a:pt x="147" y="170"/>
                    <a:pt x="145" y="163"/>
                    <a:pt x="145" y="159"/>
                  </a:cubicBezTo>
                  <a:cubicBezTo>
                    <a:pt x="143" y="148"/>
                    <a:pt x="160" y="128"/>
                    <a:pt x="166" y="106"/>
                  </a:cubicBezTo>
                  <a:cubicBezTo>
                    <a:pt x="173" y="81"/>
                    <a:pt x="175" y="48"/>
                    <a:pt x="146" y="24"/>
                  </a:cubicBezTo>
                  <a:close/>
                </a:path>
                <a:path w="175" h="209">
                  <a:moveTo>
                    <a:pt x="118" y="90"/>
                  </a:moveTo>
                  <a:cubicBezTo>
                    <a:pt x="112" y="98"/>
                    <a:pt x="110" y="104"/>
                    <a:pt x="110" y="110"/>
                  </a:cubicBezTo>
                  <a:cubicBezTo>
                    <a:pt x="110" y="128"/>
                    <a:pt x="110" y="128"/>
                    <a:pt x="110" y="128"/>
                  </a:cubicBezTo>
                  <a:cubicBezTo>
                    <a:pt x="110" y="133"/>
                    <a:pt x="107" y="136"/>
                    <a:pt x="104" y="136"/>
                  </a:cubicBezTo>
                  <a:cubicBezTo>
                    <a:pt x="97" y="136"/>
                    <a:pt x="97" y="136"/>
                    <a:pt x="97" y="136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5" y="138"/>
                    <a:pt x="93" y="139"/>
                    <a:pt x="91" y="139"/>
                  </a:cubicBezTo>
                  <a:cubicBezTo>
                    <a:pt x="89" y="139"/>
                    <a:pt x="88" y="138"/>
                    <a:pt x="87" y="136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6" y="136"/>
                    <a:pt x="73" y="133"/>
                    <a:pt x="73" y="129"/>
                  </a:cubicBezTo>
                  <a:cubicBezTo>
                    <a:pt x="73" y="110"/>
                    <a:pt x="73" y="110"/>
                    <a:pt x="73" y="110"/>
                  </a:cubicBezTo>
                  <a:cubicBezTo>
                    <a:pt x="73" y="104"/>
                    <a:pt x="70" y="98"/>
                    <a:pt x="65" y="90"/>
                  </a:cubicBezTo>
                  <a:cubicBezTo>
                    <a:pt x="59" y="83"/>
                    <a:pt x="57" y="76"/>
                    <a:pt x="57" y="68"/>
                  </a:cubicBezTo>
                  <a:cubicBezTo>
                    <a:pt x="57" y="49"/>
                    <a:pt x="72" y="34"/>
                    <a:pt x="91" y="34"/>
                  </a:cubicBezTo>
                  <a:cubicBezTo>
                    <a:pt x="110" y="34"/>
                    <a:pt x="126" y="49"/>
                    <a:pt x="126" y="68"/>
                  </a:cubicBezTo>
                  <a:cubicBezTo>
                    <a:pt x="126" y="76"/>
                    <a:pt x="123" y="83"/>
                    <a:pt x="118" y="90"/>
                  </a:cubicBez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1901221" y="3872416"/>
            <a:ext cx="632992" cy="552247"/>
            <a:chOff x="1901221" y="3872416"/>
            <a:chExt cx="632992" cy="552247"/>
          </a:xfrm>
        </p:grpSpPr>
        <p:sp>
          <p:nvSpPr>
            <p:cNvPr id="17" name="Freeform 17"/>
            <p:cNvSpPr/>
            <p:nvPr/>
          </p:nvSpPr>
          <p:spPr>
            <a:xfrm>
              <a:off x="1901221" y="4005148"/>
              <a:ext cx="419515" cy="419515"/>
            </a:xfrm>
            <a:custGeom>
              <a:avLst/>
              <a:gdLst/>
              <a:ahLst/>
              <a:cxnLst/>
              <a:rect l="l" t="t" r="r" b="b"/>
              <a:pathLst>
                <a:path w="167" h="167">
                  <a:moveTo>
                    <a:pt x="161" y="71"/>
                  </a:moveTo>
                  <a:cubicBezTo>
                    <a:pt x="148" y="71"/>
                    <a:pt x="148" y="71"/>
                    <a:pt x="148" y="71"/>
                  </a:cubicBezTo>
                  <a:cubicBezTo>
                    <a:pt x="146" y="62"/>
                    <a:pt x="143" y="54"/>
                    <a:pt x="138" y="47"/>
                  </a:cubicBezTo>
                  <a:cubicBezTo>
                    <a:pt x="147" y="38"/>
                    <a:pt x="147" y="38"/>
                    <a:pt x="147" y="38"/>
                  </a:cubicBezTo>
                  <a:cubicBezTo>
                    <a:pt x="149" y="36"/>
                    <a:pt x="150" y="32"/>
                    <a:pt x="148" y="31"/>
                  </a:cubicBezTo>
                  <a:cubicBezTo>
                    <a:pt x="136" y="19"/>
                    <a:pt x="136" y="19"/>
                    <a:pt x="136" y="19"/>
                  </a:cubicBezTo>
                  <a:cubicBezTo>
                    <a:pt x="135" y="17"/>
                    <a:pt x="131" y="18"/>
                    <a:pt x="129" y="20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13" y="24"/>
                    <a:pt x="105" y="21"/>
                    <a:pt x="96" y="19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3"/>
                    <a:pt x="94" y="0"/>
                    <a:pt x="92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3" y="0"/>
                    <a:pt x="71" y="3"/>
                    <a:pt x="71" y="6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62" y="21"/>
                    <a:pt x="54" y="24"/>
                    <a:pt x="46" y="2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5" y="18"/>
                    <a:pt x="32" y="17"/>
                    <a:pt x="30" y="19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2"/>
                    <a:pt x="17" y="36"/>
                    <a:pt x="19" y="3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4" y="54"/>
                    <a:pt x="20" y="62"/>
                    <a:pt x="19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2" y="71"/>
                    <a:pt x="0" y="73"/>
                    <a:pt x="0" y="75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4"/>
                    <a:pt x="2" y="96"/>
                    <a:pt x="6" y="96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20" y="105"/>
                    <a:pt x="24" y="113"/>
                    <a:pt x="29" y="120"/>
                  </a:cubicBezTo>
                  <a:cubicBezTo>
                    <a:pt x="19" y="130"/>
                    <a:pt x="19" y="130"/>
                    <a:pt x="19" y="130"/>
                  </a:cubicBezTo>
                  <a:cubicBezTo>
                    <a:pt x="17" y="132"/>
                    <a:pt x="17" y="135"/>
                    <a:pt x="18" y="137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2" y="150"/>
                    <a:pt x="35" y="150"/>
                    <a:pt x="37" y="147"/>
                  </a:cubicBezTo>
                  <a:cubicBezTo>
                    <a:pt x="46" y="138"/>
                    <a:pt x="46" y="138"/>
                    <a:pt x="46" y="138"/>
                  </a:cubicBezTo>
                  <a:cubicBezTo>
                    <a:pt x="54" y="143"/>
                    <a:pt x="62" y="147"/>
                    <a:pt x="71" y="148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1" y="164"/>
                    <a:pt x="73" y="167"/>
                    <a:pt x="75" y="167"/>
                  </a:cubicBezTo>
                  <a:cubicBezTo>
                    <a:pt x="92" y="167"/>
                    <a:pt x="92" y="167"/>
                    <a:pt x="92" y="167"/>
                  </a:cubicBezTo>
                  <a:cubicBezTo>
                    <a:pt x="94" y="167"/>
                    <a:pt x="96" y="164"/>
                    <a:pt x="96" y="161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05" y="147"/>
                    <a:pt x="113" y="143"/>
                    <a:pt x="120" y="138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31" y="150"/>
                    <a:pt x="135" y="150"/>
                    <a:pt x="136" y="148"/>
                  </a:cubicBezTo>
                  <a:cubicBezTo>
                    <a:pt x="148" y="137"/>
                    <a:pt x="148" y="137"/>
                    <a:pt x="148" y="137"/>
                  </a:cubicBezTo>
                  <a:cubicBezTo>
                    <a:pt x="150" y="135"/>
                    <a:pt x="149" y="132"/>
                    <a:pt x="147" y="130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43" y="113"/>
                    <a:pt x="146" y="105"/>
                    <a:pt x="148" y="96"/>
                  </a:cubicBezTo>
                  <a:cubicBezTo>
                    <a:pt x="161" y="96"/>
                    <a:pt x="161" y="96"/>
                    <a:pt x="161" y="96"/>
                  </a:cubicBezTo>
                  <a:cubicBezTo>
                    <a:pt x="164" y="96"/>
                    <a:pt x="167" y="94"/>
                    <a:pt x="167" y="92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7" y="73"/>
                    <a:pt x="164" y="71"/>
                    <a:pt x="161" y="71"/>
                  </a:cubicBezTo>
                  <a:close/>
                </a:path>
                <a:path w="167" h="167">
                  <a:moveTo>
                    <a:pt x="83" y="114"/>
                  </a:moveTo>
                  <a:cubicBezTo>
                    <a:pt x="66" y="114"/>
                    <a:pt x="52" y="101"/>
                    <a:pt x="52" y="84"/>
                  </a:cubicBezTo>
                  <a:cubicBezTo>
                    <a:pt x="52" y="67"/>
                    <a:pt x="66" y="53"/>
                    <a:pt x="83" y="53"/>
                  </a:cubicBezTo>
                  <a:cubicBezTo>
                    <a:pt x="100" y="53"/>
                    <a:pt x="114" y="67"/>
                    <a:pt x="114" y="84"/>
                  </a:cubicBezTo>
                  <a:cubicBezTo>
                    <a:pt x="114" y="101"/>
                    <a:pt x="100" y="114"/>
                    <a:pt x="83" y="114"/>
                  </a:cubicBezTo>
                </a:path>
              </a:pathLst>
            </a:custGeom>
            <a:solidFill>
              <a:schemeClr val="accent4">
                <a:alpha val="100000"/>
              </a:scheme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2230464" y="3872416"/>
              <a:ext cx="303749" cy="301663"/>
            </a:xfrm>
            <a:custGeom>
              <a:avLst/>
              <a:gdLst/>
              <a:ahLst/>
              <a:cxnLst/>
              <a:rect l="l" t="t" r="r" b="b"/>
              <a:pathLst>
                <a:path w="121" h="120">
                  <a:moveTo>
                    <a:pt x="117" y="51"/>
                  </a:moveTo>
                  <a:cubicBezTo>
                    <a:pt x="108" y="51"/>
                    <a:pt x="108" y="51"/>
                    <a:pt x="108" y="51"/>
                  </a:cubicBezTo>
                  <a:cubicBezTo>
                    <a:pt x="106" y="44"/>
                    <a:pt x="104" y="38"/>
                    <a:pt x="100" y="33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9" y="25"/>
                    <a:pt x="109" y="23"/>
                    <a:pt x="108" y="2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8" y="12"/>
                    <a:pt x="96" y="12"/>
                    <a:pt x="94" y="14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2" y="17"/>
                    <a:pt x="76" y="14"/>
                    <a:pt x="70" y="13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69" y="0"/>
                    <a:pt x="67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3" y="0"/>
                    <a:pt x="52" y="1"/>
                    <a:pt x="52" y="4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45" y="14"/>
                    <a:pt x="39" y="17"/>
                    <a:pt x="34" y="20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6" y="12"/>
                    <a:pt x="24" y="12"/>
                    <a:pt x="22" y="1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3"/>
                    <a:pt x="13" y="25"/>
                    <a:pt x="15" y="27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8"/>
                    <a:pt x="15" y="44"/>
                    <a:pt x="1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0" y="52"/>
                    <a:pt x="0" y="54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8"/>
                    <a:pt x="2" y="69"/>
                    <a:pt x="5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5" y="76"/>
                    <a:pt x="18" y="81"/>
                    <a:pt x="21" y="87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13" y="95"/>
                    <a:pt x="13" y="97"/>
                    <a:pt x="14" y="98"/>
                  </a:cubicBezTo>
                  <a:cubicBezTo>
                    <a:pt x="22" y="107"/>
                    <a:pt x="22" y="107"/>
                    <a:pt x="22" y="107"/>
                  </a:cubicBezTo>
                  <a:cubicBezTo>
                    <a:pt x="24" y="108"/>
                    <a:pt x="26" y="108"/>
                    <a:pt x="28" y="106"/>
                  </a:cubicBezTo>
                  <a:cubicBezTo>
                    <a:pt x="34" y="100"/>
                    <a:pt x="34" y="100"/>
                    <a:pt x="34" y="100"/>
                  </a:cubicBezTo>
                  <a:cubicBezTo>
                    <a:pt x="39" y="103"/>
                    <a:pt x="45" y="106"/>
                    <a:pt x="52" y="107"/>
                  </a:cubicBezTo>
                  <a:cubicBezTo>
                    <a:pt x="52" y="116"/>
                    <a:pt x="52" y="116"/>
                    <a:pt x="52" y="116"/>
                  </a:cubicBezTo>
                  <a:cubicBezTo>
                    <a:pt x="52" y="118"/>
                    <a:pt x="53" y="120"/>
                    <a:pt x="55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9" y="120"/>
                    <a:pt x="70" y="118"/>
                    <a:pt x="70" y="116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76" y="106"/>
                    <a:pt x="82" y="103"/>
                    <a:pt x="87" y="100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6" y="108"/>
                    <a:pt x="98" y="108"/>
                    <a:pt x="99" y="107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7"/>
                    <a:pt x="109" y="95"/>
                    <a:pt x="107" y="93"/>
                  </a:cubicBezTo>
                  <a:cubicBezTo>
                    <a:pt x="100" y="87"/>
                    <a:pt x="100" y="87"/>
                    <a:pt x="100" y="87"/>
                  </a:cubicBezTo>
                  <a:cubicBezTo>
                    <a:pt x="104" y="81"/>
                    <a:pt x="106" y="76"/>
                    <a:pt x="108" y="69"/>
                  </a:cubicBezTo>
                  <a:cubicBezTo>
                    <a:pt x="117" y="69"/>
                    <a:pt x="117" y="69"/>
                    <a:pt x="117" y="69"/>
                  </a:cubicBezTo>
                  <a:cubicBezTo>
                    <a:pt x="119" y="69"/>
                    <a:pt x="121" y="68"/>
                    <a:pt x="121" y="66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52"/>
                    <a:pt x="119" y="51"/>
                    <a:pt x="117" y="51"/>
                  </a:cubicBezTo>
                  <a:close/>
                </a:path>
                <a:path w="121" h="120">
                  <a:moveTo>
                    <a:pt x="61" y="82"/>
                  </a:moveTo>
                  <a:cubicBezTo>
                    <a:pt x="48" y="82"/>
                    <a:pt x="38" y="72"/>
                    <a:pt x="38" y="60"/>
                  </a:cubicBezTo>
                  <a:cubicBezTo>
                    <a:pt x="38" y="48"/>
                    <a:pt x="48" y="38"/>
                    <a:pt x="61" y="38"/>
                  </a:cubicBezTo>
                  <a:cubicBezTo>
                    <a:pt x="73" y="38"/>
                    <a:pt x="83" y="48"/>
                    <a:pt x="83" y="60"/>
                  </a:cubicBezTo>
                  <a:cubicBezTo>
                    <a:pt x="83" y="72"/>
                    <a:pt x="73" y="82"/>
                    <a:pt x="61" y="82"/>
                  </a:cubicBezTo>
                </a:path>
              </a:pathLst>
            </a:custGeom>
            <a:solidFill>
              <a:schemeClr val="accent4">
                <a:alpha val="100000"/>
              </a:schemeClr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4607230" y="4010959"/>
            <a:ext cx="550251" cy="585271"/>
            <a:chOff x="4607230" y="4010959"/>
            <a:chExt cx="550251" cy="585271"/>
          </a:xfrm>
        </p:grpSpPr>
        <p:sp>
          <p:nvSpPr>
            <p:cNvPr id="20" name="Freeform 20"/>
            <p:cNvSpPr/>
            <p:nvPr/>
          </p:nvSpPr>
          <p:spPr>
            <a:xfrm>
              <a:off x="4929125" y="4010959"/>
              <a:ext cx="228356" cy="257026"/>
            </a:xfrm>
            <a:custGeom>
              <a:avLst/>
              <a:gdLst/>
              <a:ahLst/>
              <a:cxnLst/>
              <a:rect l="l" t="t" r="r" b="b"/>
              <a:pathLst>
                <a:path w="91" h="102">
                  <a:moveTo>
                    <a:pt x="76" y="45"/>
                  </a:moveTo>
                  <a:cubicBezTo>
                    <a:pt x="65" y="52"/>
                    <a:pt x="54" y="52"/>
                    <a:pt x="50" y="5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2" y="43"/>
                    <a:pt x="40" y="32"/>
                    <a:pt x="45" y="19"/>
                  </a:cubicBezTo>
                  <a:cubicBezTo>
                    <a:pt x="52" y="4"/>
                    <a:pt x="70" y="0"/>
                    <a:pt x="70" y="0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8" y="21"/>
                    <a:pt x="69" y="21"/>
                    <a:pt x="70" y="22"/>
                  </a:cubicBezTo>
                  <a:cubicBezTo>
                    <a:pt x="70" y="22"/>
                    <a:pt x="70" y="23"/>
                    <a:pt x="70" y="24"/>
                  </a:cubicBezTo>
                  <a:cubicBezTo>
                    <a:pt x="91" y="17"/>
                    <a:pt x="91" y="17"/>
                    <a:pt x="91" y="17"/>
                  </a:cubicBezTo>
                  <a:cubicBezTo>
                    <a:pt x="91" y="17"/>
                    <a:pt x="90" y="36"/>
                    <a:pt x="76" y="45"/>
                  </a:cubicBezTo>
                </a:path>
              </a:pathLst>
            </a:custGeom>
            <a:solidFill>
              <a:schemeClr val="accent4">
                <a:alpha val="100000"/>
              </a:scheme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4607230" y="4187330"/>
              <a:ext cx="439747" cy="408900"/>
            </a:xfrm>
            <a:custGeom>
              <a:avLst/>
              <a:gdLst/>
              <a:ahLst/>
              <a:cxnLst/>
              <a:rect l="l" t="t" r="r" b="b"/>
              <a:pathLst>
                <a:path w="175" h="163">
                  <a:moveTo>
                    <a:pt x="77" y="0"/>
                  </a:moveTo>
                  <a:cubicBezTo>
                    <a:pt x="95" y="0"/>
                    <a:pt x="112" y="6"/>
                    <a:pt x="127" y="16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0" y="36"/>
                    <a:pt x="92" y="34"/>
                    <a:pt x="84" y="34"/>
                  </a:cubicBezTo>
                  <a:cubicBezTo>
                    <a:pt x="59" y="34"/>
                    <a:pt x="41" y="54"/>
                    <a:pt x="44" y="80"/>
                  </a:cubicBezTo>
                  <a:cubicBezTo>
                    <a:pt x="47" y="105"/>
                    <a:pt x="70" y="125"/>
                    <a:pt x="96" y="125"/>
                  </a:cubicBezTo>
                  <a:cubicBezTo>
                    <a:pt x="121" y="125"/>
                    <a:pt x="138" y="105"/>
                    <a:pt x="135" y="80"/>
                  </a:cubicBezTo>
                  <a:cubicBezTo>
                    <a:pt x="134" y="71"/>
                    <a:pt x="130" y="63"/>
                    <a:pt x="125" y="56"/>
                  </a:cubicBezTo>
                  <a:cubicBezTo>
                    <a:pt x="145" y="32"/>
                    <a:pt x="145" y="32"/>
                    <a:pt x="145" y="32"/>
                  </a:cubicBezTo>
                  <a:cubicBezTo>
                    <a:pt x="158" y="46"/>
                    <a:pt x="166" y="63"/>
                    <a:pt x="169" y="82"/>
                  </a:cubicBezTo>
                  <a:cubicBezTo>
                    <a:pt x="175" y="127"/>
                    <a:pt x="143" y="163"/>
                    <a:pt x="98" y="163"/>
                  </a:cubicBezTo>
                  <a:cubicBezTo>
                    <a:pt x="53" y="163"/>
                    <a:pt x="12" y="127"/>
                    <a:pt x="6" y="82"/>
                  </a:cubicBezTo>
                  <a:cubicBezTo>
                    <a:pt x="0" y="37"/>
                    <a:pt x="31" y="0"/>
                    <a:pt x="77" y="0"/>
                  </a:cubicBezTo>
                </a:path>
              </a:pathLst>
            </a:custGeom>
            <a:solidFill>
              <a:schemeClr val="accent4">
                <a:alpha val="100000"/>
              </a:scheme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4740052" y="4297743"/>
              <a:ext cx="185897" cy="173104"/>
            </a:xfrm>
            <a:custGeom>
              <a:avLst/>
              <a:gdLst/>
              <a:ahLst/>
              <a:cxnLst/>
              <a:rect l="l" t="t" r="r" b="b"/>
              <a:pathLst>
                <a:path w="74" h="69">
                  <a:moveTo>
                    <a:pt x="42" y="69"/>
                  </a:moveTo>
                  <a:cubicBezTo>
                    <a:pt x="23" y="69"/>
                    <a:pt x="5" y="54"/>
                    <a:pt x="3" y="35"/>
                  </a:cubicBezTo>
                  <a:cubicBezTo>
                    <a:pt x="0" y="16"/>
                    <a:pt x="14" y="0"/>
                    <a:pt x="33" y="0"/>
                  </a:cubicBezTo>
                  <a:cubicBezTo>
                    <a:pt x="38" y="0"/>
                    <a:pt x="44" y="2"/>
                    <a:pt x="49" y="4"/>
                  </a:cubicBezTo>
                  <a:cubicBezTo>
                    <a:pt x="48" y="6"/>
                    <a:pt x="48" y="9"/>
                    <a:pt x="49" y="11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60" y="20"/>
                    <a:pt x="60" y="20"/>
                  </a:cubicBezTo>
                  <a:cubicBezTo>
                    <a:pt x="62" y="20"/>
                    <a:pt x="64" y="19"/>
                    <a:pt x="66" y="18"/>
                  </a:cubicBezTo>
                  <a:cubicBezTo>
                    <a:pt x="69" y="23"/>
                    <a:pt x="71" y="29"/>
                    <a:pt x="72" y="35"/>
                  </a:cubicBezTo>
                  <a:cubicBezTo>
                    <a:pt x="74" y="54"/>
                    <a:pt x="61" y="69"/>
                    <a:pt x="42" y="69"/>
                  </a:cubicBezTo>
                </a:path>
              </a:pathLst>
            </a:custGeom>
            <a:solidFill>
              <a:schemeClr val="accent4">
                <a:alpha val="100000"/>
              </a:scheme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4843026" y="4249930"/>
              <a:ext cx="108326" cy="123205"/>
            </a:xfrm>
            <a:custGeom>
              <a:avLst/>
              <a:gdLst/>
              <a:ahLst/>
              <a:cxnLst/>
              <a:rect l="l" t="t" r="r" b="b"/>
              <a:pathLst>
                <a:path w="43" h="49">
                  <a:moveTo>
                    <a:pt x="13" y="31"/>
                  </a:moveTo>
                  <a:cubicBezTo>
                    <a:pt x="11" y="28"/>
                    <a:pt x="12" y="25"/>
                    <a:pt x="14" y="2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2" y="34"/>
                    <a:pt x="19" y="35"/>
                    <a:pt x="17" y="3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13" y="31"/>
                  </a:lnTo>
                </a:path>
              </a:pathLst>
            </a:custGeom>
            <a:solidFill>
              <a:schemeClr val="accent4">
                <a:alpha val="100000"/>
              </a:schemeClr>
            </a:solid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3229795" y="2529173"/>
            <a:ext cx="532872" cy="668628"/>
            <a:chOff x="3229795" y="2529173"/>
            <a:chExt cx="532872" cy="668628"/>
          </a:xfrm>
        </p:grpSpPr>
        <p:sp>
          <p:nvSpPr>
            <p:cNvPr id="25" name="Freeform 25"/>
            <p:cNvSpPr/>
            <p:nvPr/>
          </p:nvSpPr>
          <p:spPr>
            <a:xfrm>
              <a:off x="3602425" y="2529173"/>
              <a:ext cx="160242" cy="174977"/>
            </a:xfrm>
            <a:custGeom>
              <a:avLst/>
              <a:gdLst/>
              <a:ahLst/>
              <a:cxnLst/>
              <a:rect l="l" t="t" r="r" b="b"/>
              <a:pathLst>
                <a:path w="126" h="140">
                  <a:moveTo>
                    <a:pt x="0" y="57"/>
                  </a:moveTo>
                  <a:lnTo>
                    <a:pt x="48" y="0"/>
                  </a:lnTo>
                  <a:lnTo>
                    <a:pt x="126" y="85"/>
                  </a:lnTo>
                  <a:lnTo>
                    <a:pt x="78" y="140"/>
                  </a:lnTo>
                  <a:lnTo>
                    <a:pt x="0" y="57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3395143" y="2620344"/>
              <a:ext cx="282351" cy="311201"/>
            </a:xfrm>
            <a:custGeom>
              <a:avLst/>
              <a:gdLst/>
              <a:ahLst/>
              <a:cxnLst/>
              <a:rect l="l" t="t" r="r" b="b"/>
              <a:pathLst>
                <a:path w="94" h="105">
                  <a:moveTo>
                    <a:pt x="70" y="0"/>
                  </a:moveTo>
                  <a:cubicBezTo>
                    <a:pt x="63" y="9"/>
                    <a:pt x="63" y="9"/>
                    <a:pt x="63" y="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14" y="33"/>
                    <a:pt x="12" y="37"/>
                  </a:cubicBezTo>
                  <a:cubicBezTo>
                    <a:pt x="10" y="40"/>
                    <a:pt x="2" y="67"/>
                    <a:pt x="1" y="70"/>
                  </a:cubicBezTo>
                  <a:cubicBezTo>
                    <a:pt x="0" y="71"/>
                    <a:pt x="0" y="75"/>
                    <a:pt x="0" y="77"/>
                  </a:cubicBezTo>
                  <a:cubicBezTo>
                    <a:pt x="0" y="78"/>
                    <a:pt x="2" y="93"/>
                    <a:pt x="3" y="102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3" y="103"/>
                    <a:pt x="3" y="104"/>
                    <a:pt x="4" y="105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59"/>
                    <a:pt x="37" y="61"/>
                    <a:pt x="40" y="62"/>
                  </a:cubicBezTo>
                  <a:cubicBezTo>
                    <a:pt x="39" y="64"/>
                    <a:pt x="37" y="68"/>
                    <a:pt x="37" y="69"/>
                  </a:cubicBezTo>
                  <a:cubicBezTo>
                    <a:pt x="36" y="71"/>
                    <a:pt x="30" y="78"/>
                    <a:pt x="27" y="83"/>
                  </a:cubicBezTo>
                  <a:cubicBezTo>
                    <a:pt x="25" y="85"/>
                    <a:pt x="24" y="90"/>
                    <a:pt x="28" y="93"/>
                  </a:cubicBezTo>
                  <a:cubicBezTo>
                    <a:pt x="29" y="94"/>
                    <a:pt x="31" y="95"/>
                    <a:pt x="33" y="95"/>
                  </a:cubicBezTo>
                  <a:cubicBezTo>
                    <a:pt x="37" y="95"/>
                    <a:pt x="41" y="92"/>
                    <a:pt x="41" y="92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56" y="74"/>
                    <a:pt x="63" y="71"/>
                  </a:cubicBezTo>
                  <a:cubicBezTo>
                    <a:pt x="69" y="68"/>
                    <a:pt x="87" y="54"/>
                    <a:pt x="87" y="36"/>
                  </a:cubicBezTo>
                  <a:cubicBezTo>
                    <a:pt x="94" y="26"/>
                    <a:pt x="94" y="26"/>
                    <a:pt x="94" y="26"/>
                  </a:cubicBezTo>
                  <a:lnTo>
                    <a:pt x="70" y="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3229795" y="2869092"/>
              <a:ext cx="445092" cy="328709"/>
            </a:xfrm>
            <a:custGeom>
              <a:avLst/>
              <a:gdLst/>
              <a:ahLst/>
              <a:cxnLst/>
              <a:rect l="l" t="t" r="r" b="b"/>
              <a:pathLst>
                <a:path w="148" h="111">
                  <a:moveTo>
                    <a:pt x="124" y="49"/>
                  </a:moveTo>
                  <a:cubicBezTo>
                    <a:pt x="124" y="104"/>
                    <a:pt x="124" y="104"/>
                    <a:pt x="124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86" y="104"/>
                    <a:pt x="86" y="104"/>
                    <a:pt x="86" y="104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3" y="13"/>
                    <a:pt x="81" y="12"/>
                    <a:pt x="80" y="10"/>
                  </a:cubicBezTo>
                  <a:cubicBezTo>
                    <a:pt x="77" y="7"/>
                    <a:pt x="77" y="3"/>
                    <a:pt x="78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104"/>
                    <a:pt x="62" y="104"/>
                    <a:pt x="62" y="104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148" y="111"/>
                    <a:pt x="148" y="111"/>
                    <a:pt x="148" y="111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24" y="49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7438855" y="1322997"/>
            <a:ext cx="2845859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权限控制技术说明</a:t>
            </a:r>
            <a:endParaRPr lang="en-US" sz="15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38855" y="1737099"/>
            <a:ext cx="3130173" cy="1786027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88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Role-Based Access Control（基于角色的访问控制）；用户 → 角色 → 权限；4种角色为admin、user、coach、staff。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438855" y="3633259"/>
            <a:ext cx="2845859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权限设计</a:t>
            </a:r>
            <a:endParaRPr lang="en-US" sz="15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31"/>
          <p:cNvSpPr txBox="1"/>
          <p:nvPr/>
        </p:nvSpPr>
        <p:spPr>
          <a:xfrm>
            <a:off x="7438855" y="4047361"/>
            <a:ext cx="3130173" cy="1786027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88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后端接口添加权限注解，拦截器检查用户角色；前端根据角色显示不同菜单，实现灵活的权限控制。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1875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SQL注入防护技术说明与应用场景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785652" y="1405692"/>
            <a:ext cx="642443" cy="642443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877896" y="1498635"/>
            <a:ext cx="446401" cy="446401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082073" y="5517405"/>
            <a:ext cx="346022" cy="346022"/>
          </a:xfrm>
          <a:prstGeom prst="rtTriangl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2" name="Connector 12"/>
          <p:cNvCxnSpPr/>
          <p:nvPr/>
        </p:nvCxnSpPr>
        <p:spPr>
          <a:xfrm>
            <a:off x="1083309" y="1971102"/>
            <a:ext cx="10376" cy="3880712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Connector 13"/>
          <p:cNvCxnSpPr/>
          <p:nvPr/>
        </p:nvCxnSpPr>
        <p:spPr>
          <a:xfrm flipH="1">
            <a:off x="1083309" y="5851814"/>
            <a:ext cx="4505844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AutoShape 14"/>
          <p:cNvSpPr/>
          <p:nvPr/>
        </p:nvSpPr>
        <p:spPr>
          <a:xfrm>
            <a:off x="5947588" y="1450597"/>
            <a:ext cx="642443" cy="642443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6039832" y="1543540"/>
            <a:ext cx="446401" cy="446401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6244009" y="5562310"/>
            <a:ext cx="346022" cy="346022"/>
          </a:xfrm>
          <a:prstGeom prst="rtTriangl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7" name="Connector 17"/>
          <p:cNvCxnSpPr/>
          <p:nvPr/>
        </p:nvCxnSpPr>
        <p:spPr>
          <a:xfrm>
            <a:off x="6245246" y="2016007"/>
            <a:ext cx="10376" cy="3880712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or 18"/>
          <p:cNvCxnSpPr/>
          <p:nvPr/>
        </p:nvCxnSpPr>
        <p:spPr>
          <a:xfrm flipH="1">
            <a:off x="6245246" y="5896719"/>
            <a:ext cx="4505844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Box 19"/>
          <p:cNvSpPr txBox="1"/>
          <p:nvPr/>
        </p:nvSpPr>
        <p:spPr>
          <a:xfrm>
            <a:off x="1377680" y="1908008"/>
            <a:ext cx="4211473" cy="120774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SQL注入防护技术说明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77680" y="2920721"/>
            <a:ext cx="4211473" cy="23661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MyBatis预编译SQL防止注入，使用{}而非${}，参数化查询，确保应用安全。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590031" y="1908008"/>
            <a:ext cx="4211473" cy="120774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2"/>
          <p:cNvSpPr txBox="1"/>
          <p:nvPr/>
        </p:nvSpPr>
        <p:spPr>
          <a:xfrm>
            <a:off x="6590031" y="2922138"/>
            <a:ext cx="4211473" cy="23661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后端验证用户输入，前端对用户输入进行过滤，Eelement Plus组件自带XSS防护，防止SQL注入和XSS攻击。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195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XSS攻击防护技术说明与应用场景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5972366" y="1274102"/>
            <a:ext cx="4883676" cy="4481057"/>
          </a:xfrm>
          <a:prstGeom prst="rect">
            <a:avLst/>
          </a:prstGeom>
          <a:solidFill>
            <a:schemeClr val="accent1">
              <a:alpha val="12000"/>
              <a:lumMod val="60000"/>
              <a:lumOff val="4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727547" y="1274102"/>
            <a:ext cx="4883676" cy="4481057"/>
          </a:xfrm>
          <a:prstGeom prst="rect">
            <a:avLst/>
          </a:prstGeom>
          <a:solidFill>
            <a:schemeClr val="accent1">
              <a:alpha val="12000"/>
              <a:lumMod val="60000"/>
              <a:lumOff val="4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20212" y="1274102"/>
            <a:ext cx="1940839" cy="4819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2272626" y="1274102"/>
            <a:ext cx="631653" cy="481911"/>
          </a:xfrm>
          <a:prstGeom prst="parallelogram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5972366" y="1274102"/>
            <a:ext cx="1940839" cy="4819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7524779" y="1274102"/>
            <a:ext cx="631653" cy="481911"/>
          </a:xfrm>
          <a:prstGeom prst="parallelogram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TextBox 15"/>
          <p:cNvSpPr txBox="1"/>
          <p:nvPr/>
        </p:nvSpPr>
        <p:spPr>
          <a:xfrm>
            <a:off x="978361" y="1896975"/>
            <a:ext cx="4382048" cy="171471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XSS攻击防护技术说明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8361" y="3121771"/>
            <a:ext cx="4382048" cy="23661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前端对用户输入进行过滤，Element Plus组件自带XSS防护；后端验证用户输入。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60317" y="1188071"/>
            <a:ext cx="1112309" cy="63870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7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要点一</a:t>
            </a:r>
            <a:endParaRPr lang="en-US" sz="17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453394" y="1202054"/>
            <a:ext cx="1112309" cy="63870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7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要点二</a:t>
            </a:r>
            <a:endParaRPr lang="en-US" sz="1725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223179" y="1896975"/>
            <a:ext cx="4382048" cy="122479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  <a:endParaRPr lang="en-US" sz="22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33" name="TextBox 20"/>
          <p:cNvSpPr txBox="1"/>
          <p:nvPr/>
        </p:nvSpPr>
        <p:spPr>
          <a:xfrm>
            <a:off x="6236788" y="3121771"/>
            <a:ext cx="4354830" cy="23661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为确保数据安全，防止XSS攻击，后端验证用户输入与前端过滤输入数据相结合，提供双重保障。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2100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性能优化技术概述与应用场景</a:t>
              </a:r>
              <a:endParaRPr lang="en-US" sz="1100"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35623" r="35623"/>
          <a:stretch>
            <a:fillRect/>
          </a:stretch>
        </p:blipFill>
        <p:spPr>
          <a:xfrm>
            <a:off x="833737" y="1780456"/>
            <a:ext cx="1953281" cy="373040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23819" r="23819"/>
          <a:stretch>
            <a:fillRect/>
          </a:stretch>
        </p:blipFill>
        <p:spPr>
          <a:xfrm>
            <a:off x="5626170" y="1780456"/>
            <a:ext cx="1953281" cy="3730404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l="35644" r="35644"/>
          <a:stretch>
            <a:fillRect/>
          </a:stretch>
        </p:blipFill>
        <p:spPr>
          <a:xfrm>
            <a:off x="3229953" y="1780456"/>
            <a:ext cx="1953281" cy="3730404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8099693" y="1780456"/>
            <a:ext cx="286606" cy="471773"/>
          </a:xfrm>
          <a:custGeom>
            <a:avLst/>
            <a:gdLst/>
            <a:ahLst/>
            <a:cxnLst/>
            <a:rect l="l" t="t" r="r" b="b"/>
            <a:pathLst>
              <a:path w="369275" h="607851">
                <a:moveTo>
                  <a:pt x="139276" y="570066"/>
                </a:moveTo>
                <a:cubicBezTo>
                  <a:pt x="144275" y="565371"/>
                  <a:pt x="152183" y="565744"/>
                  <a:pt x="156809" y="570811"/>
                </a:cubicBezTo>
                <a:cubicBezTo>
                  <a:pt x="171730" y="587133"/>
                  <a:pt x="197544" y="587133"/>
                  <a:pt x="212465" y="570811"/>
                </a:cubicBezTo>
                <a:cubicBezTo>
                  <a:pt x="217091" y="565744"/>
                  <a:pt x="224999" y="565371"/>
                  <a:pt x="229998" y="570066"/>
                </a:cubicBezTo>
                <a:cubicBezTo>
                  <a:pt x="235071" y="574687"/>
                  <a:pt x="235444" y="582512"/>
                  <a:pt x="230818" y="587580"/>
                </a:cubicBezTo>
                <a:cubicBezTo>
                  <a:pt x="218956" y="600473"/>
                  <a:pt x="202170" y="607851"/>
                  <a:pt x="184637" y="607851"/>
                </a:cubicBezTo>
                <a:cubicBezTo>
                  <a:pt x="167105" y="607851"/>
                  <a:pt x="150318" y="600473"/>
                  <a:pt x="138456" y="587580"/>
                </a:cubicBezTo>
                <a:cubicBezTo>
                  <a:pt x="133830" y="582512"/>
                  <a:pt x="134203" y="574687"/>
                  <a:pt x="139276" y="570066"/>
                </a:cubicBezTo>
                <a:close/>
              </a:path>
              <a:path w="369275" h="607851">
                <a:moveTo>
                  <a:pt x="273919" y="497785"/>
                </a:moveTo>
                <a:cubicBezTo>
                  <a:pt x="280558" y="496146"/>
                  <a:pt x="287345" y="500169"/>
                  <a:pt x="288986" y="506874"/>
                </a:cubicBezTo>
                <a:cubicBezTo>
                  <a:pt x="290627" y="513505"/>
                  <a:pt x="286599" y="520210"/>
                  <a:pt x="279961" y="521849"/>
                </a:cubicBezTo>
                <a:cubicBezTo>
                  <a:pt x="218426" y="537271"/>
                  <a:pt x="156891" y="552619"/>
                  <a:pt x="95356" y="567966"/>
                </a:cubicBezTo>
                <a:cubicBezTo>
                  <a:pt x="88717" y="569605"/>
                  <a:pt x="81930" y="565582"/>
                  <a:pt x="80289" y="558951"/>
                </a:cubicBezTo>
                <a:cubicBezTo>
                  <a:pt x="78648" y="552321"/>
                  <a:pt x="82676" y="545541"/>
                  <a:pt x="89314" y="543902"/>
                </a:cubicBezTo>
                <a:cubicBezTo>
                  <a:pt x="150849" y="528554"/>
                  <a:pt x="212384" y="513207"/>
                  <a:pt x="273919" y="497785"/>
                </a:cubicBezTo>
                <a:close/>
              </a:path>
              <a:path w="369275" h="607851">
                <a:moveTo>
                  <a:pt x="273919" y="452696"/>
                </a:moveTo>
                <a:cubicBezTo>
                  <a:pt x="280558" y="450984"/>
                  <a:pt x="287345" y="455003"/>
                  <a:pt x="288986" y="461701"/>
                </a:cubicBezTo>
                <a:cubicBezTo>
                  <a:pt x="290627" y="468325"/>
                  <a:pt x="286599" y="475024"/>
                  <a:pt x="279961" y="476736"/>
                </a:cubicBezTo>
                <a:cubicBezTo>
                  <a:pt x="218426" y="492067"/>
                  <a:pt x="156891" y="507399"/>
                  <a:pt x="95356" y="522731"/>
                </a:cubicBezTo>
                <a:cubicBezTo>
                  <a:pt x="88717" y="524443"/>
                  <a:pt x="81930" y="520350"/>
                  <a:pt x="80289" y="513726"/>
                </a:cubicBezTo>
                <a:cubicBezTo>
                  <a:pt x="78648" y="507102"/>
                  <a:pt x="82676" y="500403"/>
                  <a:pt x="89314" y="498691"/>
                </a:cubicBezTo>
                <a:cubicBezTo>
                  <a:pt x="150849" y="483360"/>
                  <a:pt x="212384" y="468028"/>
                  <a:pt x="273919" y="452696"/>
                </a:cubicBezTo>
                <a:close/>
              </a:path>
              <a:path w="369275" h="607851">
                <a:moveTo>
                  <a:pt x="184673" y="227009"/>
                </a:moveTo>
                <a:cubicBezTo>
                  <a:pt x="189222" y="227009"/>
                  <a:pt x="193698" y="227158"/>
                  <a:pt x="198173" y="227456"/>
                </a:cubicBezTo>
                <a:cubicBezTo>
                  <a:pt x="202723" y="227829"/>
                  <a:pt x="207273" y="228276"/>
                  <a:pt x="211748" y="228947"/>
                </a:cubicBezTo>
                <a:cubicBezTo>
                  <a:pt x="216223" y="229617"/>
                  <a:pt x="220773" y="230437"/>
                  <a:pt x="225248" y="231406"/>
                </a:cubicBezTo>
                <a:cubicBezTo>
                  <a:pt x="229723" y="232449"/>
                  <a:pt x="234199" y="233567"/>
                  <a:pt x="238674" y="234908"/>
                </a:cubicBezTo>
                <a:cubicBezTo>
                  <a:pt x="248370" y="237740"/>
                  <a:pt x="250757" y="250408"/>
                  <a:pt x="242776" y="256593"/>
                </a:cubicBezTo>
                <a:cubicBezTo>
                  <a:pt x="242403" y="256891"/>
                  <a:pt x="242030" y="257190"/>
                  <a:pt x="241657" y="257562"/>
                </a:cubicBezTo>
                <a:cubicBezTo>
                  <a:pt x="241284" y="257935"/>
                  <a:pt x="240837" y="258307"/>
                  <a:pt x="240464" y="258680"/>
                </a:cubicBezTo>
                <a:cubicBezTo>
                  <a:pt x="240091" y="259127"/>
                  <a:pt x="239644" y="259574"/>
                  <a:pt x="239271" y="260021"/>
                </a:cubicBezTo>
                <a:cubicBezTo>
                  <a:pt x="238823" y="260543"/>
                  <a:pt x="238450" y="261065"/>
                  <a:pt x="238003" y="261586"/>
                </a:cubicBezTo>
                <a:cubicBezTo>
                  <a:pt x="237555" y="262182"/>
                  <a:pt x="237182" y="262779"/>
                  <a:pt x="236735" y="263449"/>
                </a:cubicBezTo>
                <a:cubicBezTo>
                  <a:pt x="236287" y="264120"/>
                  <a:pt x="235914" y="264791"/>
                  <a:pt x="235467" y="265461"/>
                </a:cubicBezTo>
                <a:cubicBezTo>
                  <a:pt x="235019" y="266206"/>
                  <a:pt x="234646" y="266952"/>
                  <a:pt x="234199" y="267697"/>
                </a:cubicBezTo>
                <a:cubicBezTo>
                  <a:pt x="233826" y="268442"/>
                  <a:pt x="233453" y="269187"/>
                  <a:pt x="233080" y="269932"/>
                </a:cubicBezTo>
                <a:cubicBezTo>
                  <a:pt x="232632" y="270827"/>
                  <a:pt x="232259" y="271721"/>
                  <a:pt x="231812" y="272615"/>
                </a:cubicBezTo>
                <a:cubicBezTo>
                  <a:pt x="231439" y="273584"/>
                  <a:pt x="230991" y="274553"/>
                  <a:pt x="230618" y="275521"/>
                </a:cubicBezTo>
                <a:cubicBezTo>
                  <a:pt x="230171" y="276565"/>
                  <a:pt x="229798" y="277608"/>
                  <a:pt x="229425" y="278726"/>
                </a:cubicBezTo>
                <a:cubicBezTo>
                  <a:pt x="228978" y="279844"/>
                  <a:pt x="228605" y="280961"/>
                  <a:pt x="228232" y="282079"/>
                </a:cubicBezTo>
                <a:cubicBezTo>
                  <a:pt x="227859" y="283271"/>
                  <a:pt x="227486" y="284464"/>
                  <a:pt x="227113" y="285656"/>
                </a:cubicBezTo>
                <a:cubicBezTo>
                  <a:pt x="226740" y="286923"/>
                  <a:pt x="226367" y="288190"/>
                  <a:pt x="225994" y="289457"/>
                </a:cubicBezTo>
                <a:cubicBezTo>
                  <a:pt x="225621" y="290798"/>
                  <a:pt x="225248" y="292214"/>
                  <a:pt x="224950" y="293555"/>
                </a:cubicBezTo>
                <a:cubicBezTo>
                  <a:pt x="224577" y="294971"/>
                  <a:pt x="224204" y="296387"/>
                  <a:pt x="223906" y="297803"/>
                </a:cubicBezTo>
                <a:cubicBezTo>
                  <a:pt x="223533" y="299293"/>
                  <a:pt x="223234" y="300784"/>
                  <a:pt x="222936" y="302274"/>
                </a:cubicBezTo>
                <a:cubicBezTo>
                  <a:pt x="222265" y="305478"/>
                  <a:pt x="221593" y="308608"/>
                  <a:pt x="221071" y="311813"/>
                </a:cubicBezTo>
                <a:cubicBezTo>
                  <a:pt x="220475" y="315315"/>
                  <a:pt x="219878" y="318817"/>
                  <a:pt x="219430" y="322245"/>
                </a:cubicBezTo>
                <a:cubicBezTo>
                  <a:pt x="218983" y="325152"/>
                  <a:pt x="218610" y="328058"/>
                  <a:pt x="218237" y="330964"/>
                </a:cubicBezTo>
                <a:cubicBezTo>
                  <a:pt x="217789" y="334914"/>
                  <a:pt x="217342" y="338938"/>
                  <a:pt x="216969" y="342887"/>
                </a:cubicBezTo>
                <a:cubicBezTo>
                  <a:pt x="216521" y="347135"/>
                  <a:pt x="216148" y="351383"/>
                  <a:pt x="215776" y="355630"/>
                </a:cubicBezTo>
                <a:cubicBezTo>
                  <a:pt x="215477" y="360101"/>
                  <a:pt x="215179" y="364647"/>
                  <a:pt x="214880" y="369193"/>
                </a:cubicBezTo>
                <a:cubicBezTo>
                  <a:pt x="214508" y="376049"/>
                  <a:pt x="208615" y="381265"/>
                  <a:pt x="201753" y="380818"/>
                </a:cubicBezTo>
                <a:cubicBezTo>
                  <a:pt x="194891" y="380445"/>
                  <a:pt x="189670" y="374558"/>
                  <a:pt x="190117" y="367702"/>
                </a:cubicBezTo>
                <a:cubicBezTo>
                  <a:pt x="190490" y="361517"/>
                  <a:pt x="190863" y="355332"/>
                  <a:pt x="191385" y="349221"/>
                </a:cubicBezTo>
                <a:cubicBezTo>
                  <a:pt x="191684" y="346241"/>
                  <a:pt x="191908" y="343334"/>
                  <a:pt x="192206" y="340428"/>
                </a:cubicBezTo>
                <a:cubicBezTo>
                  <a:pt x="192504" y="337596"/>
                  <a:pt x="192803" y="334839"/>
                  <a:pt x="193101" y="332007"/>
                </a:cubicBezTo>
                <a:cubicBezTo>
                  <a:pt x="193399" y="329325"/>
                  <a:pt x="193772" y="326642"/>
                  <a:pt x="194071" y="323959"/>
                </a:cubicBezTo>
                <a:cubicBezTo>
                  <a:pt x="194294" y="322171"/>
                  <a:pt x="194593" y="320457"/>
                  <a:pt x="194816" y="318743"/>
                </a:cubicBezTo>
                <a:cubicBezTo>
                  <a:pt x="195189" y="316209"/>
                  <a:pt x="195562" y="313750"/>
                  <a:pt x="196010" y="311216"/>
                </a:cubicBezTo>
                <a:cubicBezTo>
                  <a:pt x="196383" y="308832"/>
                  <a:pt x="196756" y="306447"/>
                  <a:pt x="197203" y="303988"/>
                </a:cubicBezTo>
                <a:cubicBezTo>
                  <a:pt x="197651" y="301752"/>
                  <a:pt x="198098" y="299442"/>
                  <a:pt x="198620" y="297132"/>
                </a:cubicBezTo>
                <a:cubicBezTo>
                  <a:pt x="199068" y="294971"/>
                  <a:pt x="199515" y="292810"/>
                  <a:pt x="200038" y="290574"/>
                </a:cubicBezTo>
                <a:cubicBezTo>
                  <a:pt x="200560" y="288488"/>
                  <a:pt x="201082" y="286476"/>
                  <a:pt x="201604" y="284389"/>
                </a:cubicBezTo>
                <a:cubicBezTo>
                  <a:pt x="202126" y="282377"/>
                  <a:pt x="202723" y="280440"/>
                  <a:pt x="203319" y="278502"/>
                </a:cubicBezTo>
                <a:cubicBezTo>
                  <a:pt x="203916" y="276565"/>
                  <a:pt x="204513" y="274702"/>
                  <a:pt x="205110" y="272839"/>
                </a:cubicBezTo>
                <a:cubicBezTo>
                  <a:pt x="205706" y="271125"/>
                  <a:pt x="206378" y="269336"/>
                  <a:pt x="207049" y="267548"/>
                </a:cubicBezTo>
                <a:cubicBezTo>
                  <a:pt x="207720" y="265908"/>
                  <a:pt x="208391" y="264269"/>
                  <a:pt x="209137" y="262629"/>
                </a:cubicBezTo>
                <a:cubicBezTo>
                  <a:pt x="209809" y="260990"/>
                  <a:pt x="210554" y="259425"/>
                  <a:pt x="211300" y="257935"/>
                </a:cubicBezTo>
                <a:cubicBezTo>
                  <a:pt x="211673" y="257190"/>
                  <a:pt x="212046" y="256519"/>
                  <a:pt x="212419" y="255848"/>
                </a:cubicBezTo>
                <a:cubicBezTo>
                  <a:pt x="212643" y="255401"/>
                  <a:pt x="212941" y="254879"/>
                  <a:pt x="213240" y="254358"/>
                </a:cubicBezTo>
                <a:cubicBezTo>
                  <a:pt x="211524" y="254060"/>
                  <a:pt x="209809" y="253762"/>
                  <a:pt x="208093" y="253538"/>
                </a:cubicBezTo>
                <a:cubicBezTo>
                  <a:pt x="204214" y="252942"/>
                  <a:pt x="200336" y="252495"/>
                  <a:pt x="196383" y="252197"/>
                </a:cubicBezTo>
                <a:cubicBezTo>
                  <a:pt x="192504" y="251973"/>
                  <a:pt x="188551" y="251824"/>
                  <a:pt x="184673" y="251824"/>
                </a:cubicBezTo>
                <a:cubicBezTo>
                  <a:pt x="180794" y="251824"/>
                  <a:pt x="176841" y="251899"/>
                  <a:pt x="172962" y="252197"/>
                </a:cubicBezTo>
                <a:cubicBezTo>
                  <a:pt x="169009" y="252495"/>
                  <a:pt x="165131" y="252942"/>
                  <a:pt x="161252" y="253538"/>
                </a:cubicBezTo>
                <a:cubicBezTo>
                  <a:pt x="159537" y="253762"/>
                  <a:pt x="157821" y="254060"/>
                  <a:pt x="156106" y="254358"/>
                </a:cubicBezTo>
                <a:cubicBezTo>
                  <a:pt x="156404" y="254879"/>
                  <a:pt x="156702" y="255401"/>
                  <a:pt x="157001" y="255848"/>
                </a:cubicBezTo>
                <a:cubicBezTo>
                  <a:pt x="157299" y="256519"/>
                  <a:pt x="157672" y="257190"/>
                  <a:pt x="158045" y="257935"/>
                </a:cubicBezTo>
                <a:cubicBezTo>
                  <a:pt x="158791" y="259425"/>
                  <a:pt x="159537" y="260990"/>
                  <a:pt x="160208" y="262629"/>
                </a:cubicBezTo>
                <a:cubicBezTo>
                  <a:pt x="160954" y="264269"/>
                  <a:pt x="161625" y="265908"/>
                  <a:pt x="162296" y="267548"/>
                </a:cubicBezTo>
                <a:cubicBezTo>
                  <a:pt x="162968" y="269336"/>
                  <a:pt x="163639" y="271125"/>
                  <a:pt x="164236" y="272839"/>
                </a:cubicBezTo>
                <a:cubicBezTo>
                  <a:pt x="164832" y="274702"/>
                  <a:pt x="165429" y="276565"/>
                  <a:pt x="166026" y="278502"/>
                </a:cubicBezTo>
                <a:cubicBezTo>
                  <a:pt x="166622" y="280440"/>
                  <a:pt x="167219" y="282377"/>
                  <a:pt x="167741" y="284389"/>
                </a:cubicBezTo>
                <a:cubicBezTo>
                  <a:pt x="168263" y="286476"/>
                  <a:pt x="168785" y="288488"/>
                  <a:pt x="169308" y="290574"/>
                </a:cubicBezTo>
                <a:cubicBezTo>
                  <a:pt x="169830" y="292810"/>
                  <a:pt x="170277" y="294971"/>
                  <a:pt x="170725" y="297132"/>
                </a:cubicBezTo>
                <a:cubicBezTo>
                  <a:pt x="171247" y="299442"/>
                  <a:pt x="171694" y="301752"/>
                  <a:pt x="172142" y="303988"/>
                </a:cubicBezTo>
                <a:cubicBezTo>
                  <a:pt x="172589" y="306447"/>
                  <a:pt x="172962" y="308832"/>
                  <a:pt x="173410" y="311216"/>
                </a:cubicBezTo>
                <a:cubicBezTo>
                  <a:pt x="173783" y="313750"/>
                  <a:pt x="174156" y="316209"/>
                  <a:pt x="174529" y="318743"/>
                </a:cubicBezTo>
                <a:cubicBezTo>
                  <a:pt x="175200" y="323140"/>
                  <a:pt x="175722" y="327611"/>
                  <a:pt x="176244" y="332007"/>
                </a:cubicBezTo>
                <a:cubicBezTo>
                  <a:pt x="176915" y="337745"/>
                  <a:pt x="177438" y="343483"/>
                  <a:pt x="177960" y="349221"/>
                </a:cubicBezTo>
                <a:cubicBezTo>
                  <a:pt x="178482" y="355332"/>
                  <a:pt x="178929" y="361517"/>
                  <a:pt x="179228" y="367702"/>
                </a:cubicBezTo>
                <a:cubicBezTo>
                  <a:pt x="179675" y="374558"/>
                  <a:pt x="174454" y="380445"/>
                  <a:pt x="167592" y="380818"/>
                </a:cubicBezTo>
                <a:cubicBezTo>
                  <a:pt x="160730" y="381265"/>
                  <a:pt x="154838" y="376049"/>
                  <a:pt x="154465" y="369193"/>
                </a:cubicBezTo>
                <a:cubicBezTo>
                  <a:pt x="154166" y="364647"/>
                  <a:pt x="153868" y="360101"/>
                  <a:pt x="153570" y="355630"/>
                </a:cubicBezTo>
                <a:cubicBezTo>
                  <a:pt x="153197" y="351383"/>
                  <a:pt x="152824" y="347135"/>
                  <a:pt x="152451" y="342887"/>
                </a:cubicBezTo>
                <a:cubicBezTo>
                  <a:pt x="152003" y="338938"/>
                  <a:pt x="151556" y="334914"/>
                  <a:pt x="151108" y="330964"/>
                </a:cubicBezTo>
                <a:cubicBezTo>
                  <a:pt x="150735" y="328058"/>
                  <a:pt x="150362" y="325152"/>
                  <a:pt x="149915" y="322245"/>
                </a:cubicBezTo>
                <a:cubicBezTo>
                  <a:pt x="149467" y="318817"/>
                  <a:pt x="148871" y="315315"/>
                  <a:pt x="148274" y="311813"/>
                </a:cubicBezTo>
                <a:cubicBezTo>
                  <a:pt x="147752" y="308608"/>
                  <a:pt x="147080" y="305404"/>
                  <a:pt x="146409" y="302274"/>
                </a:cubicBezTo>
                <a:cubicBezTo>
                  <a:pt x="145812" y="299368"/>
                  <a:pt x="145141" y="296387"/>
                  <a:pt x="144395" y="293555"/>
                </a:cubicBezTo>
                <a:cubicBezTo>
                  <a:pt x="143799" y="290872"/>
                  <a:pt x="143053" y="288264"/>
                  <a:pt x="142232" y="285656"/>
                </a:cubicBezTo>
                <a:cubicBezTo>
                  <a:pt x="141859" y="284464"/>
                  <a:pt x="141486" y="283271"/>
                  <a:pt x="141113" y="282079"/>
                </a:cubicBezTo>
                <a:cubicBezTo>
                  <a:pt x="140741" y="280961"/>
                  <a:pt x="140368" y="279844"/>
                  <a:pt x="139920" y="278726"/>
                </a:cubicBezTo>
                <a:cubicBezTo>
                  <a:pt x="139547" y="277608"/>
                  <a:pt x="139174" y="276565"/>
                  <a:pt x="138727" y="275521"/>
                </a:cubicBezTo>
                <a:cubicBezTo>
                  <a:pt x="138354" y="274553"/>
                  <a:pt x="137906" y="273584"/>
                  <a:pt x="137533" y="272615"/>
                </a:cubicBezTo>
                <a:cubicBezTo>
                  <a:pt x="137086" y="271721"/>
                  <a:pt x="136713" y="270827"/>
                  <a:pt x="136265" y="269932"/>
                </a:cubicBezTo>
                <a:cubicBezTo>
                  <a:pt x="135892" y="269187"/>
                  <a:pt x="135519" y="268442"/>
                  <a:pt x="135146" y="267697"/>
                </a:cubicBezTo>
                <a:cubicBezTo>
                  <a:pt x="134699" y="266952"/>
                  <a:pt x="134326" y="266206"/>
                  <a:pt x="133878" y="265461"/>
                </a:cubicBezTo>
                <a:cubicBezTo>
                  <a:pt x="133431" y="264791"/>
                  <a:pt x="133058" y="264120"/>
                  <a:pt x="132611" y="263449"/>
                </a:cubicBezTo>
                <a:cubicBezTo>
                  <a:pt x="132163" y="262779"/>
                  <a:pt x="131790" y="262182"/>
                  <a:pt x="131343" y="261586"/>
                </a:cubicBezTo>
                <a:cubicBezTo>
                  <a:pt x="130895" y="261065"/>
                  <a:pt x="130522" y="260543"/>
                  <a:pt x="130075" y="260021"/>
                </a:cubicBezTo>
                <a:cubicBezTo>
                  <a:pt x="129702" y="259574"/>
                  <a:pt x="129254" y="259127"/>
                  <a:pt x="128881" y="258680"/>
                </a:cubicBezTo>
                <a:cubicBezTo>
                  <a:pt x="128508" y="258307"/>
                  <a:pt x="128061" y="257935"/>
                  <a:pt x="127688" y="257562"/>
                </a:cubicBezTo>
                <a:cubicBezTo>
                  <a:pt x="127315" y="257190"/>
                  <a:pt x="126942" y="256891"/>
                  <a:pt x="126569" y="256593"/>
                </a:cubicBezTo>
                <a:cubicBezTo>
                  <a:pt x="118588" y="250408"/>
                  <a:pt x="120975" y="237740"/>
                  <a:pt x="130671" y="234908"/>
                </a:cubicBezTo>
                <a:cubicBezTo>
                  <a:pt x="135146" y="233567"/>
                  <a:pt x="139622" y="232449"/>
                  <a:pt x="144097" y="231406"/>
                </a:cubicBezTo>
                <a:cubicBezTo>
                  <a:pt x="148572" y="230437"/>
                  <a:pt x="153122" y="229617"/>
                  <a:pt x="157597" y="228947"/>
                </a:cubicBezTo>
                <a:cubicBezTo>
                  <a:pt x="162147" y="228276"/>
                  <a:pt x="166622" y="227829"/>
                  <a:pt x="171172" y="227456"/>
                </a:cubicBezTo>
                <a:cubicBezTo>
                  <a:pt x="175647" y="227158"/>
                  <a:pt x="180123" y="227009"/>
                  <a:pt x="184673" y="227009"/>
                </a:cubicBezTo>
                <a:close/>
              </a:path>
              <a:path w="369275" h="607851">
                <a:moveTo>
                  <a:pt x="184638" y="0"/>
                </a:moveTo>
                <a:cubicBezTo>
                  <a:pt x="244994" y="0"/>
                  <a:pt x="301546" y="29424"/>
                  <a:pt x="336088" y="78887"/>
                </a:cubicBezTo>
                <a:cubicBezTo>
                  <a:pt x="370631" y="128350"/>
                  <a:pt x="378763" y="191444"/>
                  <a:pt x="357873" y="248058"/>
                </a:cubicBezTo>
                <a:cubicBezTo>
                  <a:pt x="336461" y="306087"/>
                  <a:pt x="272822" y="336703"/>
                  <a:pt x="262900" y="410227"/>
                </a:cubicBezTo>
                <a:cubicBezTo>
                  <a:pt x="266555" y="409259"/>
                  <a:pt x="270286" y="408365"/>
                  <a:pt x="273941" y="407471"/>
                </a:cubicBezTo>
                <a:cubicBezTo>
                  <a:pt x="280581" y="405757"/>
                  <a:pt x="287370" y="409855"/>
                  <a:pt x="289012" y="416484"/>
                </a:cubicBezTo>
                <a:cubicBezTo>
                  <a:pt x="290653" y="423114"/>
                  <a:pt x="286624" y="429893"/>
                  <a:pt x="279984" y="431532"/>
                </a:cubicBezTo>
                <a:cubicBezTo>
                  <a:pt x="218434" y="446877"/>
                  <a:pt x="156884" y="462222"/>
                  <a:pt x="95334" y="477642"/>
                </a:cubicBezTo>
                <a:cubicBezTo>
                  <a:pt x="88694" y="479281"/>
                  <a:pt x="81905" y="475258"/>
                  <a:pt x="80263" y="468554"/>
                </a:cubicBezTo>
                <a:cubicBezTo>
                  <a:pt x="78622" y="461924"/>
                  <a:pt x="82651" y="455220"/>
                  <a:pt x="89291" y="453507"/>
                </a:cubicBezTo>
                <a:cubicBezTo>
                  <a:pt x="139575" y="440992"/>
                  <a:pt x="189860" y="428403"/>
                  <a:pt x="240145" y="415888"/>
                </a:cubicBezTo>
                <a:cubicBezTo>
                  <a:pt x="238354" y="413132"/>
                  <a:pt x="237757" y="410599"/>
                  <a:pt x="238205" y="407396"/>
                </a:cubicBezTo>
                <a:cubicBezTo>
                  <a:pt x="238876" y="402182"/>
                  <a:pt x="239772" y="397116"/>
                  <a:pt x="240965" y="392051"/>
                </a:cubicBezTo>
                <a:cubicBezTo>
                  <a:pt x="242084" y="387134"/>
                  <a:pt x="243427" y="382367"/>
                  <a:pt x="245069" y="377674"/>
                </a:cubicBezTo>
                <a:cubicBezTo>
                  <a:pt x="246561" y="373130"/>
                  <a:pt x="248277" y="368660"/>
                  <a:pt x="250216" y="364265"/>
                </a:cubicBezTo>
                <a:cubicBezTo>
                  <a:pt x="252007" y="360019"/>
                  <a:pt x="254021" y="355848"/>
                  <a:pt x="256185" y="351751"/>
                </a:cubicBezTo>
                <a:cubicBezTo>
                  <a:pt x="258274" y="347877"/>
                  <a:pt x="260587" y="344004"/>
                  <a:pt x="262900" y="340205"/>
                </a:cubicBezTo>
                <a:cubicBezTo>
                  <a:pt x="265212" y="336554"/>
                  <a:pt x="267600" y="332979"/>
                  <a:pt x="270062" y="329403"/>
                </a:cubicBezTo>
                <a:cubicBezTo>
                  <a:pt x="272449" y="325977"/>
                  <a:pt x="274986" y="322624"/>
                  <a:pt x="277522" y="319347"/>
                </a:cubicBezTo>
                <a:cubicBezTo>
                  <a:pt x="279984" y="316069"/>
                  <a:pt x="282521" y="312941"/>
                  <a:pt x="285058" y="309812"/>
                </a:cubicBezTo>
                <a:cubicBezTo>
                  <a:pt x="287594" y="306758"/>
                  <a:pt x="290056" y="303704"/>
                  <a:pt x="292593" y="300724"/>
                </a:cubicBezTo>
                <a:cubicBezTo>
                  <a:pt x="294906" y="297968"/>
                  <a:pt x="297218" y="295211"/>
                  <a:pt x="299531" y="292530"/>
                </a:cubicBezTo>
                <a:cubicBezTo>
                  <a:pt x="300725" y="291114"/>
                  <a:pt x="301919" y="289699"/>
                  <a:pt x="303038" y="288284"/>
                </a:cubicBezTo>
                <a:cubicBezTo>
                  <a:pt x="305351" y="285528"/>
                  <a:pt x="307663" y="282771"/>
                  <a:pt x="309827" y="279941"/>
                </a:cubicBezTo>
                <a:cubicBezTo>
                  <a:pt x="311990" y="277259"/>
                  <a:pt x="314079" y="274577"/>
                  <a:pt x="316168" y="271821"/>
                </a:cubicBezTo>
                <a:cubicBezTo>
                  <a:pt x="318108" y="269214"/>
                  <a:pt x="320048" y="266532"/>
                  <a:pt x="321838" y="263776"/>
                </a:cubicBezTo>
                <a:cubicBezTo>
                  <a:pt x="323554" y="261169"/>
                  <a:pt x="325270" y="258487"/>
                  <a:pt x="326837" y="255731"/>
                </a:cubicBezTo>
                <a:cubicBezTo>
                  <a:pt x="328329" y="253124"/>
                  <a:pt x="329747" y="250442"/>
                  <a:pt x="331090" y="247686"/>
                </a:cubicBezTo>
                <a:cubicBezTo>
                  <a:pt x="332358" y="245004"/>
                  <a:pt x="333552" y="242248"/>
                  <a:pt x="334596" y="239492"/>
                </a:cubicBezTo>
                <a:cubicBezTo>
                  <a:pt x="352651" y="190550"/>
                  <a:pt x="345563" y="135873"/>
                  <a:pt x="315721" y="93115"/>
                </a:cubicBezTo>
                <a:cubicBezTo>
                  <a:pt x="285804" y="50282"/>
                  <a:pt x="236862" y="24806"/>
                  <a:pt x="184638" y="24806"/>
                </a:cubicBezTo>
                <a:cubicBezTo>
                  <a:pt x="132413" y="24806"/>
                  <a:pt x="83471" y="50282"/>
                  <a:pt x="53554" y="93115"/>
                </a:cubicBezTo>
                <a:cubicBezTo>
                  <a:pt x="23712" y="135873"/>
                  <a:pt x="16624" y="190550"/>
                  <a:pt x="34679" y="239492"/>
                </a:cubicBezTo>
                <a:cubicBezTo>
                  <a:pt x="35425" y="241428"/>
                  <a:pt x="36246" y="243365"/>
                  <a:pt x="37066" y="245302"/>
                </a:cubicBezTo>
                <a:cubicBezTo>
                  <a:pt x="37962" y="247239"/>
                  <a:pt x="38857" y="249175"/>
                  <a:pt x="39827" y="251038"/>
                </a:cubicBezTo>
                <a:cubicBezTo>
                  <a:pt x="40871" y="252975"/>
                  <a:pt x="41916" y="254837"/>
                  <a:pt x="43035" y="256699"/>
                </a:cubicBezTo>
                <a:cubicBezTo>
                  <a:pt x="44154" y="258636"/>
                  <a:pt x="45273" y="260498"/>
                  <a:pt x="46541" y="262361"/>
                </a:cubicBezTo>
                <a:cubicBezTo>
                  <a:pt x="47810" y="264297"/>
                  <a:pt x="49078" y="266234"/>
                  <a:pt x="50421" y="268096"/>
                </a:cubicBezTo>
                <a:cubicBezTo>
                  <a:pt x="51241" y="269288"/>
                  <a:pt x="52062" y="270406"/>
                  <a:pt x="52957" y="271598"/>
                </a:cubicBezTo>
                <a:cubicBezTo>
                  <a:pt x="54375" y="273534"/>
                  <a:pt x="55867" y="275471"/>
                  <a:pt x="57359" y="277333"/>
                </a:cubicBezTo>
                <a:cubicBezTo>
                  <a:pt x="58851" y="279345"/>
                  <a:pt x="60418" y="281281"/>
                  <a:pt x="61985" y="283144"/>
                </a:cubicBezTo>
                <a:cubicBezTo>
                  <a:pt x="63626" y="285155"/>
                  <a:pt x="65267" y="287092"/>
                  <a:pt x="66909" y="289103"/>
                </a:cubicBezTo>
                <a:cubicBezTo>
                  <a:pt x="68774" y="291338"/>
                  <a:pt x="70714" y="293573"/>
                  <a:pt x="72579" y="295882"/>
                </a:cubicBezTo>
                <a:cubicBezTo>
                  <a:pt x="74593" y="298191"/>
                  <a:pt x="76608" y="300575"/>
                  <a:pt x="78547" y="302959"/>
                </a:cubicBezTo>
                <a:cubicBezTo>
                  <a:pt x="80338" y="305119"/>
                  <a:pt x="82128" y="307205"/>
                  <a:pt x="83844" y="309365"/>
                </a:cubicBezTo>
                <a:cubicBezTo>
                  <a:pt x="85635" y="311600"/>
                  <a:pt x="87425" y="313760"/>
                  <a:pt x="89216" y="315995"/>
                </a:cubicBezTo>
                <a:cubicBezTo>
                  <a:pt x="91007" y="318304"/>
                  <a:pt x="92797" y="320613"/>
                  <a:pt x="94513" y="322922"/>
                </a:cubicBezTo>
                <a:cubicBezTo>
                  <a:pt x="96304" y="325306"/>
                  <a:pt x="98020" y="327764"/>
                  <a:pt x="99736" y="330223"/>
                </a:cubicBezTo>
                <a:cubicBezTo>
                  <a:pt x="101526" y="332681"/>
                  <a:pt x="103167" y="335214"/>
                  <a:pt x="104883" y="337821"/>
                </a:cubicBezTo>
                <a:cubicBezTo>
                  <a:pt x="105928" y="339460"/>
                  <a:pt x="106898" y="341024"/>
                  <a:pt x="107868" y="342737"/>
                </a:cubicBezTo>
                <a:cubicBezTo>
                  <a:pt x="109509" y="345419"/>
                  <a:pt x="111076" y="348175"/>
                  <a:pt x="112642" y="350931"/>
                </a:cubicBezTo>
                <a:cubicBezTo>
                  <a:pt x="114135" y="353762"/>
                  <a:pt x="115627" y="356667"/>
                  <a:pt x="116970" y="359572"/>
                </a:cubicBezTo>
                <a:cubicBezTo>
                  <a:pt x="118387" y="362627"/>
                  <a:pt x="119730" y="365681"/>
                  <a:pt x="120998" y="368735"/>
                </a:cubicBezTo>
                <a:cubicBezTo>
                  <a:pt x="122267" y="371938"/>
                  <a:pt x="123386" y="375141"/>
                  <a:pt x="124505" y="378344"/>
                </a:cubicBezTo>
                <a:cubicBezTo>
                  <a:pt x="125549" y="381697"/>
                  <a:pt x="126519" y="385049"/>
                  <a:pt x="127415" y="388401"/>
                </a:cubicBezTo>
                <a:cubicBezTo>
                  <a:pt x="129131" y="395031"/>
                  <a:pt x="125102" y="401809"/>
                  <a:pt x="118462" y="403523"/>
                </a:cubicBezTo>
                <a:cubicBezTo>
                  <a:pt x="111822" y="405236"/>
                  <a:pt x="105033" y="401213"/>
                  <a:pt x="103391" y="394584"/>
                </a:cubicBezTo>
                <a:cubicBezTo>
                  <a:pt x="87276" y="332085"/>
                  <a:pt x="31247" y="301767"/>
                  <a:pt x="11402" y="248058"/>
                </a:cubicBezTo>
                <a:cubicBezTo>
                  <a:pt x="-9488" y="191444"/>
                  <a:pt x="-1356" y="128350"/>
                  <a:pt x="33187" y="78887"/>
                </a:cubicBezTo>
                <a:cubicBezTo>
                  <a:pt x="67729" y="29424"/>
                  <a:pt x="124281" y="0"/>
                  <a:pt x="184638" y="0"/>
                </a:cubicBezTo>
              </a:path>
            </a:pathLst>
          </a:custGeom>
          <a:solidFill>
            <a:schemeClr val="accent1">
              <a:alpha val="100000"/>
              <a:lumMod val="75000"/>
            </a:schemeClr>
          </a:solidFill>
        </p:spPr>
      </p:sp>
      <p:sp>
        <p:nvSpPr>
          <p:cNvPr id="13" name="Freeform 13"/>
          <p:cNvSpPr/>
          <p:nvPr/>
        </p:nvSpPr>
        <p:spPr>
          <a:xfrm>
            <a:off x="8099693" y="3887608"/>
            <a:ext cx="318589" cy="293318"/>
          </a:xfrm>
          <a:custGeom>
            <a:avLst/>
            <a:gdLst/>
            <a:ahLst/>
            <a:cxnLst/>
            <a:rect l="l" t="t" r="r" b="b"/>
            <a:pathLst>
              <a:path w="580" h="535">
                <a:moveTo>
                  <a:pt x="164" y="525"/>
                </a:moveTo>
                <a:cubicBezTo>
                  <a:pt x="172" y="534"/>
                  <a:pt x="186" y="535"/>
                  <a:pt x="196" y="526"/>
                </a:cubicBezTo>
                <a:lnTo>
                  <a:pt x="570" y="187"/>
                </a:lnTo>
                <a:cubicBezTo>
                  <a:pt x="579" y="179"/>
                  <a:pt x="580" y="165"/>
                  <a:pt x="572" y="155"/>
                </a:cubicBezTo>
                <a:lnTo>
                  <a:pt x="475" y="49"/>
                </a:lnTo>
                <a:cubicBezTo>
                  <a:pt x="466" y="39"/>
                  <a:pt x="452" y="39"/>
                  <a:pt x="443" y="47"/>
                </a:cubicBezTo>
                <a:lnTo>
                  <a:pt x="124" y="335"/>
                </a:lnTo>
                <a:cubicBezTo>
                  <a:pt x="115" y="344"/>
                  <a:pt x="114" y="358"/>
                  <a:pt x="123" y="367"/>
                </a:cubicBezTo>
                <a:lnTo>
                  <a:pt x="175" y="425"/>
                </a:lnTo>
                <a:cubicBezTo>
                  <a:pt x="183" y="434"/>
                  <a:pt x="198" y="435"/>
                  <a:pt x="207" y="426"/>
                </a:cubicBezTo>
                <a:lnTo>
                  <a:pt x="341" y="305"/>
                </a:lnTo>
                <a:cubicBezTo>
                  <a:pt x="350" y="297"/>
                  <a:pt x="351" y="282"/>
                  <a:pt x="343" y="273"/>
                </a:cubicBezTo>
                <a:lnTo>
                  <a:pt x="327" y="256"/>
                </a:lnTo>
                <a:lnTo>
                  <a:pt x="193" y="378"/>
                </a:lnTo>
                <a:lnTo>
                  <a:pt x="172" y="354"/>
                </a:lnTo>
                <a:lnTo>
                  <a:pt x="457" y="96"/>
                </a:lnTo>
                <a:lnTo>
                  <a:pt x="523" y="169"/>
                </a:lnTo>
                <a:lnTo>
                  <a:pt x="182" y="478"/>
                </a:lnTo>
                <a:lnTo>
                  <a:pt x="58" y="340"/>
                </a:lnTo>
                <a:lnTo>
                  <a:pt x="404" y="26"/>
                </a:lnTo>
                <a:lnTo>
                  <a:pt x="389" y="10"/>
                </a:lnTo>
                <a:cubicBezTo>
                  <a:pt x="380" y="0"/>
                  <a:pt x="366" y="0"/>
                  <a:pt x="357" y="8"/>
                </a:cubicBezTo>
                <a:lnTo>
                  <a:pt x="10" y="322"/>
                </a:lnTo>
                <a:cubicBezTo>
                  <a:pt x="1" y="330"/>
                  <a:pt x="0" y="344"/>
                  <a:pt x="9" y="354"/>
                </a:cubicBezTo>
                <a:lnTo>
                  <a:pt x="164" y="525"/>
                </a:lnTo>
              </a:path>
            </a:pathLst>
          </a:custGeom>
          <a:solidFill>
            <a:schemeClr val="accent1">
              <a:alpha val="100000"/>
              <a:lumMod val="75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007110" y="2307586"/>
            <a:ext cx="2579632" cy="131733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性能优化技术旨在通过优化代码、查询及系统配置等方式提升应用运行效率与响应速度。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78882" y="1811622"/>
            <a:ext cx="1985379" cy="4385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性能优化技术概述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7110" y="4310980"/>
            <a:ext cx="2579632" cy="131733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性能优化技术应用广泛，包括但不限于Web应用加速、数据库查询优化、系统资源管理等领域。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78882" y="3815013"/>
            <a:ext cx="1985379" cy="4385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1725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前后端交互技术与跨域处理方案应用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603691" y="2087038"/>
            <a:ext cx="1923317" cy="4449440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4844782" y="2087038"/>
            <a:ext cx="1923317" cy="443782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844782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9119302" y="2087038"/>
            <a:ext cx="1923317" cy="4437827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9119302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923654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6961712" y="2087038"/>
            <a:ext cx="1923317" cy="4437827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6961712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707895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2734767" y="2087038"/>
            <a:ext cx="1923317" cy="4449440"/>
          </a:xfrm>
          <a:prstGeom prst="rect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2734767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20" name="AutoShape 20"/>
          <p:cNvSpPr/>
          <p:nvPr/>
        </p:nvSpPr>
        <p:spPr>
          <a:xfrm>
            <a:off x="2852006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603691" y="1211788"/>
            <a:ext cx="1923317" cy="1923317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22" name="AutoShape 22"/>
          <p:cNvSpPr/>
          <p:nvPr/>
        </p:nvSpPr>
        <p:spPr>
          <a:xfrm>
            <a:off x="72093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3" name="TextBox 23"/>
          <p:cNvSpPr txBox="1"/>
          <p:nvPr/>
        </p:nvSpPr>
        <p:spPr>
          <a:xfrm>
            <a:off x="66781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Token身份认证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03691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Web Token，轻量级认证方案，无状态、跨域友好、易于扩展，适合前后端分离架构。</a:t>
            </a:r>
            <a:endParaRPr lang="en-US" sz="127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772240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BCrypt是单向哈希加密算法，高安全性，防止彩虹表攻击；用户注册登录时加密验证，密码不可逆，数据库中只存储密文。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882255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基于角色的访问控制，用户-角色-权限模型，4种角色（admin、user、coach、staff），后端接口权限注解，前端角色菜单动态显示。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999185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MyBatis预编译SQL防止注入，使用{}而非${}，参数化查询，性能优化技术，提升应用安全性与效率。</a:t>
            </a:r>
            <a:endParaRPr lang="en-US" sz="127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56774" y="4073297"/>
            <a:ext cx="1923317" cy="206128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前端对用户输入进行过滤，Ellement Plus组件自带XSS防护，后端验证用户输入，综合防护XSS攻击。</a:t>
            </a:r>
            <a:endParaRPr lang="en-US" sz="1275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962020" y="1329026"/>
            <a:ext cx="1688839" cy="1688839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30" name="TextBox 30"/>
          <p:cNvSpPr txBox="1"/>
          <p:nvPr/>
        </p:nvSpPr>
        <p:spPr>
          <a:xfrm>
            <a:off x="2798892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密码加密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02583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SQL注入防护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8342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XSS攻击防护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908906" y="3135104"/>
            <a:ext cx="1795068" cy="97548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权限控制</a:t>
            </a:r>
            <a:endParaRPr lang="en-US" sz="15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236522" y="1910384"/>
            <a:ext cx="657655" cy="52612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6680" y="0"/>
                </a:moveTo>
                <a:lnTo>
                  <a:pt x="91440" y="0"/>
                </a:lnTo>
                <a:lnTo>
                  <a:pt x="0" y="45720"/>
                </a:lnTo>
                <a:lnTo>
                  <a:pt x="0" y="137160"/>
                </a:lnTo>
                <a:lnTo>
                  <a:pt x="60960" y="121920"/>
                </a:lnTo>
                <a:lnTo>
                  <a:pt x="60960" y="304800"/>
                </a:lnTo>
                <a:lnTo>
                  <a:pt x="243840" y="304800"/>
                </a:lnTo>
                <a:lnTo>
                  <a:pt x="243840" y="121920"/>
                </a:lnTo>
                <a:lnTo>
                  <a:pt x="304800" y="137160"/>
                </a:lnTo>
                <a:lnTo>
                  <a:pt x="304800" y="45720"/>
                </a:lnTo>
                <a:lnTo>
                  <a:pt x="213360" y="0"/>
                </a:lnTo>
                <a:lnTo>
                  <a:pt x="198120" y="0"/>
                </a:lnTo>
                <a:cubicBezTo>
                  <a:pt x="198120" y="25251"/>
                  <a:pt x="177651" y="45720"/>
                  <a:pt x="152400" y="45720"/>
                </a:cubicBezTo>
                <a:cubicBezTo>
                  <a:pt x="127149" y="45720"/>
                  <a:pt x="106680" y="25251"/>
                  <a:pt x="106680" y="0"/>
                </a:cubicBezTo>
                <a:lnTo>
                  <a:pt x="10668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3354445" y="1831465"/>
            <a:ext cx="683962" cy="6839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0960" y="167640"/>
                </a:moveTo>
                <a:lnTo>
                  <a:pt x="30480" y="167640"/>
                </a:lnTo>
                <a:cubicBezTo>
                  <a:pt x="13649" y="167640"/>
                  <a:pt x="0" y="153991"/>
                  <a:pt x="0" y="137160"/>
                </a:cubicBezTo>
                <a:lnTo>
                  <a:pt x="0" y="137160"/>
                </a:lnTo>
                <a:lnTo>
                  <a:pt x="0" y="76200"/>
                </a:lnTo>
                <a:cubicBezTo>
                  <a:pt x="0" y="59436"/>
                  <a:pt x="13716" y="45720"/>
                  <a:pt x="30480" y="45720"/>
                </a:cubicBezTo>
                <a:lnTo>
                  <a:pt x="60960" y="45720"/>
                </a:lnTo>
                <a:lnTo>
                  <a:pt x="60960" y="15240"/>
                </a:lnTo>
                <a:lnTo>
                  <a:pt x="274320" y="15240"/>
                </a:lnTo>
                <a:lnTo>
                  <a:pt x="274320" y="167640"/>
                </a:lnTo>
                <a:cubicBezTo>
                  <a:pt x="274320" y="201311"/>
                  <a:pt x="247031" y="228600"/>
                  <a:pt x="213360" y="228600"/>
                </a:cubicBezTo>
                <a:lnTo>
                  <a:pt x="213360" y="228600"/>
                </a:lnTo>
                <a:lnTo>
                  <a:pt x="121920" y="228600"/>
                </a:lnTo>
                <a:cubicBezTo>
                  <a:pt x="88249" y="228600"/>
                  <a:pt x="60960" y="201311"/>
                  <a:pt x="60960" y="167640"/>
                </a:cubicBezTo>
                <a:lnTo>
                  <a:pt x="60960" y="167640"/>
                </a:lnTo>
                <a:close/>
              </a:path>
              <a:path w="304800" h="304800">
                <a:moveTo>
                  <a:pt x="60960" y="137160"/>
                </a:moveTo>
                <a:lnTo>
                  <a:pt x="60960" y="76200"/>
                </a:lnTo>
                <a:lnTo>
                  <a:pt x="30480" y="76200"/>
                </a:lnTo>
                <a:lnTo>
                  <a:pt x="30480" y="137160"/>
                </a:lnTo>
                <a:lnTo>
                  <a:pt x="60960" y="137160"/>
                </a:lnTo>
                <a:close/>
              </a:path>
              <a:path w="304800" h="304800">
                <a:moveTo>
                  <a:pt x="30480" y="259080"/>
                </a:moveTo>
                <a:lnTo>
                  <a:pt x="30480" y="243840"/>
                </a:lnTo>
                <a:lnTo>
                  <a:pt x="304800" y="243840"/>
                </a:lnTo>
                <a:lnTo>
                  <a:pt x="304800" y="259080"/>
                </a:lnTo>
                <a:lnTo>
                  <a:pt x="243840" y="289560"/>
                </a:lnTo>
                <a:lnTo>
                  <a:pt x="91440" y="289560"/>
                </a:lnTo>
                <a:lnTo>
                  <a:pt x="30480" y="25908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6" name="Freeform 36"/>
          <p:cNvSpPr/>
          <p:nvPr/>
        </p:nvSpPr>
        <p:spPr>
          <a:xfrm>
            <a:off x="5418423" y="1699021"/>
            <a:ext cx="776033" cy="77603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80975"/>
                </a:moveTo>
                <a:lnTo>
                  <a:pt x="247650" y="123825"/>
                </a:lnTo>
                <a:lnTo>
                  <a:pt x="247650" y="38100"/>
                </a:lnTo>
                <a:lnTo>
                  <a:pt x="209550" y="38100"/>
                </a:lnTo>
                <a:lnTo>
                  <a:pt x="209550" y="85725"/>
                </a:lnTo>
                <a:lnTo>
                  <a:pt x="152400" y="28575"/>
                </a:lnTo>
                <a:lnTo>
                  <a:pt x="0" y="180975"/>
                </a:lnTo>
                <a:lnTo>
                  <a:pt x="0" y="190500"/>
                </a:lnTo>
                <a:lnTo>
                  <a:pt x="38100" y="190500"/>
                </a:lnTo>
                <a:lnTo>
                  <a:pt x="38100" y="285750"/>
                </a:lnTo>
                <a:lnTo>
                  <a:pt x="133350" y="285750"/>
                </a:lnTo>
                <a:lnTo>
                  <a:pt x="133350" y="228600"/>
                </a:lnTo>
                <a:lnTo>
                  <a:pt x="171450" y="228600"/>
                </a:lnTo>
                <a:lnTo>
                  <a:pt x="171450" y="285750"/>
                </a:lnTo>
                <a:lnTo>
                  <a:pt x="266700" y="285750"/>
                </a:lnTo>
                <a:lnTo>
                  <a:pt x="266700" y="190500"/>
                </a:lnTo>
                <a:lnTo>
                  <a:pt x="304800" y="1905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7" name="Freeform 37"/>
          <p:cNvSpPr/>
          <p:nvPr/>
        </p:nvSpPr>
        <p:spPr>
          <a:xfrm>
            <a:off x="7588989" y="1745057"/>
            <a:ext cx="668763" cy="6839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550" y="0"/>
                </a:moveTo>
                <a:cubicBezTo>
                  <a:pt x="156943" y="0"/>
                  <a:pt x="114300" y="42643"/>
                  <a:pt x="114300" y="95250"/>
                </a:cubicBezTo>
                <a:cubicBezTo>
                  <a:pt x="114300" y="101213"/>
                  <a:pt x="114852" y="107042"/>
                  <a:pt x="115900" y="112700"/>
                </a:cubicBezTo>
                <a:lnTo>
                  <a:pt x="0" y="228600"/>
                </a:lnTo>
                <a:lnTo>
                  <a:pt x="0" y="285750"/>
                </a:lnTo>
                <a:cubicBezTo>
                  <a:pt x="0" y="296275"/>
                  <a:pt x="8525" y="304800"/>
                  <a:pt x="19050" y="304800"/>
                </a:cubicBezTo>
                <a:lnTo>
                  <a:pt x="38100" y="30480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247650"/>
                </a:lnTo>
                <a:lnTo>
                  <a:pt x="114300" y="247650"/>
                </a:lnTo>
                <a:lnTo>
                  <a:pt x="114300" y="209550"/>
                </a:lnTo>
                <a:lnTo>
                  <a:pt x="152400" y="209550"/>
                </a:lnTo>
                <a:lnTo>
                  <a:pt x="177117" y="184833"/>
                </a:lnTo>
                <a:cubicBezTo>
                  <a:pt x="187242" y="188500"/>
                  <a:pt x="198158" y="190500"/>
                  <a:pt x="209550" y="190500"/>
                </a:cubicBezTo>
                <a:cubicBezTo>
                  <a:pt x="262157" y="190500"/>
                  <a:pt x="304800" y="147857"/>
                  <a:pt x="304800" y="95250"/>
                </a:cubicBezTo>
                <a:cubicBezTo>
                  <a:pt x="304800" y="42643"/>
                  <a:pt x="262157" y="0"/>
                  <a:pt x="209550" y="0"/>
                </a:cubicBezTo>
                <a:close/>
              </a:path>
              <a:path w="304800" h="304800">
                <a:moveTo>
                  <a:pt x="238087" y="95288"/>
                </a:moveTo>
                <a:cubicBezTo>
                  <a:pt x="222304" y="95288"/>
                  <a:pt x="209512" y="82496"/>
                  <a:pt x="209512" y="66713"/>
                </a:cubicBezTo>
                <a:cubicBezTo>
                  <a:pt x="209512" y="50930"/>
                  <a:pt x="222304" y="38138"/>
                  <a:pt x="238087" y="38138"/>
                </a:cubicBezTo>
                <a:cubicBezTo>
                  <a:pt x="253870" y="38138"/>
                  <a:pt x="266662" y="50930"/>
                  <a:pt x="266662" y="66713"/>
                </a:cubicBezTo>
                <a:cubicBezTo>
                  <a:pt x="266662" y="82496"/>
                  <a:pt x="253870" y="95288"/>
                  <a:pt x="238087" y="95288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8" name="Freeform 38"/>
          <p:cNvSpPr/>
          <p:nvPr/>
        </p:nvSpPr>
        <p:spPr>
          <a:xfrm>
            <a:off x="9746012" y="1752090"/>
            <a:ext cx="669896" cy="66989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1920" y="28651"/>
                </a:moveTo>
                <a:lnTo>
                  <a:pt x="121920" y="0"/>
                </a:lnTo>
                <a:lnTo>
                  <a:pt x="152400" y="0"/>
                </a:lnTo>
                <a:lnTo>
                  <a:pt x="152400" y="243840"/>
                </a:lnTo>
                <a:lnTo>
                  <a:pt x="304800" y="243840"/>
                </a:lnTo>
                <a:lnTo>
                  <a:pt x="243840" y="304800"/>
                </a:lnTo>
                <a:lnTo>
                  <a:pt x="30480" y="304800"/>
                </a:lnTo>
                <a:lnTo>
                  <a:pt x="0" y="243840"/>
                </a:lnTo>
                <a:lnTo>
                  <a:pt x="121920" y="243840"/>
                </a:lnTo>
                <a:lnTo>
                  <a:pt x="121920" y="213360"/>
                </a:lnTo>
                <a:lnTo>
                  <a:pt x="0" y="213360"/>
                </a:lnTo>
                <a:lnTo>
                  <a:pt x="0" y="209398"/>
                </a:lnTo>
                <a:cubicBezTo>
                  <a:pt x="56940" y="163544"/>
                  <a:pt x="99498" y="101956"/>
                  <a:pt x="121234" y="31242"/>
                </a:cubicBezTo>
                <a:lnTo>
                  <a:pt x="121920" y="28651"/>
                </a:lnTo>
                <a:close/>
              </a:path>
              <a:path w="304800" h="304800">
                <a:moveTo>
                  <a:pt x="304343" y="213360"/>
                </a:moveTo>
                <a:lnTo>
                  <a:pt x="152400" y="213360"/>
                </a:lnTo>
                <a:lnTo>
                  <a:pt x="152400" y="207874"/>
                </a:lnTo>
                <a:cubicBezTo>
                  <a:pt x="171650" y="179451"/>
                  <a:pt x="183137" y="144409"/>
                  <a:pt x="183137" y="106680"/>
                </a:cubicBezTo>
                <a:cubicBezTo>
                  <a:pt x="183137" y="68951"/>
                  <a:pt x="171660" y="33909"/>
                  <a:pt x="151990" y="4848"/>
                </a:cubicBezTo>
                <a:lnTo>
                  <a:pt x="152400" y="5486"/>
                </a:lnTo>
                <a:lnTo>
                  <a:pt x="152400" y="2438"/>
                </a:lnTo>
                <a:cubicBezTo>
                  <a:pt x="237877" y="37719"/>
                  <a:pt x="298180" y="117796"/>
                  <a:pt x="304305" y="212646"/>
                </a:cubicBezTo>
                <a:lnTo>
                  <a:pt x="304343" y="21336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3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3" name="Connector 3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5" name="Connector 5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6" name="Group 6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8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l">
                <a:defRPr/>
              </a:pPr>
              <a:r>
                <a:rPr lang="en-US" sz="1875">
                  <a:solidFill>
                    <a:srgbClr val="800000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其他关键技术概述与应用场景分析</a:t>
              </a:r>
              <a:endParaRPr lang="en-US" sz="1100"/>
            </a:p>
          </p:txBody>
        </p:sp>
      </p:grpSp>
      <p:sp>
        <p:nvSpPr>
          <p:cNvPr id="9" name="AutoShape 9"/>
          <p:cNvSpPr/>
          <p:nvPr/>
        </p:nvSpPr>
        <p:spPr>
          <a:xfrm>
            <a:off x="572706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>
            <a:off x="1345045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2728663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Freeform 12"/>
          <p:cNvSpPr/>
          <p:nvPr/>
        </p:nvSpPr>
        <p:spPr>
          <a:xfrm>
            <a:off x="3501001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572706" y="1563477"/>
            <a:ext cx="1061490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728663" y="1563477"/>
            <a:ext cx="1061490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3352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Redis缓存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33352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高性能，纯内存操作，减轻数据库压力，支持多种数据结构；计划缓存雪具、教练、统计数据，设置合理过期时间，提升应用性能。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604678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数据库优化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604678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索引优化，避免全表扫描；查询优化，避免SELECT *，使用JOIN代替子查询，分页查询避免大量数据；应用MyBatis PageHelper插件实现高效数据交互。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783355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异步处理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83355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发送邮件通知、生成报表、数据统计为可选；使用@Async注解实现异步处理，配置线程池提升效率；技术实现增强应用处理能力与响应速度。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943428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ECharts图表库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943428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百度开源的数据可视化库，支持折线图、柱状图等多种图表，响应式、美观、功能强大；计划用于收入趋势、订单分布等数据可视化。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075321" y="2283010"/>
            <a:ext cx="2113907" cy="9707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Dashboard设计</a:t>
            </a:r>
            <a:endParaRPr lang="en-US" sz="1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075321" y="3165709"/>
            <a:ext cx="2116763" cy="267096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关键指标卡片，包括今日客流、收入、订单及会员数量；趋势图表展示近7天收入及近30天订单量变化；排行榜展示热门雪具与教练。</a:t>
            </a:r>
            <a:endParaRPr lang="en-US" sz="1275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946417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6" name="Freeform 26"/>
          <p:cNvSpPr/>
          <p:nvPr/>
        </p:nvSpPr>
        <p:spPr>
          <a:xfrm>
            <a:off x="5718755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>
            <a:off x="7114249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8" name="Freeform 28"/>
          <p:cNvSpPr/>
          <p:nvPr/>
        </p:nvSpPr>
        <p:spPr>
          <a:xfrm>
            <a:off x="7886587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9248970" y="1685042"/>
            <a:ext cx="934397" cy="446385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0" name="Freeform 30"/>
          <p:cNvSpPr/>
          <p:nvPr/>
        </p:nvSpPr>
        <p:spPr>
          <a:xfrm>
            <a:off x="10021308" y="1685042"/>
            <a:ext cx="446385" cy="446385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1428750" y="0"/>
                </a:lnTo>
                <a:lnTo>
                  <a:pt x="0" y="0"/>
                </a:lnTo>
                <a:lnTo>
                  <a:pt x="476250" y="952500"/>
                </a:lnTo>
                <a:lnTo>
                  <a:pt x="0" y="1905000"/>
                </a:lnTo>
                <a:lnTo>
                  <a:pt x="1428750" y="1905000"/>
                </a:lnTo>
                <a:lnTo>
                  <a:pt x="1905000" y="952500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31" name="TextBox 31"/>
          <p:cNvSpPr txBox="1"/>
          <p:nvPr/>
        </p:nvSpPr>
        <p:spPr>
          <a:xfrm>
            <a:off x="4946417" y="1563477"/>
            <a:ext cx="1061490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114249" y="1563477"/>
            <a:ext cx="1054996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248970" y="1563477"/>
            <a:ext cx="1000018" cy="68951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sz="1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31" name="AutoShape 2"/>
          <p:cNvSpPr/>
          <p:nvPr/>
        </p:nvSpPr>
        <p:spPr>
          <a:xfrm>
            <a:off x="0" y="0"/>
            <a:ext cx="9963151" cy="1095375"/>
          </a:xfrm>
          <a:prstGeom prst="rect">
            <a:avLst/>
          </a:prstGeom>
          <a:gradFill>
            <a:gsLst>
              <a:gs pos="0">
                <a:srgbClr val="D9D9D9">
                  <a:alpha val="100000"/>
                </a:srgbClr>
              </a:gs>
              <a:gs pos="63000">
                <a:srgbClr val="FFFFFF">
                  <a:alpha val="3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</p:sp>
      <p:pic>
        <p:nvPicPr>
          <p:cNvPr id="101032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</p:spPr>
      </p:pic>
      <p:cxnSp>
        <p:nvCxnSpPr>
          <p:cNvPr id="4" name="Connector 4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pic>
        <p:nvPicPr>
          <p:cNvPr id="101034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</p:spPr>
      </p:pic>
      <p:cxnSp>
        <p:nvCxnSpPr>
          <p:cNvPr id="6" name="Connector 6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>
            <a:solidFill>
              <a:srgbClr val="BFBFBF">
                <a:alpha val="100000"/>
              </a:srgbClr>
            </a:solidFill>
            <a:prstDash val="dash"/>
            <a:headEnd type="none"/>
            <a:tailEnd type="none"/>
          </a:ln>
        </p:spPr>
      </p:cxnSp>
      <p:grpSp>
        <p:nvGrpSpPr>
          <p:cNvPr id="101036" name="Group 7"/>
          <p:cNvGrpSpPr/>
          <p:nvPr/>
        </p:nvGrpSpPr>
        <p:grpSpPr>
          <a:xfrm rot="0">
            <a:off x="341281" y="144494"/>
            <a:ext cx="4680013" cy="852488"/>
            <a:chOff x="341281" y="144494"/>
            <a:chExt cx="4680013" cy="852488"/>
          </a:xfrm>
        </p:grpSpPr>
        <p:pic>
          <p:nvPicPr>
            <p:cNvPr id="101037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281" y="144494"/>
              <a:ext cx="945547" cy="852488"/>
            </a:xfrm>
            <a:prstGeom prst="rect">
              <a:avLst/>
            </a:prstGeom>
            <a:noFill/>
          </p:spPr>
        </p:pic>
        <p:sp>
          <p:nvSpPr>
            <p:cNvPr id="101038" name="AutoShape 9"/>
            <p:cNvSpPr/>
            <p:nvPr/>
          </p:nvSpPr>
          <p:spPr>
            <a:xfrm>
              <a:off x="1202817" y="146399"/>
              <a:ext cx="3818477" cy="4603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>
              <a:noAutofit/>
            </a:bodyPr>
            <a:lstStyle/>
            <a:p>
              <a:pPr algn="l">
                <a:defRPr/>
              </a:pPr>
              <a:endParaRPr lang="en-US" sz="1100"/>
            </a:p>
          </p:txBody>
        </p:sp>
      </p:grpSp>
      <p:sp>
        <p:nvSpPr>
          <p:cNvPr id="100007" name="TextBox 10"/>
          <p:cNvSpPr txBox="1"/>
          <p:nvPr/>
        </p:nvSpPr>
        <p:spPr>
          <a:xfrm>
            <a:off x="1487805" y="1628775"/>
            <a:ext cx="8925560" cy="843280"/>
          </a:xfrm>
          <a:prstGeom prst="rect">
            <a:avLst/>
          </a:prstGeom>
        </p:spPr>
        <p:txBody>
          <a:bodyPr vert="horz" wrap="square" lIns="0" tIns="12668" rIns="0" bIns="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5025" b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THANKS</a:t>
            </a:r>
            <a:endParaRPr lang="en-US" sz="5025" b="1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C8C8C8"/>
      </a:accent1>
      <a:accent2>
        <a:srgbClr val="C8C8C8"/>
      </a:accent2>
      <a:accent3>
        <a:srgbClr val="C8C8C8"/>
      </a:accent3>
      <a:accent4>
        <a:srgbClr val="C8C8C8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7343</Words>
  <Application>WPS 演示</Application>
  <PresentationFormat>On-screen Show (4:3)</PresentationFormat>
  <Paragraphs>564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Arial</vt:lpstr>
      <vt:lpstr>华文新魏</vt:lpstr>
      <vt:lpstr>Calibri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小熠</cp:lastModifiedBy>
  <cp:revision>2</cp:revision>
  <dcterms:created xsi:type="dcterms:W3CDTF">2006-08-16T00:00:00Z</dcterms:created>
  <dcterms:modified xsi:type="dcterms:W3CDTF">2025-10-19T08:52:06Z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77eb90752f555e98a92e560b73a6d555_1760857106_44f9f0069264d3eb1b732673b25b167a","ReservedCode1":"862bca24758f41c99d6bc6b830de0f331b4c5419ae948c560789bb01ff34ad5b","ContentPropagator":"001191110000802100433B10001","PropagateID":"77eb90752f555e98a92e560b73a6d555_1760857106_44f9f0069264d3eb1b732673b25b167a","ReservedCode2":"862bca24758f41c99d6bc6b830de0f331b4c5419ae948c560789bb01ff34ad5b"}</vt:lpwstr>
  </property>
  <property fmtid="{D5CDD505-2E9C-101B-9397-08002B2CF9AE}" pid="3" name="ICV">
    <vt:lpwstr>048AB0E38F694515946499A15A4B63E5_12</vt:lpwstr>
  </property>
  <property fmtid="{D5CDD505-2E9C-101B-9397-08002B2CF9AE}" pid="4" name="KSOProductBuildVer">
    <vt:lpwstr>2052-12.1.0.23125</vt:lpwstr>
  </property>
</Properties>
</file>